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8"/>
  </p:notesMasterIdLst>
  <p:sldIdLst>
    <p:sldId id="306" r:id="rId2"/>
    <p:sldId id="369" r:id="rId3"/>
    <p:sldId id="386" r:id="rId4"/>
    <p:sldId id="358" r:id="rId5"/>
    <p:sldId id="359" r:id="rId6"/>
    <p:sldId id="365" r:id="rId7"/>
    <p:sldId id="322" r:id="rId8"/>
    <p:sldId id="360" r:id="rId9"/>
    <p:sldId id="366" r:id="rId10"/>
    <p:sldId id="363" r:id="rId11"/>
    <p:sldId id="374" r:id="rId12"/>
    <p:sldId id="364" r:id="rId13"/>
    <p:sldId id="384" r:id="rId14"/>
    <p:sldId id="372" r:id="rId15"/>
    <p:sldId id="383" r:id="rId16"/>
    <p:sldId id="376" r:id="rId17"/>
    <p:sldId id="379" r:id="rId18"/>
    <p:sldId id="387" r:id="rId19"/>
    <p:sldId id="380" r:id="rId20"/>
    <p:sldId id="381" r:id="rId21"/>
    <p:sldId id="385" r:id="rId22"/>
    <p:sldId id="373" r:id="rId23"/>
    <p:sldId id="375" r:id="rId24"/>
    <p:sldId id="389" r:id="rId25"/>
    <p:sldId id="390" r:id="rId26"/>
    <p:sldId id="388" r:id="rId27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609" userDrawn="1">
          <p15:clr>
            <a:srgbClr val="A4A3A4"/>
          </p15:clr>
        </p15:guide>
        <p15:guide id="2" pos="164" userDrawn="1">
          <p15:clr>
            <a:srgbClr val="A4A3A4"/>
          </p15:clr>
        </p15:guide>
        <p15:guide id="3" orient="horz" pos="202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08" autoAdjust="0"/>
    <p:restoredTop sz="96242" autoAdjust="0"/>
  </p:normalViewPr>
  <p:slideViewPr>
    <p:cSldViewPr snapToGrid="0" showGuides="1">
      <p:cViewPr>
        <p:scale>
          <a:sx n="60" d="100"/>
          <a:sy n="60" d="100"/>
        </p:scale>
        <p:origin x="3552" y="24"/>
      </p:cViewPr>
      <p:guideLst>
        <p:guide orient="horz" pos="5609"/>
        <p:guide pos="164"/>
        <p:guide orient="horz" pos="2026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20" d="100"/>
        <a:sy n="120" d="100"/>
      </p:scale>
      <p:origin x="0" y="-566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388558-F828-4BF6-B408-79D0AC865840}" type="datetimeFigureOut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28A09E-2A56-4F92-AC68-479B650580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8699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526525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48BDC-D1F5-0FB3-596D-8EE6E77B6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D8365EF-9703-9359-CB25-6FC70D0517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5655BEE-00E5-96A5-FB66-AD0C10437E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60D7449-A4F3-B087-B3DA-283CBF8FCB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25765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3ABFE-F17A-812A-4FC4-DD24695CF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D45A84D-665A-38CF-F8BD-2F64BBA5A0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7144E3B-3E53-3B47-89C8-CF72990AE7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DD86513-B865-97F6-806C-8BF389A14A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339770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B4F5E-2645-F827-37AC-3FB455B3E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2425DAA-8FCA-40AA-4337-E64D32726A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A495CF3-4096-BD69-6C4F-B152A2523C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B723A4C-6AF7-15CB-E4E1-F6D5606F24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5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56325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1D9EE-05EA-A43D-4E66-028EBC0B5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0A046A1-F800-7766-17DB-9A968F94EC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5D4F594-91D6-6734-334F-0BA81BA20F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0C8772B-74B4-DDED-D4B7-76FBC27779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7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597963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9840A-41FA-94F1-CD47-DCF441CCA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D260368-4C0A-E853-26ED-C854BE471F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5BDDD1D-045E-601C-2B7D-FBE6865C8A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0A7AC19-968D-4AA6-E505-306772C892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8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434825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40F54-64E1-D7C9-AAB0-71724BE4F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9FFADDD-B12E-B860-0EA3-049D9E21B3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F8EABCA-BD72-3CBB-4299-38748B07FD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CEF54A-D4F5-41AD-F766-BD367148CC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10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47565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7D5D4-E052-DFEE-3FC0-1170B4118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C3B0799-5F98-D874-C09B-0017FC0677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F08CEB6-ADDF-3D69-856E-319C46198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3ADCFA6-60BA-3CE9-453C-105DD0D8D1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11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726286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525E2-772B-AA9A-A39A-7211B0E9D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6ADE73C-905A-F459-E924-529B9C9EC5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2194DB2-0E08-D7D4-B3BB-F1F71C3186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1C8D74D-20E5-3629-E478-7E15934BA5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12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178282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1C17A-143A-04BB-4863-87BEDB6B4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4217864-EB27-F9D7-AAAB-0853C9742C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8C3A777-FC51-5C11-CBA5-95C09FA4C4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CC462D9-85B2-E96B-4579-0BE14FA568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13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688753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18C48-4CA2-91DE-83AD-4F216A7C6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B03DD15-3280-A5C2-C1DD-83513572FA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EEA4F72-FC1A-359F-3CAC-00AD5BCCE1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5DD9E11-CB63-697F-B760-E471235C97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14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26583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B4C20-2C23-4F1D-9433-4A3CB5968FD6}" type="datetimeFigureOut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9232C-9E56-49BF-9091-7E5F410CDD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81149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4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B4C20-2C23-4F1D-9433-4A3CB5968FD6}" type="datetimeFigureOut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9232C-9E56-49BF-9091-7E5F410CDD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5908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B4C20-2C23-4F1D-9433-4A3CB5968FD6}" type="datetimeFigureOut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9232C-9E56-49BF-9091-7E5F410CDD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2282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B4C20-2C23-4F1D-9433-4A3CB5968FD6}" type="datetimeFigureOut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9232C-9E56-49BF-9091-7E5F410CDD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7777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B4C20-2C23-4F1D-9433-4A3CB5968FD6}" type="datetimeFigureOut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9232C-9E56-49BF-9091-7E5F410CDD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7389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B4C20-2C23-4F1D-9433-4A3CB5968FD6}" type="datetimeFigureOut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9232C-9E56-49BF-9091-7E5F410CDD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9165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4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B4C20-2C23-4F1D-9433-4A3CB5968FD6}" type="datetimeFigureOut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9232C-9E56-49BF-9091-7E5F410CDDB6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5" name="直線接點​​(S) 8">
            <a:extLst>
              <a:ext uri="{FF2B5EF4-FFF2-40B4-BE49-F238E27FC236}">
                <a16:creationId xmlns:a16="http://schemas.microsoft.com/office/drawing/2014/main" id="{40BC68BA-9ED0-D75A-652C-97699DFA5BEE}"/>
              </a:ext>
            </a:extLst>
          </p:cNvPr>
          <p:cNvCxnSpPr>
            <a:cxnSpLocks/>
          </p:cNvCxnSpPr>
          <p:nvPr userDrawn="1"/>
        </p:nvCxnSpPr>
        <p:spPr>
          <a:xfrm>
            <a:off x="1" y="1433725"/>
            <a:ext cx="4445844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8F9C78F4-CB43-B7B4-EA32-2D200918E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3" y="649113"/>
            <a:ext cx="5915025" cy="649110"/>
          </a:xfrm>
        </p:spPr>
        <p:txBody>
          <a:bodyPr>
            <a:normAutofit/>
          </a:bodyPr>
          <a:lstStyle>
            <a:lvl1pPr>
              <a:defRPr sz="2800">
                <a:latin typeface="Noto Serif TC Black" panose="02020200000000000000" pitchFamily="18" charset="-128"/>
                <a:ea typeface="Noto Serif TC Black" panose="02020200000000000000" pitchFamily="18" charset="-128"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0433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4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B4C20-2C23-4F1D-9433-4A3CB5968FD6}" type="datetimeFigureOut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9232C-9E56-49BF-9091-7E5F410CDD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50487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4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B4C20-2C23-4F1D-9433-4A3CB5968FD6}" type="datetimeFigureOut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9232C-9E56-49BF-9091-7E5F410CDD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0085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4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B4C20-2C23-4F1D-9433-4A3CB5968FD6}" type="datetimeFigureOut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9232C-9E56-49BF-9091-7E5F410CDD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36346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4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B4C20-2C23-4F1D-9433-4A3CB5968FD6}" type="datetimeFigureOut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9232C-9E56-49BF-9091-7E5F410CDD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41207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4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圖片版面配置區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91730" y="2960925"/>
            <a:ext cx="2400165" cy="7585721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28" y="2373376"/>
            <a:ext cx="3482149" cy="2097024"/>
          </a:xfrm>
        </p:spPr>
        <p:txBody>
          <a:bodyPr lIns="91440" tIns="45720" rIns="91440" bIns="45720" rtlCol="0" anchor="b"/>
          <a:lstStyle>
            <a:lvl1pPr>
              <a:defRPr sz="3038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346" y="5023104"/>
            <a:ext cx="3482149" cy="5949696"/>
          </a:xfrm>
        </p:spPr>
        <p:txBody>
          <a:bodyPr rtlCol="0"/>
          <a:lstStyle>
            <a:lvl1pPr marL="0" indent="0">
              <a:lnSpc>
                <a:spcPct val="110000"/>
              </a:lnSpc>
              <a:buNone/>
              <a:defRPr sz="1125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128602">
              <a:defRPr sz="1013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257203"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385805">
              <a:defRPr sz="787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 sz="787"/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20XX/9/3</a:t>
            </a:r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8DA9DAA-006C-4F4B-980E-E3DF019B24E2}" type="slidenum">
              <a:rPr lang="en-US" altLang="zh-TW" noProof="0" smtClean="0"/>
              <a:pPr/>
              <a:t>‹#›</a:t>
            </a:fld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cxnSp>
        <p:nvCxnSpPr>
          <p:cNvPr id="9" name="直線接點​​(S) 8">
            <a:extLst>
              <a:ext uri="{FF2B5EF4-FFF2-40B4-BE49-F238E27FC236}">
                <a16:creationId xmlns:a16="http://schemas.microsoft.com/office/drawing/2014/main" id="{FA8B3D0E-ED3F-46FA-AE79-5FEFDE9168E3}"/>
              </a:ext>
            </a:extLst>
          </p:cNvPr>
          <p:cNvCxnSpPr>
            <a:cxnSpLocks/>
          </p:cNvCxnSpPr>
          <p:nvPr userDrawn="1"/>
        </p:nvCxnSpPr>
        <p:spPr>
          <a:xfrm>
            <a:off x="1" y="1433725"/>
            <a:ext cx="4445844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40651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60">
          <p15:clr>
            <a:srgbClr val="FBAE40"/>
          </p15:clr>
        </p15:guide>
        <p15:guide id="2" pos="32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BB4C20-2C23-4F1D-9433-4A3CB5968FD6}" type="datetimeFigureOut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79232C-9E56-49BF-9091-7E5F410CDD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2205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A9968B-2619-4F71-AB00-4C493E120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2001922"/>
          </a:xfrm>
        </p:spPr>
        <p:txBody>
          <a:bodyPr rtlCol="0"/>
          <a:lstStyle/>
          <a:p>
            <a:pPr rtl="0"/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四聲八調與變調</a:t>
            </a:r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 </a:t>
            </a:r>
            <a:r>
              <a:rPr lang="en-US" altLang="zh-TW" sz="1600" dirty="0">
                <a:solidFill>
                  <a:schemeClr val="accent5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v0.31</a:t>
            </a:r>
            <a:endParaRPr lang="zh-TW" altLang="en-US" dirty="0">
              <a:solidFill>
                <a:schemeClr val="accent5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DBA5A8D-AE09-FB66-2252-7060593C0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888" y="4354286"/>
            <a:ext cx="6218224" cy="392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69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1F6D4-AC6B-3D69-07A5-DF11AEAF5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E97819F0-4D44-E2EA-27A4-34D6AE08D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1297332"/>
          </a:xfrm>
        </p:spPr>
        <p:txBody>
          <a:bodyPr/>
          <a:lstStyle/>
          <a:p>
            <a:r>
              <a:rPr lang="zh-TW" altLang="en-US" dirty="0">
                <a:solidFill>
                  <a:srgbClr val="002060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四聲八調定義</a:t>
            </a:r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36DE18EE-0ED1-C853-CEE5-2562E488DB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915" y="4762500"/>
            <a:ext cx="5915025" cy="2666999"/>
          </a:xfrm>
        </p:spPr>
        <p:txBody>
          <a:bodyPr/>
          <a:lstStyle/>
          <a:p>
            <a:endParaRPr lang="zh-TW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霞鶩文楷 TC" panose="02020500000000000000" pitchFamily="18" charset="-120"/>
              <a:ea typeface="霞鶩文楷 TC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73443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40B51-8872-F473-F37D-2EE308BA1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投影片編號版面配置區 10">
            <a:extLst>
              <a:ext uri="{FF2B5EF4-FFF2-40B4-BE49-F238E27FC236}">
                <a16:creationId xmlns:a16="http://schemas.microsoft.com/office/drawing/2014/main" id="{B431FAA7-30A9-5DD2-85D4-A70F6422C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pPr rtl="0"/>
              <a:t>3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68394C4B-5C4E-3632-A00C-95970641A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885138"/>
            <a:ext cx="5910263" cy="509524"/>
          </a:xfrm>
        </p:spPr>
        <p:txBody>
          <a:bodyPr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四聲</a:t>
            </a:r>
            <a:endParaRPr lang="zh-TW" altLang="en-US" dirty="0">
              <a:solidFill>
                <a:schemeClr val="accent5"/>
              </a:solidFill>
            </a:endParaRPr>
          </a:p>
        </p:txBody>
      </p:sp>
      <p:sp>
        <p:nvSpPr>
          <p:cNvPr id="6" name="左大括弧 5">
            <a:extLst>
              <a:ext uri="{FF2B5EF4-FFF2-40B4-BE49-F238E27FC236}">
                <a16:creationId xmlns:a16="http://schemas.microsoft.com/office/drawing/2014/main" id="{73E3276D-91EA-5D9B-2E7F-E59E4DE0B7B6}"/>
              </a:ext>
            </a:extLst>
          </p:cNvPr>
          <p:cNvSpPr/>
          <p:nvPr/>
        </p:nvSpPr>
        <p:spPr>
          <a:xfrm rot="5400000">
            <a:off x="5517986" y="2149106"/>
            <a:ext cx="222463" cy="1149360"/>
          </a:xfrm>
          <a:prstGeom prst="leftBrace">
            <a:avLst>
              <a:gd name="adj1" fmla="val 0"/>
              <a:gd name="adj2" fmla="val 50000"/>
            </a:avLst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左大括弧 8">
            <a:extLst>
              <a:ext uri="{FF2B5EF4-FFF2-40B4-BE49-F238E27FC236}">
                <a16:creationId xmlns:a16="http://schemas.microsoft.com/office/drawing/2014/main" id="{403204D7-BE8A-AFDD-1601-5508D7FA3637}"/>
              </a:ext>
            </a:extLst>
          </p:cNvPr>
          <p:cNvSpPr/>
          <p:nvPr/>
        </p:nvSpPr>
        <p:spPr>
          <a:xfrm rot="5400000">
            <a:off x="3157032" y="935367"/>
            <a:ext cx="227782" cy="3567225"/>
          </a:xfrm>
          <a:prstGeom prst="leftBrace">
            <a:avLst>
              <a:gd name="adj1" fmla="val 0"/>
              <a:gd name="adj2" fmla="val 50000"/>
            </a:avLst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左大括弧 9">
            <a:extLst>
              <a:ext uri="{FF2B5EF4-FFF2-40B4-BE49-F238E27FC236}">
                <a16:creationId xmlns:a16="http://schemas.microsoft.com/office/drawing/2014/main" id="{9F52719A-6085-A688-F50B-6831BD0D98B8}"/>
              </a:ext>
            </a:extLst>
          </p:cNvPr>
          <p:cNvSpPr/>
          <p:nvPr/>
        </p:nvSpPr>
        <p:spPr>
          <a:xfrm rot="16200000" flipV="1">
            <a:off x="1950760" y="3135748"/>
            <a:ext cx="222463" cy="1149360"/>
          </a:xfrm>
          <a:prstGeom prst="leftBrace">
            <a:avLst>
              <a:gd name="adj1" fmla="val 0"/>
              <a:gd name="adj2" fmla="val 50000"/>
            </a:avLst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左大括弧 11">
            <a:extLst>
              <a:ext uri="{FF2B5EF4-FFF2-40B4-BE49-F238E27FC236}">
                <a16:creationId xmlns:a16="http://schemas.microsoft.com/office/drawing/2014/main" id="{1B0B417B-011E-4BD1-F341-38F9599F35D7}"/>
              </a:ext>
            </a:extLst>
          </p:cNvPr>
          <p:cNvSpPr/>
          <p:nvPr/>
        </p:nvSpPr>
        <p:spPr>
          <a:xfrm rot="16200000" flipV="1">
            <a:off x="4343607" y="1924158"/>
            <a:ext cx="227782" cy="3567225"/>
          </a:xfrm>
          <a:prstGeom prst="leftBrace">
            <a:avLst>
              <a:gd name="adj1" fmla="val 0"/>
              <a:gd name="adj2" fmla="val 50000"/>
            </a:avLst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4199FA93-AA6D-DEA7-EDC8-4FA66085A673}"/>
              </a:ext>
            </a:extLst>
          </p:cNvPr>
          <p:cNvSpPr txBox="1"/>
          <p:nvPr/>
        </p:nvSpPr>
        <p:spPr>
          <a:xfrm>
            <a:off x="2404455" y="2177041"/>
            <a:ext cx="1732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solidFill>
                  <a:srgbClr val="00206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舒聲韻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247653B0-7923-F02A-C9A0-88A41BA7EDF9}"/>
              </a:ext>
            </a:extLst>
          </p:cNvPr>
          <p:cNvSpPr txBox="1"/>
          <p:nvPr/>
        </p:nvSpPr>
        <p:spPr>
          <a:xfrm>
            <a:off x="4762749" y="2177041"/>
            <a:ext cx="1732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solidFill>
                  <a:srgbClr val="00206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促聲韻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7275175F-71E7-53A2-512A-47E4B263C59F}"/>
              </a:ext>
            </a:extLst>
          </p:cNvPr>
          <p:cNvSpPr txBox="1"/>
          <p:nvPr/>
        </p:nvSpPr>
        <p:spPr>
          <a:xfrm>
            <a:off x="1195523" y="3844680"/>
            <a:ext cx="1732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solidFill>
                  <a:schemeClr val="accent4">
                    <a:lumMod val="7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平聲調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7BB219A2-84B5-B876-0AB5-0202BB637F11}"/>
              </a:ext>
            </a:extLst>
          </p:cNvPr>
          <p:cNvSpPr txBox="1"/>
          <p:nvPr/>
        </p:nvSpPr>
        <p:spPr>
          <a:xfrm>
            <a:off x="3591030" y="3844680"/>
            <a:ext cx="1732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solidFill>
                  <a:schemeClr val="accent4">
                    <a:lumMod val="7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仄聲調</a:t>
            </a:r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D8D4F9D4-6902-55E0-91CF-DEF320F6D7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662" y="2871198"/>
            <a:ext cx="5956450" cy="709392"/>
          </a:xfrm>
          <a:prstGeom prst="rect">
            <a:avLst/>
          </a:prstGeom>
        </p:spPr>
      </p:pic>
      <p:sp>
        <p:nvSpPr>
          <p:cNvPr id="21" name="文字方塊 20">
            <a:extLst>
              <a:ext uri="{FF2B5EF4-FFF2-40B4-BE49-F238E27FC236}">
                <a16:creationId xmlns:a16="http://schemas.microsoft.com/office/drawing/2014/main" id="{AC48D669-D5C0-D95C-2BB4-CE738705A757}"/>
              </a:ext>
            </a:extLst>
          </p:cNvPr>
          <p:cNvSpPr txBox="1"/>
          <p:nvPr/>
        </p:nvSpPr>
        <p:spPr>
          <a:xfrm>
            <a:off x="464612" y="5140969"/>
            <a:ext cx="592190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舒聲韻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是漢語音韻學和漢語方言學術語，指不以</a:t>
            </a:r>
            <a:r>
              <a:rPr lang="zh-TW" altLang="en-US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塞音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為</a:t>
            </a:r>
            <a:r>
              <a:rPr lang="zh-TW" altLang="en-US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韻尾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的</a:t>
            </a:r>
            <a:r>
              <a:rPr lang="zh-TW" altLang="en-US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韻母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，與促聲韻相反，簡稱舒聲。 現代官話普通話將所有促聲韻漢字發成舒聲韻。 在分析唐詩等古典詩詞詩，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《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廣韻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》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等韻書分漢字讀音為平、上、去、入四類聲調，</a:t>
            </a:r>
            <a:r>
              <a:rPr lang="zh-TW" altLang="en-US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平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、</a:t>
            </a:r>
            <a:r>
              <a:rPr lang="zh-TW" altLang="en-US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上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、</a:t>
            </a:r>
            <a:r>
              <a:rPr lang="zh-TW" altLang="en-US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去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皆配</a:t>
            </a:r>
            <a:r>
              <a:rPr lang="zh-TW" altLang="en-US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舒聲韻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，</a:t>
            </a:r>
            <a:r>
              <a:rPr lang="zh-TW" altLang="en-US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入聲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皆配</a:t>
            </a:r>
            <a:r>
              <a:rPr lang="zh-TW" altLang="en-US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促聲韻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。</a:t>
            </a:r>
            <a:b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</a:b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平仄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是中文詩詞中用字的聲調，用以區分字的陰平、陽平和上、去、入聲。 「平」指平聲，而「仄」則指上聲、去聲和入聲。 在詩詞創作中，平仄的運用有著嚴格的格律要求，用以營造詩歌的音韻美感。</a:t>
            </a:r>
          </a:p>
        </p:txBody>
      </p:sp>
    </p:spTree>
    <p:extLst>
      <p:ext uri="{BB962C8B-B14F-4D97-AF65-F5344CB8AC3E}">
        <p14:creationId xmlns:p14="http://schemas.microsoft.com/office/powerpoint/2010/main" val="1677670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C0FC2-CCA2-73C1-AB23-8FB3B8221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28210DB8-2E96-3C06-C01E-B41B80D55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490" y="885138"/>
            <a:ext cx="6149023" cy="509524"/>
          </a:xfrm>
        </p:spPr>
        <p:txBody>
          <a:bodyPr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四聲八調之</a:t>
            </a:r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【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調名</a:t>
            </a:r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】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定義</a:t>
            </a:r>
            <a:endParaRPr lang="zh-TW" altLang="en-US" dirty="0">
              <a:solidFill>
                <a:schemeClr val="accent5"/>
              </a:solidFill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543E60D-E52B-4E90-09AE-A0E539D1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6816725"/>
            <a:ext cx="5777024" cy="3618405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26B8DE23-45D8-A9D4-95DE-879C7B72B2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003516"/>
            <a:ext cx="5777024" cy="3618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518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DD506-8162-C3AE-18B3-4F9D82330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投影片編號版面配置區 10">
            <a:extLst>
              <a:ext uri="{FF2B5EF4-FFF2-40B4-BE49-F238E27FC236}">
                <a16:creationId xmlns:a16="http://schemas.microsoft.com/office/drawing/2014/main" id="{2AC69361-9F50-D73C-6145-04226548D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pPr rtl="0"/>
              <a:t>5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70AC146E-0FF6-2C2A-64E9-59B560848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489" y="885138"/>
            <a:ext cx="6149023" cy="509524"/>
          </a:xfrm>
        </p:spPr>
        <p:txBody>
          <a:bodyPr>
            <a:normAutofit fontScale="90000"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四聲八調</a:t>
            </a:r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-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不用</a:t>
            </a:r>
            <a:r>
              <a:rPr lang="zh-TW" altLang="en-US" strike="sngStrike" dirty="0">
                <a:solidFill>
                  <a:schemeClr val="accent5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調符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，以數值</a:t>
            </a:r>
            <a:r>
              <a:rPr lang="zh-TW" altLang="en-US" dirty="0">
                <a:solidFill>
                  <a:srgbClr val="FF0000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調號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表聲調</a:t>
            </a:r>
            <a:endParaRPr lang="zh-TW" altLang="en-US" dirty="0">
              <a:solidFill>
                <a:schemeClr val="accent5"/>
              </a:solidFill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1DE571B-F85B-3A9C-715B-8182799436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5" y="7228355"/>
            <a:ext cx="5832292" cy="4071826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D09D8288-F301-7287-43A1-6D2B330543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825" y="2275595"/>
            <a:ext cx="5832292" cy="4071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545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06FAF0B0-DDF4-A291-62E7-A3DFDA5B6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1297332"/>
          </a:xfrm>
        </p:spPr>
        <p:txBody>
          <a:bodyPr/>
          <a:lstStyle/>
          <a:p>
            <a:r>
              <a:rPr lang="zh-TW" altLang="en-US" dirty="0">
                <a:solidFill>
                  <a:srgbClr val="002060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四聲八調助記法</a:t>
            </a:r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5197C906-1788-EC89-422D-D0059522E0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915" y="4762500"/>
            <a:ext cx="5915025" cy="2666999"/>
          </a:xfrm>
        </p:spPr>
        <p:txBody>
          <a:bodyPr/>
          <a:lstStyle/>
          <a:p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正確掌握「台羅拼音」，八個聲調之發音方法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E147FC3B-2773-045C-94BE-D27F3FA6CF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5806200"/>
            <a:ext cx="5913835" cy="2048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793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948BA-75D8-AA5F-6508-32AA409D7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投影片編號版面配置區 10">
            <a:extLst>
              <a:ext uri="{FF2B5EF4-FFF2-40B4-BE49-F238E27FC236}">
                <a16:creationId xmlns:a16="http://schemas.microsoft.com/office/drawing/2014/main" id="{1DCAF423-256F-7E54-979C-340EB8741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pPr rtl="0"/>
              <a:t>7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B9691ADE-383F-A959-1BAD-580E6646B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490" y="885138"/>
            <a:ext cx="5918075" cy="509524"/>
          </a:xfrm>
        </p:spPr>
        <p:txBody>
          <a:bodyPr/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四聲八調：調值助記法</a:t>
            </a:r>
            <a:endParaRPr lang="zh-TW" altLang="en-US" dirty="0">
              <a:solidFill>
                <a:schemeClr val="accent5"/>
              </a:solidFill>
            </a:endParaRPr>
          </a:p>
        </p:txBody>
      </p: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B7876EC0-F9E5-03C1-F90D-4BF6E6093954}"/>
              </a:ext>
            </a:extLst>
          </p:cNvPr>
          <p:cNvGrpSpPr/>
          <p:nvPr/>
        </p:nvGrpSpPr>
        <p:grpSpPr>
          <a:xfrm>
            <a:off x="453284" y="7347647"/>
            <a:ext cx="203835" cy="1070858"/>
            <a:chOff x="453284" y="7347647"/>
            <a:chExt cx="203835" cy="1070858"/>
          </a:xfrm>
        </p:grpSpPr>
        <p:sp>
          <p:nvSpPr>
            <p:cNvPr id="4" name="文字方塊 3">
              <a:extLst>
                <a:ext uri="{FF2B5EF4-FFF2-40B4-BE49-F238E27FC236}">
                  <a16:creationId xmlns:a16="http://schemas.microsoft.com/office/drawing/2014/main" id="{CAA7574F-2D59-38E0-8AB0-B9F6D18DB8B5}"/>
                </a:ext>
              </a:extLst>
            </p:cNvPr>
            <p:cNvSpPr txBox="1"/>
            <p:nvPr/>
          </p:nvSpPr>
          <p:spPr>
            <a:xfrm>
              <a:off x="453284" y="7347647"/>
              <a:ext cx="203835" cy="246221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pPr algn="ctr"/>
              <a:r>
                <a:rPr lang="en-US" altLang="zh-TW" sz="1600" dirty="0"/>
                <a:t>5</a:t>
              </a:r>
              <a:endParaRPr lang="zh-TW" altLang="en-US" sz="1600" dirty="0"/>
            </a:p>
          </p:txBody>
        </p:sp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526BD331-F6A9-84D9-D241-D22E9FB59CFD}"/>
                </a:ext>
              </a:extLst>
            </p:cNvPr>
            <p:cNvSpPr txBox="1"/>
            <p:nvPr/>
          </p:nvSpPr>
          <p:spPr>
            <a:xfrm>
              <a:off x="453284" y="7553806"/>
              <a:ext cx="203835" cy="246221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pPr algn="ctr"/>
              <a:r>
                <a:rPr lang="en-US" altLang="zh-TW" sz="1600" dirty="0"/>
                <a:t>4</a:t>
              </a:r>
              <a:endParaRPr lang="zh-TW" altLang="en-US" sz="1600" dirty="0"/>
            </a:p>
          </p:txBody>
        </p:sp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3007C983-F8E8-F7D9-6C8C-E080231E793B}"/>
                </a:ext>
              </a:extLst>
            </p:cNvPr>
            <p:cNvSpPr txBox="1"/>
            <p:nvPr/>
          </p:nvSpPr>
          <p:spPr>
            <a:xfrm>
              <a:off x="453284" y="7966124"/>
              <a:ext cx="203835" cy="246221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pPr algn="ctr"/>
              <a:r>
                <a:rPr lang="en-US" altLang="zh-TW" sz="1600" dirty="0"/>
                <a:t>2</a:t>
              </a:r>
              <a:endParaRPr lang="zh-TW" altLang="en-US" sz="1600" dirty="0"/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9E7795D3-BB4F-A026-3ED1-7D5D6E22402F}"/>
                </a:ext>
              </a:extLst>
            </p:cNvPr>
            <p:cNvSpPr txBox="1"/>
            <p:nvPr/>
          </p:nvSpPr>
          <p:spPr>
            <a:xfrm>
              <a:off x="453284" y="7759965"/>
              <a:ext cx="203835" cy="246221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pPr algn="ctr"/>
              <a:r>
                <a:rPr lang="en-US" altLang="zh-TW" sz="1600" dirty="0"/>
                <a:t>3</a:t>
              </a:r>
              <a:endParaRPr lang="zh-TW" altLang="en-US" sz="1600" dirty="0"/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6B34DF4F-CB9C-6F69-7F29-69CC9DFFF8CA}"/>
                </a:ext>
              </a:extLst>
            </p:cNvPr>
            <p:cNvSpPr txBox="1"/>
            <p:nvPr/>
          </p:nvSpPr>
          <p:spPr>
            <a:xfrm>
              <a:off x="453284" y="8172284"/>
              <a:ext cx="203835" cy="246221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pPr algn="ctr"/>
              <a:r>
                <a:rPr lang="en-US" altLang="zh-TW" sz="1600" dirty="0"/>
                <a:t>1</a:t>
              </a:r>
              <a:endParaRPr lang="zh-TW" altLang="en-US" sz="1600" dirty="0"/>
            </a:p>
          </p:txBody>
        </p:sp>
      </p:grpSp>
      <p:pic>
        <p:nvPicPr>
          <p:cNvPr id="15" name="圖片 14">
            <a:extLst>
              <a:ext uri="{FF2B5EF4-FFF2-40B4-BE49-F238E27FC236}">
                <a16:creationId xmlns:a16="http://schemas.microsoft.com/office/drawing/2014/main" id="{FD4BC57F-0D43-E3EC-EEAE-9EC9A6403E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325" y="2482850"/>
            <a:ext cx="5810250" cy="4219575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C3F22DFE-3711-C8DB-14A1-3479CE2FE7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084" y="7347647"/>
            <a:ext cx="5771429" cy="16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934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90DBE-5289-4349-E226-F52D71E06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投影片編號版面配置區 10">
            <a:extLst>
              <a:ext uri="{FF2B5EF4-FFF2-40B4-BE49-F238E27FC236}">
                <a16:creationId xmlns:a16="http://schemas.microsoft.com/office/drawing/2014/main" id="{D41822CD-8F20-37A7-AD83-5E05E761F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pPr rtl="0"/>
              <a:t>8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D96B03C8-ADC4-DD31-CC94-4760EAAC2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490" y="885138"/>
            <a:ext cx="5280808" cy="509524"/>
          </a:xfrm>
        </p:spPr>
        <p:txBody>
          <a:bodyPr/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四聲八調：</a:t>
            </a:r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W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助記法</a:t>
            </a:r>
            <a:endParaRPr lang="zh-TW" altLang="en-US" dirty="0">
              <a:solidFill>
                <a:schemeClr val="accent5"/>
              </a:solidFill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551D755-1A0B-9283-E1F8-F1FDC38DD7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325" y="2482850"/>
            <a:ext cx="5810250" cy="4219575"/>
          </a:xfrm>
          <a:prstGeom prst="rect">
            <a:avLst/>
          </a:prstGeom>
        </p:spPr>
      </p:pic>
      <p:pic>
        <p:nvPicPr>
          <p:cNvPr id="5" name="圖片 4" descr="一張含有 文字, 行, 螢幕擷取畫面, 圖表 的圖片&#10;&#10;AI 產生的內容可能不正確。">
            <a:extLst>
              <a:ext uri="{FF2B5EF4-FFF2-40B4-BE49-F238E27FC236}">
                <a16:creationId xmlns:a16="http://schemas.microsoft.com/office/drawing/2014/main" id="{BD26EB20-4BCE-8B16-A05B-427783E6D7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072490"/>
            <a:ext cx="6858000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364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50737-A636-08FF-97CB-A2B7574D8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53D0D2B7-3ED6-8C89-9BA4-1A0E37D26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1297332"/>
          </a:xfrm>
        </p:spPr>
        <p:txBody>
          <a:bodyPr/>
          <a:lstStyle/>
          <a:p>
            <a:r>
              <a:rPr lang="zh-TW" altLang="en-US" dirty="0">
                <a:solidFill>
                  <a:srgbClr val="002060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八調之變調規則</a:t>
            </a:r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6ED41610-263C-A129-59BD-840ADBD899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915" y="4762500"/>
            <a:ext cx="5915025" cy="2666999"/>
          </a:xfrm>
        </p:spPr>
        <p:txBody>
          <a:bodyPr>
            <a:normAutofit lnSpcReduction="10000"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閩南語漢字之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【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讀音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】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，當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【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單字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】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組合成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【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詞彙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】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，原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【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標音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】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中之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【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聲調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】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，需進行「變調轉換」；</a:t>
            </a:r>
            <a:endParaRPr lang="en-US" altLang="zh-TW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霞鶩文楷 TC" panose="02020500000000000000" pitchFamily="18" charset="-120"/>
              <a:ea typeface="霞鶩文楷 TC" panose="02020500000000000000" pitchFamily="18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漢字為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【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單字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】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時，其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【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標音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】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使用之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【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聲調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】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，稱為：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【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本調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】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；</a:t>
            </a:r>
            <a:endParaRPr lang="en-US" altLang="zh-TW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霞鶩文楷 TC" panose="02020500000000000000" pitchFamily="18" charset="-120"/>
              <a:ea typeface="霞鶩文楷 TC" panose="02020500000000000000" pitchFamily="18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漢字組成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【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詞彙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】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時，其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【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標音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】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使用之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【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聲調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】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，稱為：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【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變調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】 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22071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C5864-D3E0-DF9A-8894-2D48F4809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投影片編號版面配置區 10">
            <a:extLst>
              <a:ext uri="{FF2B5EF4-FFF2-40B4-BE49-F238E27FC236}">
                <a16:creationId xmlns:a16="http://schemas.microsoft.com/office/drawing/2014/main" id="{AFA02A45-8098-9AA3-30C2-71A10E411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pPr rtl="0"/>
              <a:t>10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685193F2-664B-54AC-E195-F655C7A7E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490" y="885138"/>
            <a:ext cx="5280808" cy="509524"/>
          </a:xfrm>
        </p:spPr>
        <p:txBody>
          <a:bodyPr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變調規則（台灣</a:t>
            </a:r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/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廈門腔）</a:t>
            </a:r>
            <a:endParaRPr lang="zh-TW" altLang="en-US" dirty="0">
              <a:solidFill>
                <a:schemeClr val="accent5"/>
              </a:solidFill>
            </a:endParaRP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AD91E2F7-93C0-7651-1031-407F53CF5216}"/>
              </a:ext>
            </a:extLst>
          </p:cNvPr>
          <p:cNvSpPr txBox="1"/>
          <p:nvPr/>
        </p:nvSpPr>
        <p:spPr>
          <a:xfrm>
            <a:off x="175029" y="5502740"/>
            <a:ext cx="607163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1.【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高降中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得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中音調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（陽去調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/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七聲調） ；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2.【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中降低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得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低音調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（陰去調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/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三聲調） ；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3.【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低升高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得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高降調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（上声調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/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二聲調）；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4.【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高降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取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高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得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高音調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（陰平調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/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一聲調） ；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5.【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低升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取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中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得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中音調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（陽去調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/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七聲調） ；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r>
              <a:rPr lang="en-US" altLang="zh-TW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《</a:t>
            </a:r>
            <a:r>
              <a:rPr lang="zh-TW" altLang="en-US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入聲韻尾：</a:t>
            </a:r>
            <a:r>
              <a:rPr lang="en-US" altLang="zh-TW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p/t/k》</a:t>
            </a:r>
          </a:p>
          <a:p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6.【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低促升高促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得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高入調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（陽入調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/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八聲調）； 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7.【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高促降低促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得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低入調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（陰入調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/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四聲調）；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r>
              <a:rPr lang="en-US" altLang="zh-TW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《</a:t>
            </a:r>
            <a:r>
              <a:rPr lang="zh-TW" altLang="en-US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入聲韻尾：</a:t>
            </a:r>
            <a:r>
              <a:rPr lang="en-US" altLang="zh-TW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h》</a:t>
            </a:r>
          </a:p>
          <a:p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8.【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低促變高降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得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高降調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（上声調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/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二聲調）； 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9.【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高促變低音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得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低音調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（陰去調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/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三聲調）。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TW" altLang="en-US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</p:txBody>
      </p:sp>
      <p:pic>
        <p:nvPicPr>
          <p:cNvPr id="3" name="圖片 2" descr="一張含有 文字, 行, 螢幕擷取畫面, 圖表 的圖片&#10;&#10;AI 產生的內容可能不正確。">
            <a:extLst>
              <a:ext uri="{FF2B5EF4-FFF2-40B4-BE49-F238E27FC236}">
                <a16:creationId xmlns:a16="http://schemas.microsoft.com/office/drawing/2014/main" id="{DCF5C821-9FB8-691B-E67D-FE8DAEF9FF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19888"/>
            <a:ext cx="6858000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9789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665F3-18C9-98D5-3B74-C20E605F1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D795D6C6-8C43-D783-FF34-BF64E500A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489" y="885138"/>
            <a:ext cx="6009173" cy="509524"/>
          </a:xfrm>
        </p:spPr>
        <p:txBody>
          <a:bodyPr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變調規則助記圖（台灣</a:t>
            </a:r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/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廈門腔）</a:t>
            </a:r>
            <a:endParaRPr lang="zh-TW" altLang="en-US" dirty="0">
              <a:solidFill>
                <a:schemeClr val="accent5"/>
              </a:solidFill>
            </a:endParaRPr>
          </a:p>
        </p:txBody>
      </p:sp>
      <p:grpSp>
        <p:nvGrpSpPr>
          <p:cNvPr id="38" name="群組 37">
            <a:extLst>
              <a:ext uri="{FF2B5EF4-FFF2-40B4-BE49-F238E27FC236}">
                <a16:creationId xmlns:a16="http://schemas.microsoft.com/office/drawing/2014/main" id="{E71533AA-74CF-FC0B-BAD7-CD113CD1FFC0}"/>
              </a:ext>
            </a:extLst>
          </p:cNvPr>
          <p:cNvGrpSpPr/>
          <p:nvPr/>
        </p:nvGrpSpPr>
        <p:grpSpPr>
          <a:xfrm>
            <a:off x="263705" y="6395766"/>
            <a:ext cx="6460711" cy="4659974"/>
            <a:chOff x="260486" y="6731325"/>
            <a:chExt cx="6460711" cy="4659974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63B563CC-806D-C4B8-57CB-CCE7025F6DF4}"/>
                </a:ext>
              </a:extLst>
            </p:cNvPr>
            <p:cNvSpPr txBox="1"/>
            <p:nvPr/>
          </p:nvSpPr>
          <p:spPr>
            <a:xfrm>
              <a:off x="260486" y="6807393"/>
              <a:ext cx="43152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3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  <a:endParaRPr lang="zh-TW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" name="文字方塊 3">
              <a:extLst>
                <a:ext uri="{FF2B5EF4-FFF2-40B4-BE49-F238E27FC236}">
                  <a16:creationId xmlns:a16="http://schemas.microsoft.com/office/drawing/2014/main" id="{173D53CE-71F5-8457-AB7C-F260851B1974}"/>
                </a:ext>
              </a:extLst>
            </p:cNvPr>
            <p:cNvSpPr txBox="1"/>
            <p:nvPr/>
          </p:nvSpPr>
          <p:spPr>
            <a:xfrm>
              <a:off x="5725548" y="6807393"/>
              <a:ext cx="43152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3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4</a:t>
              </a:r>
              <a:endParaRPr lang="zh-TW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CA6DE683-4D75-AA55-9F39-13AFEECD5981}"/>
                </a:ext>
              </a:extLst>
            </p:cNvPr>
            <p:cNvSpPr txBox="1"/>
            <p:nvPr/>
          </p:nvSpPr>
          <p:spPr>
            <a:xfrm>
              <a:off x="3026311" y="6807394"/>
              <a:ext cx="43152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3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  <a:endParaRPr lang="zh-TW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F07FDD5C-CFA6-5F63-8E4E-780DE0831E6B}"/>
                </a:ext>
              </a:extLst>
            </p:cNvPr>
            <p:cNvSpPr txBox="1"/>
            <p:nvPr/>
          </p:nvSpPr>
          <p:spPr>
            <a:xfrm>
              <a:off x="260486" y="10744968"/>
              <a:ext cx="43152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3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7</a:t>
              </a:r>
              <a:endParaRPr lang="zh-TW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2B54A6C8-9BD0-8897-CF09-C68684701203}"/>
                </a:ext>
              </a:extLst>
            </p:cNvPr>
            <p:cNvSpPr txBox="1"/>
            <p:nvPr/>
          </p:nvSpPr>
          <p:spPr>
            <a:xfrm>
              <a:off x="1569578" y="8513502"/>
              <a:ext cx="43152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3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5</a:t>
              </a:r>
              <a:endParaRPr lang="zh-TW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9FEB6BD2-6ACC-7B3B-39AF-6219DAC975D9}"/>
                </a:ext>
              </a:extLst>
            </p:cNvPr>
            <p:cNvSpPr txBox="1"/>
            <p:nvPr/>
          </p:nvSpPr>
          <p:spPr>
            <a:xfrm>
              <a:off x="3026311" y="10744967"/>
              <a:ext cx="43152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3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3</a:t>
              </a:r>
              <a:endParaRPr lang="zh-TW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FDCBB583-1651-099C-3D84-48554B471F13}"/>
                </a:ext>
              </a:extLst>
            </p:cNvPr>
            <p:cNvSpPr txBox="1"/>
            <p:nvPr/>
          </p:nvSpPr>
          <p:spPr>
            <a:xfrm>
              <a:off x="5725548" y="10744966"/>
              <a:ext cx="43152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3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8</a:t>
              </a:r>
              <a:endParaRPr lang="zh-TW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14" name="直線單箭頭接點 13">
              <a:extLst>
                <a:ext uri="{FF2B5EF4-FFF2-40B4-BE49-F238E27FC236}">
                  <a16:creationId xmlns:a16="http://schemas.microsoft.com/office/drawing/2014/main" id="{F82BAA67-1460-1A3E-6555-D95C862A49A7}"/>
                </a:ext>
              </a:extLst>
            </p:cNvPr>
            <p:cNvCxnSpPr>
              <a:cxnSpLocks/>
            </p:cNvCxnSpPr>
            <p:nvPr/>
          </p:nvCxnSpPr>
          <p:spPr>
            <a:xfrm>
              <a:off x="484639" y="7356475"/>
              <a:ext cx="0" cy="3477717"/>
            </a:xfrm>
            <a:prstGeom prst="straightConnector1">
              <a:avLst/>
            </a:prstGeom>
            <a:ln w="38100">
              <a:solidFill>
                <a:schemeClr val="tx2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單箭頭接點 14">
              <a:extLst>
                <a:ext uri="{FF2B5EF4-FFF2-40B4-BE49-F238E27FC236}">
                  <a16:creationId xmlns:a16="http://schemas.microsoft.com/office/drawing/2014/main" id="{B02FD02C-4C25-1706-1D58-CDE1B8306A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50464" y="7356475"/>
              <a:ext cx="0" cy="3477717"/>
            </a:xfrm>
            <a:prstGeom prst="straightConnector1">
              <a:avLst/>
            </a:prstGeom>
            <a:ln w="38100">
              <a:solidFill>
                <a:schemeClr val="tx2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單箭頭接點 15">
              <a:extLst>
                <a:ext uri="{FF2B5EF4-FFF2-40B4-BE49-F238E27FC236}">
                  <a16:creationId xmlns:a16="http://schemas.microsoft.com/office/drawing/2014/main" id="{B3B933D1-1A6F-88EA-D8A0-048F4777F48E}"/>
                </a:ext>
              </a:extLst>
            </p:cNvPr>
            <p:cNvCxnSpPr>
              <a:cxnSpLocks/>
            </p:cNvCxnSpPr>
            <p:nvPr/>
          </p:nvCxnSpPr>
          <p:spPr>
            <a:xfrm>
              <a:off x="5962015" y="7356475"/>
              <a:ext cx="0" cy="3477717"/>
            </a:xfrm>
            <a:prstGeom prst="straightConnector1">
              <a:avLst/>
            </a:prstGeom>
            <a:ln w="38100">
              <a:solidFill>
                <a:schemeClr val="tx2">
                  <a:lumMod val="50000"/>
                  <a:lumOff val="50000"/>
                </a:schemeClr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單箭頭接點 16">
              <a:extLst>
                <a:ext uri="{FF2B5EF4-FFF2-40B4-BE49-F238E27FC236}">
                  <a16:creationId xmlns:a16="http://schemas.microsoft.com/office/drawing/2014/main" id="{67665E2E-15D0-7BE4-FC8F-0A4F75DB2C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14" y="7130559"/>
              <a:ext cx="2334297" cy="0"/>
            </a:xfrm>
            <a:prstGeom prst="straightConnector1">
              <a:avLst/>
            </a:prstGeom>
            <a:ln w="38100">
              <a:solidFill>
                <a:schemeClr val="tx2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單箭頭接點 19">
              <a:extLst>
                <a:ext uri="{FF2B5EF4-FFF2-40B4-BE49-F238E27FC236}">
                  <a16:creationId xmlns:a16="http://schemas.microsoft.com/office/drawing/2014/main" id="{8B48E18E-E283-0F08-1507-C7F5CB3D73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24545" y="7130559"/>
              <a:ext cx="2334297" cy="0"/>
            </a:xfrm>
            <a:prstGeom prst="straightConnector1">
              <a:avLst/>
            </a:prstGeom>
            <a:ln w="38100">
              <a:solidFill>
                <a:schemeClr val="tx2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單箭頭接點 20">
              <a:extLst>
                <a:ext uri="{FF2B5EF4-FFF2-40B4-BE49-F238E27FC236}">
                  <a16:creationId xmlns:a16="http://schemas.microsoft.com/office/drawing/2014/main" id="{44AA6107-6FD5-1E2B-1622-AF113CF99F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24545" y="11060312"/>
              <a:ext cx="2334297" cy="0"/>
            </a:xfrm>
            <a:prstGeom prst="straightConnector1">
              <a:avLst/>
            </a:prstGeom>
            <a:ln w="38100">
              <a:solidFill>
                <a:schemeClr val="tx2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單箭頭接點 21">
              <a:extLst>
                <a:ext uri="{FF2B5EF4-FFF2-40B4-BE49-F238E27FC236}">
                  <a16:creationId xmlns:a16="http://schemas.microsoft.com/office/drawing/2014/main" id="{BEDBCE7E-302A-A2C6-4241-789BD881AAB8}"/>
                </a:ext>
              </a:extLst>
            </p:cNvPr>
            <p:cNvCxnSpPr>
              <a:cxnSpLocks/>
            </p:cNvCxnSpPr>
            <p:nvPr/>
          </p:nvCxnSpPr>
          <p:spPr>
            <a:xfrm>
              <a:off x="692014" y="11060312"/>
              <a:ext cx="2334297" cy="0"/>
            </a:xfrm>
            <a:prstGeom prst="straightConnector1">
              <a:avLst/>
            </a:prstGeom>
            <a:ln w="38100">
              <a:solidFill>
                <a:schemeClr val="tx2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單箭頭接點 23">
              <a:extLst>
                <a:ext uri="{FF2B5EF4-FFF2-40B4-BE49-F238E27FC236}">
                  <a16:creationId xmlns:a16="http://schemas.microsoft.com/office/drawing/2014/main" id="{54EBFC79-E6D4-79CD-1291-074EFF5C14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14" y="8951053"/>
              <a:ext cx="960617" cy="1883139"/>
            </a:xfrm>
            <a:prstGeom prst="straightConnector1">
              <a:avLst/>
            </a:prstGeom>
            <a:ln w="38100">
              <a:solidFill>
                <a:schemeClr val="tx2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單箭頭接點 27">
              <a:extLst>
                <a:ext uri="{FF2B5EF4-FFF2-40B4-BE49-F238E27FC236}">
                  <a16:creationId xmlns:a16="http://schemas.microsoft.com/office/drawing/2014/main" id="{D98F4E56-ECBC-194E-50A0-C64CEE07AA43}"/>
                </a:ext>
              </a:extLst>
            </p:cNvPr>
            <p:cNvCxnSpPr>
              <a:cxnSpLocks/>
            </p:cNvCxnSpPr>
            <p:nvPr/>
          </p:nvCxnSpPr>
          <p:spPr>
            <a:xfrm>
              <a:off x="1937857" y="8951053"/>
              <a:ext cx="1088454" cy="1993738"/>
            </a:xfrm>
            <a:prstGeom prst="straightConnector1">
              <a:avLst/>
            </a:prstGeom>
            <a:ln w="38100">
              <a:solidFill>
                <a:schemeClr val="tx2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02ED2D44-A24B-5389-23D7-794F6183BE50}"/>
                </a:ext>
              </a:extLst>
            </p:cNvPr>
            <p:cNvSpPr txBox="1"/>
            <p:nvPr/>
          </p:nvSpPr>
          <p:spPr>
            <a:xfrm>
              <a:off x="4386459" y="6731325"/>
              <a:ext cx="47000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36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hiron Sung HK ExtraLight" pitchFamily="2" charset="-128"/>
                  <a:ea typeface="Chiron Sung HK ExtraLight" pitchFamily="2" charset="-128"/>
                </a:rPr>
                <a:t>h</a:t>
              </a:r>
              <a:endParaRPr lang="zh-TW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iron Sung HK ExtraLight" pitchFamily="2" charset="-128"/>
                <a:ea typeface="Chiron Sung HK ExtraLight" pitchFamily="2" charset="-128"/>
              </a:endParaRPr>
            </a:p>
          </p:txBody>
        </p:sp>
        <p:sp>
          <p:nvSpPr>
            <p:cNvPr id="31" name="文字方塊 30">
              <a:extLst>
                <a:ext uri="{FF2B5EF4-FFF2-40B4-BE49-F238E27FC236}">
                  <a16:creationId xmlns:a16="http://schemas.microsoft.com/office/drawing/2014/main" id="{B3E78991-C613-FF86-230A-DDA5661439F0}"/>
                </a:ext>
              </a:extLst>
            </p:cNvPr>
            <p:cNvSpPr txBox="1"/>
            <p:nvPr/>
          </p:nvSpPr>
          <p:spPr>
            <a:xfrm>
              <a:off x="4418455" y="10660531"/>
              <a:ext cx="47000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36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hiron Sung HK ExtraLight" pitchFamily="2" charset="-128"/>
                  <a:ea typeface="Chiron Sung HK ExtraLight" pitchFamily="2" charset="-128"/>
                </a:rPr>
                <a:t>h</a:t>
              </a:r>
              <a:endParaRPr lang="zh-TW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iron Sung HK ExtraLight" pitchFamily="2" charset="-128"/>
                <a:ea typeface="Chiron Sung HK ExtraLight" pitchFamily="2" charset="-128"/>
              </a:endParaRPr>
            </a:p>
          </p:txBody>
        </p:sp>
        <p:sp>
          <p:nvSpPr>
            <p:cNvPr id="32" name="文字方塊 31">
              <a:extLst>
                <a:ext uri="{FF2B5EF4-FFF2-40B4-BE49-F238E27FC236}">
                  <a16:creationId xmlns:a16="http://schemas.microsoft.com/office/drawing/2014/main" id="{ED68361E-5148-8168-CFD2-5B603A80C1B6}"/>
                </a:ext>
              </a:extLst>
            </p:cNvPr>
            <p:cNvSpPr txBox="1"/>
            <p:nvPr/>
          </p:nvSpPr>
          <p:spPr>
            <a:xfrm>
              <a:off x="5202833" y="8627887"/>
              <a:ext cx="151836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36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Lucida Fax" panose="02060602050505020204" pitchFamily="18" charset="0"/>
                  <a:ea typeface="FiraCode Nerd Font" panose="020B0809050000020004" pitchFamily="49" charset="0"/>
                  <a:cs typeface="Microsoft GothicNeo Light" panose="020B0503020000020004" pitchFamily="34" charset="-127"/>
                </a:rPr>
                <a:t>p/t/k</a:t>
              </a:r>
              <a:endParaRPr lang="zh-TW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Fax" panose="02060602050505020204" pitchFamily="18" charset="0"/>
                <a:ea typeface="Microsoft GothicNeo Light" panose="020B0503020000020004" pitchFamily="34" charset="-127"/>
                <a:cs typeface="Microsoft GothicNeo Light" panose="020B0503020000020004" pitchFamily="34" charset="-127"/>
              </a:endParaRPr>
            </a:p>
          </p:txBody>
        </p:sp>
        <p:sp>
          <p:nvSpPr>
            <p:cNvPr id="33" name="文字方塊 32">
              <a:extLst>
                <a:ext uri="{FF2B5EF4-FFF2-40B4-BE49-F238E27FC236}">
                  <a16:creationId xmlns:a16="http://schemas.microsoft.com/office/drawing/2014/main" id="{F13EB8E4-4321-8BE9-FA38-649662C7AFDC}"/>
                </a:ext>
              </a:extLst>
            </p:cNvPr>
            <p:cNvSpPr txBox="1"/>
            <p:nvPr/>
          </p:nvSpPr>
          <p:spPr>
            <a:xfrm>
              <a:off x="576986" y="9463741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TW" altLang="en-US" sz="2400" b="1" dirty="0">
                  <a:solidFill>
                    <a:schemeClr val="accent5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Noto Serif TC SemiBold" panose="02020200000000000000" pitchFamily="18" charset="-128"/>
                  <a:ea typeface="Noto Serif TC SemiBold" panose="02020200000000000000" pitchFamily="18" charset="-128"/>
                </a:rPr>
                <a:t>漳州腔</a:t>
              </a:r>
            </a:p>
          </p:txBody>
        </p:sp>
        <p:sp>
          <p:nvSpPr>
            <p:cNvPr id="34" name="文字方塊 33">
              <a:extLst>
                <a:ext uri="{FF2B5EF4-FFF2-40B4-BE49-F238E27FC236}">
                  <a16:creationId xmlns:a16="http://schemas.microsoft.com/office/drawing/2014/main" id="{33925064-20F2-D06B-01E2-881A8C9AD2C8}"/>
                </a:ext>
              </a:extLst>
            </p:cNvPr>
            <p:cNvSpPr txBox="1"/>
            <p:nvPr/>
          </p:nvSpPr>
          <p:spPr>
            <a:xfrm>
              <a:off x="1880820" y="9417575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TW" altLang="en-US" sz="2400" b="1" dirty="0">
                  <a:solidFill>
                    <a:schemeClr val="accent5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Noto Serif TC SemiBold" panose="02020200000000000000" pitchFamily="18" charset="-128"/>
                  <a:ea typeface="Noto Serif TC SemiBold" panose="02020200000000000000" pitchFamily="18" charset="-128"/>
                </a:rPr>
                <a:t>泉州腔</a:t>
              </a:r>
            </a:p>
          </p:txBody>
        </p:sp>
      </p:grpSp>
      <p:pic>
        <p:nvPicPr>
          <p:cNvPr id="8" name="圖片 7" descr="一張含有 文字, 行, 螢幕擷取畫面, 圖表 的圖片&#10;&#10;AI 產生的內容可能不正確。">
            <a:extLst>
              <a:ext uri="{FF2B5EF4-FFF2-40B4-BE49-F238E27FC236}">
                <a16:creationId xmlns:a16="http://schemas.microsoft.com/office/drawing/2014/main" id="{E3167808-452E-CA6E-31CB-7B57CA4DE4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36" y="1595644"/>
            <a:ext cx="6858000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0258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50BA6-184C-D923-92FE-5DD5ED4FE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31FF8E8C-02ED-3547-6E78-213B00ED1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325" y="893527"/>
            <a:ext cx="5280808" cy="509524"/>
          </a:xfrm>
        </p:spPr>
        <p:txBody>
          <a:bodyPr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變調實例（台灣</a:t>
            </a:r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/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廈門腔）</a:t>
            </a:r>
            <a:endParaRPr lang="zh-TW" altLang="en-US" dirty="0">
              <a:solidFill>
                <a:schemeClr val="accent5"/>
              </a:solidFill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ADAA289F-0393-98B1-2995-175A9AC13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1729" y="1547177"/>
            <a:ext cx="3568131" cy="10417175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E57407BE-BDAA-1F7B-5E4E-574B75AA0C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668" y="6245049"/>
            <a:ext cx="2774483" cy="203035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057EB3F5-A597-A66A-A772-052FBD5A45FC}"/>
              </a:ext>
            </a:extLst>
          </p:cNvPr>
          <p:cNvSpPr txBox="1"/>
          <p:nvPr/>
        </p:nvSpPr>
        <p:spPr>
          <a:xfrm>
            <a:off x="212402" y="3075304"/>
            <a:ext cx="256817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1.【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高降中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；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2.【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中降低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；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3.【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低升高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；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4.【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高降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取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高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；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5.【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低升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取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中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；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r>
              <a:rPr lang="en-US" altLang="zh-TW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《</a:t>
            </a:r>
            <a:r>
              <a:rPr lang="zh-TW" altLang="en-US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入聲韻尾：</a:t>
            </a:r>
            <a:r>
              <a:rPr lang="en-US" altLang="zh-TW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p/t/k》</a:t>
            </a:r>
          </a:p>
          <a:p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6.【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低入升高入； 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7.【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高入降低入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；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r>
              <a:rPr lang="en-US" altLang="zh-TW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《</a:t>
            </a:r>
            <a:r>
              <a:rPr lang="zh-TW" altLang="en-US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入聲韻尾：</a:t>
            </a:r>
            <a:r>
              <a:rPr lang="en-US" altLang="zh-TW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h》</a:t>
            </a:r>
          </a:p>
          <a:p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8.【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低促變高降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； 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9.【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高促變低音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。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TW" altLang="en-US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</p:txBody>
      </p:sp>
      <p:pic>
        <p:nvPicPr>
          <p:cNvPr id="6" name="圖片 5" descr="一張含有 文字, 行, 螢幕擷取畫面, 圖表 的圖片&#10;&#10;AI 產生的內容可能不正確。">
            <a:extLst>
              <a:ext uri="{FF2B5EF4-FFF2-40B4-BE49-F238E27FC236}">
                <a16:creationId xmlns:a16="http://schemas.microsoft.com/office/drawing/2014/main" id="{CD9A12B9-2A12-D2CD-C284-A6A8AF52B0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668" y="1521380"/>
            <a:ext cx="2729090" cy="153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3814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0F7D3-104F-6083-826D-E0F73B99E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7C7C1668-9FDE-DA98-ACE7-39DC87FB6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325" y="893527"/>
            <a:ext cx="5280808" cy="509524"/>
          </a:xfrm>
        </p:spPr>
        <p:txBody>
          <a:bodyPr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變調實例（台灣</a:t>
            </a:r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/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廈門腔）</a:t>
            </a:r>
            <a:endParaRPr lang="zh-TW" altLang="en-US" dirty="0">
              <a:solidFill>
                <a:schemeClr val="accent5"/>
              </a:solidFill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48C0786-1CD8-C7F7-CBC9-95BDF0C660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785018"/>
            <a:ext cx="6030568" cy="5035232"/>
          </a:xfrm>
          <a:prstGeom prst="rect">
            <a:avLst/>
          </a:prstGeom>
        </p:spPr>
      </p:pic>
      <p:pic>
        <p:nvPicPr>
          <p:cNvPr id="4" name="圖片 3" descr="一張含有 文字, 行, 螢幕擷取畫面, 圖表 的圖片&#10;&#10;AI 產生的內容可能不正確。">
            <a:extLst>
              <a:ext uri="{FF2B5EF4-FFF2-40B4-BE49-F238E27FC236}">
                <a16:creationId xmlns:a16="http://schemas.microsoft.com/office/drawing/2014/main" id="{A9C32DAD-2434-E596-DA1E-A57EB51C57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202217"/>
            <a:ext cx="6858000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8749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D3EAC-6A91-42F6-6DF4-D083A146D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16E89DDC-0548-46C2-8EE2-2178B3503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325" y="893527"/>
            <a:ext cx="5280808" cy="509524"/>
          </a:xfrm>
        </p:spPr>
        <p:txBody>
          <a:bodyPr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變調實例（台灣</a:t>
            </a:r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/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廈門腔）</a:t>
            </a:r>
            <a:endParaRPr lang="zh-TW" altLang="en-US" dirty="0">
              <a:solidFill>
                <a:schemeClr val="accent5"/>
              </a:solidFill>
            </a:endParaRPr>
          </a:p>
        </p:txBody>
      </p: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75DE3569-D975-F782-9900-223C1E4DEFA9}"/>
              </a:ext>
            </a:extLst>
          </p:cNvPr>
          <p:cNvGrpSpPr/>
          <p:nvPr/>
        </p:nvGrpSpPr>
        <p:grpSpPr>
          <a:xfrm>
            <a:off x="217895" y="6951175"/>
            <a:ext cx="6261282" cy="4385649"/>
            <a:chOff x="217895" y="7378683"/>
            <a:chExt cx="6261282" cy="4385649"/>
          </a:xfrm>
        </p:grpSpPr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7AF22ACE-C733-83B6-77AA-9D90A4CF77A6}"/>
                </a:ext>
              </a:extLst>
            </p:cNvPr>
            <p:cNvSpPr txBox="1"/>
            <p:nvPr/>
          </p:nvSpPr>
          <p:spPr>
            <a:xfrm>
              <a:off x="476250" y="7378683"/>
              <a:ext cx="58303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3600" dirty="0">
                  <a:solidFill>
                    <a:srgbClr val="0070C0"/>
                  </a:solidFill>
                  <a:latin typeface="Noto Serif TC Black" panose="02020200000000000000" pitchFamily="18" charset="-128"/>
                  <a:ea typeface="Noto Serif TC Black" panose="02020200000000000000" pitchFamily="18" charset="-128"/>
                </a:rPr>
                <a:t>三百六十行，行行出狀元。</a:t>
              </a: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2D57FA94-007F-0AF6-90AC-951592D436D2}"/>
                </a:ext>
              </a:extLst>
            </p:cNvPr>
            <p:cNvSpPr txBox="1"/>
            <p:nvPr/>
          </p:nvSpPr>
          <p:spPr>
            <a:xfrm>
              <a:off x="476250" y="9643365"/>
              <a:ext cx="583038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solidFill>
                    <a:srgbClr val="7030A0"/>
                  </a:solidFill>
                  <a:latin typeface="Chiron Sung HK ExtraLight" pitchFamily="2" charset="-128"/>
                  <a:ea typeface="Chiron Sung HK ExtraLight" pitchFamily="2" charset="-128"/>
                </a:rPr>
                <a:t>Sann1-pah4 lak8-tsap8 hang5,</a:t>
              </a:r>
              <a:br>
                <a:rPr lang="en-US" altLang="zh-TW" sz="2400" dirty="0">
                  <a:solidFill>
                    <a:srgbClr val="7030A0"/>
                  </a:solidFill>
                  <a:latin typeface="Chiron Sung HK ExtraLight" pitchFamily="2" charset="-128"/>
                  <a:ea typeface="Chiron Sung HK ExtraLight" pitchFamily="2" charset="-128"/>
                </a:rPr>
              </a:br>
              <a:r>
                <a:rPr lang="en-US" altLang="zh-TW" sz="2400" dirty="0">
                  <a:solidFill>
                    <a:srgbClr val="7030A0"/>
                  </a:solidFill>
                  <a:latin typeface="Chiron Sung HK ExtraLight" pitchFamily="2" charset="-128"/>
                  <a:ea typeface="Chiron Sung HK ExtraLight" pitchFamily="2" charset="-128"/>
                </a:rPr>
                <a:t>hang-hang5 tshut4 tsiong7-guan5.</a:t>
              </a:r>
              <a:endParaRPr lang="zh-TW" altLang="en-US" sz="2400" dirty="0">
                <a:solidFill>
                  <a:srgbClr val="7030A0"/>
                </a:solidFill>
                <a:latin typeface="Chiron Sung HK ExtraLight" pitchFamily="2" charset="-128"/>
                <a:ea typeface="Chiron Sung HK ExtraLight" pitchFamily="2" charset="-128"/>
              </a:endParaRPr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15C37831-BB78-7CB5-3AD2-C8F5C5E1225E}"/>
                </a:ext>
              </a:extLst>
            </p:cNvPr>
            <p:cNvSpPr txBox="1"/>
            <p:nvPr/>
          </p:nvSpPr>
          <p:spPr>
            <a:xfrm>
              <a:off x="476250" y="10933335"/>
              <a:ext cx="600292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solidFill>
                    <a:schemeClr val="accent2"/>
                  </a:solidFill>
                  <a:latin typeface="Chiron Sung HK ExtraLight" pitchFamily="2" charset="-128"/>
                  <a:ea typeface="Chiron Sung HK ExtraLight" pitchFamily="2" charset="-128"/>
                </a:rPr>
                <a:t>Sann1~7 pah4~2 lak8~4 tsap8~4 hang5, </a:t>
              </a:r>
              <a:br>
                <a:rPr lang="en-US" altLang="zh-TW" sz="2400">
                  <a:solidFill>
                    <a:schemeClr val="accent2"/>
                  </a:solidFill>
                  <a:latin typeface="Chiron Sung HK ExtraLight" pitchFamily="2" charset="-128"/>
                  <a:ea typeface="Chiron Sung HK ExtraLight" pitchFamily="2" charset="-128"/>
                </a:rPr>
              </a:br>
              <a:r>
                <a:rPr lang="en-US" altLang="zh-TW" sz="2400">
                  <a:solidFill>
                    <a:schemeClr val="accent2"/>
                  </a:solidFill>
                  <a:latin typeface="Chiron Sung HK ExtraLight" pitchFamily="2" charset="-128"/>
                  <a:ea typeface="Chiron Sung HK ExtraLight" pitchFamily="2" charset="-128"/>
                </a:rPr>
                <a:t>hang5~7 hang5 tshut4~8 tsiong7~3 guan5.</a:t>
              </a:r>
              <a:endParaRPr lang="zh-TW" altLang="en-US" sz="2400" dirty="0">
                <a:solidFill>
                  <a:schemeClr val="accent2"/>
                </a:solidFill>
                <a:latin typeface="Chiron Sung HK ExtraLight" pitchFamily="2" charset="-128"/>
                <a:ea typeface="Chiron Sung HK ExtraLight" pitchFamily="2" charset="-128"/>
              </a:endParaRPr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7D3FA136-174E-3949-6DFD-378133D57ABF}"/>
                </a:ext>
              </a:extLst>
            </p:cNvPr>
            <p:cNvSpPr txBox="1"/>
            <p:nvPr/>
          </p:nvSpPr>
          <p:spPr>
            <a:xfrm>
              <a:off x="217895" y="8078918"/>
              <a:ext cx="325981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【</a:t>
              </a:r>
              <a:r>
                <a:rPr lang="zh-TW" altLang="en-US" sz="2400" dirty="0"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台羅拼音</a:t>
              </a:r>
              <a:r>
                <a:rPr lang="en-US" altLang="zh-TW" sz="2400" dirty="0"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】</a:t>
              </a:r>
              <a:r>
                <a:rPr lang="zh-TW" altLang="en-US" sz="2400" dirty="0"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：</a:t>
              </a:r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57D514EA-5E04-861A-60EA-287DF7A756E1}"/>
                </a:ext>
              </a:extLst>
            </p:cNvPr>
            <p:cNvSpPr txBox="1"/>
            <p:nvPr/>
          </p:nvSpPr>
          <p:spPr>
            <a:xfrm>
              <a:off x="217895" y="10574432"/>
              <a:ext cx="47895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【</a:t>
              </a:r>
              <a:r>
                <a:rPr lang="zh-TW" altLang="en-US" sz="2400" dirty="0"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台羅拼音</a:t>
              </a:r>
              <a:r>
                <a:rPr lang="zh-TW" altLang="en-US" sz="2400" dirty="0">
                  <a:solidFill>
                    <a:srgbClr val="FF0000"/>
                  </a:solidFill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用調號標變調</a:t>
              </a:r>
              <a:r>
                <a:rPr lang="en-US" altLang="zh-TW" sz="2400" dirty="0"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】</a:t>
              </a:r>
              <a:r>
                <a:rPr lang="zh-TW" altLang="en-US" sz="2400" dirty="0"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：</a:t>
              </a:r>
            </a:p>
          </p:txBody>
        </p:sp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D856A1FE-0B41-43DE-B7CA-05C84E807B0B}"/>
                </a:ext>
              </a:extLst>
            </p:cNvPr>
            <p:cNvSpPr txBox="1"/>
            <p:nvPr/>
          </p:nvSpPr>
          <p:spPr>
            <a:xfrm>
              <a:off x="217895" y="9312462"/>
              <a:ext cx="42408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【</a:t>
              </a:r>
              <a:r>
                <a:rPr lang="zh-TW" altLang="en-US" sz="2400" dirty="0"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台羅拼音</a:t>
              </a:r>
              <a:r>
                <a:rPr lang="zh-TW" altLang="en-US" sz="2400" dirty="0">
                  <a:solidFill>
                    <a:srgbClr val="FF0000"/>
                  </a:solidFill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用調號標本調</a:t>
              </a:r>
              <a:r>
                <a:rPr lang="en-US" altLang="zh-TW" sz="2400" dirty="0"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】</a:t>
              </a:r>
              <a:r>
                <a:rPr lang="zh-TW" altLang="en-US" sz="2400" dirty="0"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：</a:t>
              </a:r>
            </a:p>
          </p:txBody>
        </p: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BB2E15B6-F50A-E4A7-F884-8EBF9D9BF943}"/>
                </a:ext>
              </a:extLst>
            </p:cNvPr>
            <p:cNvSpPr txBox="1"/>
            <p:nvPr/>
          </p:nvSpPr>
          <p:spPr>
            <a:xfrm>
              <a:off x="441325" y="8391654"/>
              <a:ext cx="583038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solidFill>
                    <a:srgbClr val="7030A0"/>
                  </a:solidFill>
                  <a:latin typeface="Chiron Sung HK ExtraLight" pitchFamily="2" charset="-128"/>
                  <a:ea typeface="Chiron Sung HK ExtraLight" pitchFamily="2" charset="-128"/>
                </a:rPr>
                <a:t>Sann-</a:t>
              </a:r>
              <a:r>
                <a:rPr lang="en-US" altLang="zh-TW" sz="2400" dirty="0" err="1">
                  <a:solidFill>
                    <a:srgbClr val="7030A0"/>
                  </a:solidFill>
                  <a:latin typeface="Chiron Sung HK ExtraLight" pitchFamily="2" charset="-128"/>
                  <a:ea typeface="Chiron Sung HK ExtraLight" pitchFamily="2" charset="-128"/>
                </a:rPr>
                <a:t>pah</a:t>
              </a:r>
              <a:r>
                <a:rPr lang="en-US" altLang="zh-TW" sz="2400" dirty="0">
                  <a:solidFill>
                    <a:srgbClr val="7030A0"/>
                  </a:solidFill>
                  <a:latin typeface="Chiron Sung HK ExtraLight" pitchFamily="2" charset="-128"/>
                  <a:ea typeface="Chiron Sung HK ExtraLight" pitchFamily="2" charset="-128"/>
                </a:rPr>
                <a:t> la̍k-tsa̍p hâng ,</a:t>
              </a:r>
            </a:p>
            <a:p>
              <a:r>
                <a:rPr lang="en-US" altLang="zh-TW" sz="2400" dirty="0">
                  <a:solidFill>
                    <a:srgbClr val="7030A0"/>
                  </a:solidFill>
                  <a:latin typeface="Chiron Sung HK ExtraLight" pitchFamily="2" charset="-128"/>
                  <a:ea typeface="Chiron Sung HK ExtraLight" pitchFamily="2" charset="-128"/>
                </a:rPr>
                <a:t>hâng-hâng tshut tsiōng-guân.</a:t>
              </a:r>
              <a:endParaRPr lang="zh-TW" altLang="en-US" sz="2400" dirty="0">
                <a:solidFill>
                  <a:srgbClr val="7030A0"/>
                </a:solidFill>
                <a:latin typeface="Chiron Sung HK ExtraLight" pitchFamily="2" charset="-128"/>
                <a:ea typeface="Chiron Sung HK ExtraLight" pitchFamily="2" charset="-128"/>
              </a:endParaRPr>
            </a:p>
          </p:txBody>
        </p:sp>
      </p:grp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F6B6CAB8-D346-B024-7025-374E3CC9D48D}"/>
              </a:ext>
            </a:extLst>
          </p:cNvPr>
          <p:cNvGrpSpPr/>
          <p:nvPr/>
        </p:nvGrpSpPr>
        <p:grpSpPr>
          <a:xfrm>
            <a:off x="217895" y="1894061"/>
            <a:ext cx="6261282" cy="4240293"/>
            <a:chOff x="217895" y="2212538"/>
            <a:chExt cx="6261282" cy="4240293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3D1E7738-D367-D8ED-0A15-FA99C2BE2075}"/>
                </a:ext>
              </a:extLst>
            </p:cNvPr>
            <p:cNvSpPr txBox="1"/>
            <p:nvPr/>
          </p:nvSpPr>
          <p:spPr>
            <a:xfrm>
              <a:off x="476250" y="2212538"/>
              <a:ext cx="58303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3600" dirty="0">
                  <a:solidFill>
                    <a:srgbClr val="0070C0"/>
                  </a:solidFill>
                  <a:latin typeface="Noto Serif TC Black" panose="02020200000000000000" pitchFamily="18" charset="-128"/>
                  <a:ea typeface="Noto Serif TC Black" panose="02020200000000000000" pitchFamily="18" charset="-128"/>
                </a:rPr>
                <a:t>人情留一線，日後好相看。</a:t>
              </a:r>
            </a:p>
          </p:txBody>
        </p:sp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27FA9315-58C9-A1F0-2681-C3E2F954D633}"/>
                </a:ext>
              </a:extLst>
            </p:cNvPr>
            <p:cNvSpPr txBox="1"/>
            <p:nvPr/>
          </p:nvSpPr>
          <p:spPr>
            <a:xfrm>
              <a:off x="476250" y="4331864"/>
              <a:ext cx="583038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solidFill>
                    <a:srgbClr val="7030A0"/>
                  </a:solidFill>
                  <a:latin typeface="Chiron Sung HK ExtraLight" pitchFamily="2" charset="-128"/>
                  <a:ea typeface="Chiron Sung HK ExtraLight" pitchFamily="2" charset="-128"/>
                </a:rPr>
                <a:t>Jin5-tsing5 lau5 tsit8 suann3, </a:t>
              </a:r>
              <a:br>
                <a:rPr lang="en-US" altLang="zh-TW" sz="2400" dirty="0">
                  <a:solidFill>
                    <a:srgbClr val="7030A0"/>
                  </a:solidFill>
                  <a:latin typeface="Chiron Sung HK ExtraLight" pitchFamily="2" charset="-128"/>
                  <a:ea typeface="Chiron Sung HK ExtraLight" pitchFamily="2" charset="-128"/>
                </a:rPr>
              </a:br>
              <a:r>
                <a:rPr lang="en-US" altLang="zh-TW" sz="2400" dirty="0">
                  <a:solidFill>
                    <a:srgbClr val="7030A0"/>
                  </a:solidFill>
                  <a:latin typeface="Chiron Sung HK ExtraLight" pitchFamily="2" charset="-128"/>
                  <a:ea typeface="Chiron Sung HK ExtraLight" pitchFamily="2" charset="-128"/>
                </a:rPr>
                <a:t>jit8-au7 ho2 sio1 khuann3.</a:t>
              </a:r>
              <a:endParaRPr lang="zh-TW" altLang="en-US" sz="2400" dirty="0">
                <a:solidFill>
                  <a:srgbClr val="7030A0"/>
                </a:solidFill>
                <a:latin typeface="Chiron Sung HK ExtraLight" pitchFamily="2" charset="-128"/>
                <a:ea typeface="Chiron Sung HK ExtraLight" pitchFamily="2" charset="-128"/>
              </a:endParaRPr>
            </a:p>
          </p:txBody>
        </p:sp>
        <p:sp>
          <p:nvSpPr>
            <p:cNvPr id="4" name="文字方塊 3">
              <a:extLst>
                <a:ext uri="{FF2B5EF4-FFF2-40B4-BE49-F238E27FC236}">
                  <a16:creationId xmlns:a16="http://schemas.microsoft.com/office/drawing/2014/main" id="{0B7DDD18-D5B4-CE9E-324A-8265AAF740C0}"/>
                </a:ext>
              </a:extLst>
            </p:cNvPr>
            <p:cNvSpPr txBox="1"/>
            <p:nvPr/>
          </p:nvSpPr>
          <p:spPr>
            <a:xfrm>
              <a:off x="476250" y="5621834"/>
              <a:ext cx="600292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solidFill>
                    <a:schemeClr val="accent2"/>
                  </a:solidFill>
                  <a:latin typeface="Chiron Sung HK ExtraLight" pitchFamily="2" charset="-128"/>
                  <a:ea typeface="Chiron Sung HK ExtraLight" pitchFamily="2" charset="-128"/>
                </a:rPr>
                <a:t>Jin5~7 tsing5 lau5~7 tsit8~4 suann3, </a:t>
              </a:r>
              <a:br>
                <a:rPr lang="en-US" altLang="zh-TW" sz="2400" dirty="0">
                  <a:solidFill>
                    <a:schemeClr val="accent2"/>
                  </a:solidFill>
                  <a:latin typeface="Chiron Sung HK ExtraLight" pitchFamily="2" charset="-128"/>
                  <a:ea typeface="Chiron Sung HK ExtraLight" pitchFamily="2" charset="-128"/>
                </a:rPr>
              </a:br>
              <a:r>
                <a:rPr lang="en-US" altLang="zh-TW" sz="2400" dirty="0">
                  <a:solidFill>
                    <a:schemeClr val="accent2"/>
                  </a:solidFill>
                  <a:latin typeface="Chiron Sung HK ExtraLight" pitchFamily="2" charset="-128"/>
                  <a:ea typeface="Chiron Sung HK ExtraLight" pitchFamily="2" charset="-128"/>
                </a:rPr>
                <a:t>jit8~4 au7 ho2~1 sio1~7 khuann3.</a:t>
              </a:r>
              <a:endParaRPr lang="zh-TW" altLang="en-US" sz="2400" dirty="0">
                <a:solidFill>
                  <a:schemeClr val="accent2"/>
                </a:solidFill>
                <a:latin typeface="Chiron Sung HK ExtraLight" pitchFamily="2" charset="-128"/>
                <a:ea typeface="Chiron Sung HK ExtraLight" pitchFamily="2" charset="-128"/>
              </a:endParaRPr>
            </a:p>
          </p:txBody>
        </p:sp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C8B13AF7-43C2-C1AA-7DD6-7ED7AD53B989}"/>
                </a:ext>
              </a:extLst>
            </p:cNvPr>
            <p:cNvSpPr txBox="1"/>
            <p:nvPr/>
          </p:nvSpPr>
          <p:spPr>
            <a:xfrm>
              <a:off x="217895" y="4000961"/>
              <a:ext cx="46763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【</a:t>
              </a:r>
              <a:r>
                <a:rPr lang="zh-TW" altLang="en-US" sz="2400" dirty="0"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台羅拼音</a:t>
              </a:r>
              <a:r>
                <a:rPr lang="zh-TW" altLang="en-US" sz="2400" dirty="0">
                  <a:solidFill>
                    <a:srgbClr val="FF0000"/>
                  </a:solidFill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用調號標本調</a:t>
              </a:r>
              <a:r>
                <a:rPr lang="en-US" altLang="zh-TW" sz="2400" dirty="0"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】</a:t>
              </a:r>
              <a:r>
                <a:rPr lang="zh-TW" altLang="en-US" sz="2400" dirty="0"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：</a:t>
              </a:r>
            </a:p>
          </p:txBody>
        </p:sp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38D0EC12-78B6-5443-7186-76B88F5D40BB}"/>
                </a:ext>
              </a:extLst>
            </p:cNvPr>
            <p:cNvSpPr txBox="1"/>
            <p:nvPr/>
          </p:nvSpPr>
          <p:spPr>
            <a:xfrm>
              <a:off x="217895" y="5262931"/>
              <a:ext cx="46763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【</a:t>
              </a:r>
              <a:r>
                <a:rPr lang="zh-TW" altLang="en-US" sz="2400" dirty="0"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台羅拼音</a:t>
              </a:r>
              <a:r>
                <a:rPr lang="zh-TW" altLang="en-US" sz="2400" dirty="0">
                  <a:solidFill>
                    <a:srgbClr val="FF0000"/>
                  </a:solidFill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用調號標變調</a:t>
              </a:r>
              <a:r>
                <a:rPr lang="en-US" altLang="zh-TW" sz="2400" dirty="0"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】</a:t>
              </a:r>
              <a:r>
                <a:rPr lang="zh-TW" altLang="en-US" sz="2400" dirty="0"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：</a:t>
              </a:r>
            </a:p>
          </p:txBody>
        </p: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C4CC40AA-3A9D-800E-19D0-A7E522BED571}"/>
                </a:ext>
              </a:extLst>
            </p:cNvPr>
            <p:cNvSpPr txBox="1"/>
            <p:nvPr/>
          </p:nvSpPr>
          <p:spPr>
            <a:xfrm>
              <a:off x="217895" y="2865345"/>
              <a:ext cx="325981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【</a:t>
              </a:r>
              <a:r>
                <a:rPr lang="zh-TW" altLang="en-US" sz="2400" dirty="0"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台羅拼音</a:t>
              </a:r>
              <a:r>
                <a:rPr lang="en-US" altLang="zh-TW" sz="2400" dirty="0"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】</a:t>
              </a:r>
              <a:r>
                <a:rPr lang="zh-TW" altLang="en-US" sz="2400" dirty="0"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：</a:t>
              </a:r>
            </a:p>
          </p:txBody>
        </p:sp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14BF1160-8D41-FDD8-1D82-D8BF9819C7D3}"/>
                </a:ext>
              </a:extLst>
            </p:cNvPr>
            <p:cNvSpPr txBox="1"/>
            <p:nvPr/>
          </p:nvSpPr>
          <p:spPr>
            <a:xfrm>
              <a:off x="441325" y="3178081"/>
              <a:ext cx="583038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solidFill>
                    <a:srgbClr val="7030A0"/>
                  </a:solidFill>
                  <a:latin typeface="Chiron Sung HK ExtraLight" pitchFamily="2" charset="-128"/>
                  <a:ea typeface="Chiron Sung HK ExtraLight" pitchFamily="2" charset="-128"/>
                </a:rPr>
                <a:t>Jîn-tsîng lâu tsi̍t suànn,</a:t>
              </a:r>
              <a:br>
                <a:rPr lang="en-US" altLang="zh-TW" sz="2400" dirty="0">
                  <a:solidFill>
                    <a:srgbClr val="7030A0"/>
                  </a:solidFill>
                  <a:latin typeface="Chiron Sung HK ExtraLight" pitchFamily="2" charset="-128"/>
                  <a:ea typeface="Chiron Sung HK ExtraLight" pitchFamily="2" charset="-128"/>
                </a:rPr>
              </a:br>
              <a:r>
                <a:rPr lang="en-US" altLang="zh-TW" sz="2400" dirty="0">
                  <a:solidFill>
                    <a:srgbClr val="7030A0"/>
                  </a:solidFill>
                  <a:latin typeface="Chiron Sung HK ExtraLight" pitchFamily="2" charset="-128"/>
                  <a:ea typeface="Chiron Sung HK ExtraLight" pitchFamily="2" charset="-128"/>
                </a:rPr>
                <a:t>ji̍t-āu hó sio khuànn.</a:t>
              </a:r>
              <a:endParaRPr lang="zh-TW" altLang="en-US" sz="2400" dirty="0">
                <a:solidFill>
                  <a:srgbClr val="7030A0"/>
                </a:solidFill>
                <a:latin typeface="Chiron Sung HK ExtraLight" pitchFamily="2" charset="-128"/>
                <a:ea typeface="Chiron Sung HK ExtraLight" pitchFamily="2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671801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DC217-61C3-9459-A49B-B77A04142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B4700293-77CD-A326-1E0D-69EECAC02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1297332"/>
          </a:xfrm>
        </p:spPr>
        <p:txBody>
          <a:bodyPr/>
          <a:lstStyle/>
          <a:p>
            <a:r>
              <a:rPr lang="zh-TW" altLang="en-US" dirty="0">
                <a:solidFill>
                  <a:srgbClr val="002060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附錄：台羅拼音</a:t>
            </a:r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89643FA0-9052-3B0E-F0E4-2D8F0F7072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915" y="4762500"/>
            <a:ext cx="5915025" cy="2666999"/>
          </a:xfrm>
        </p:spPr>
        <p:txBody>
          <a:bodyPr/>
          <a:lstStyle/>
          <a:p>
            <a:endParaRPr lang="zh-TW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霞鶩文楷 TC" panose="02020500000000000000" pitchFamily="18" charset="-120"/>
              <a:ea typeface="霞鶩文楷 TC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786242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CBCF2-F9BE-7353-C103-F741DF0B8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C023A8F7-CCE3-CE03-B4A0-909261C45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3" y="741391"/>
            <a:ext cx="6437283" cy="649110"/>
          </a:xfrm>
        </p:spPr>
        <p:txBody>
          <a:bodyPr/>
          <a:lstStyle/>
          <a:p>
            <a:r>
              <a:rPr lang="zh-TW" altLang="en-US" dirty="0"/>
              <a:t>台羅拼音：聲母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2BD25274-CC2A-406D-8C57-C9F6E7380598}"/>
              </a:ext>
            </a:extLst>
          </p:cNvPr>
          <p:cNvSpPr txBox="1"/>
          <p:nvPr/>
        </p:nvSpPr>
        <p:spPr>
          <a:xfrm>
            <a:off x="0" y="1621333"/>
            <a:ext cx="60716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chemeClr val="accent1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【</a:t>
            </a:r>
            <a:r>
              <a:rPr lang="zh-TW" altLang="en-US" sz="2400" dirty="0">
                <a:solidFill>
                  <a:schemeClr val="accent1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聲母</a:t>
            </a:r>
            <a:r>
              <a:rPr lang="en-US" altLang="zh-TW" sz="2400" dirty="0">
                <a:solidFill>
                  <a:schemeClr val="accent1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】</a:t>
            </a:r>
            <a:r>
              <a:rPr lang="zh-TW" altLang="en-US" sz="2400" dirty="0">
                <a:solidFill>
                  <a:schemeClr val="accent1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：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8987EC4A-F699-5564-F778-59FC7326B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369" y="2100045"/>
            <a:ext cx="6447362" cy="4615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9349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87CE9-AEF8-DE87-198A-FE0E75335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6710DFCF-0C6C-995C-3100-3320E6CD2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3" y="741391"/>
            <a:ext cx="6437283" cy="649110"/>
          </a:xfrm>
        </p:spPr>
        <p:txBody>
          <a:bodyPr/>
          <a:lstStyle/>
          <a:p>
            <a:r>
              <a:rPr lang="zh-TW" altLang="en-US" dirty="0"/>
              <a:t>台羅拼音：韻母（一）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CD7691D3-61FD-C383-42C8-00BAD4700E7F}"/>
              </a:ext>
            </a:extLst>
          </p:cNvPr>
          <p:cNvSpPr txBox="1"/>
          <p:nvPr/>
        </p:nvSpPr>
        <p:spPr>
          <a:xfrm>
            <a:off x="80963" y="1855513"/>
            <a:ext cx="60716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schemeClr val="accent1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【</a:t>
            </a:r>
            <a:r>
              <a:rPr lang="zh-TW" altLang="en-US" sz="2800" dirty="0">
                <a:solidFill>
                  <a:schemeClr val="accent1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元音及輔音</a:t>
            </a:r>
            <a:r>
              <a:rPr lang="en-US" altLang="zh-TW" sz="2800" dirty="0">
                <a:solidFill>
                  <a:schemeClr val="accent1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】</a:t>
            </a:r>
            <a:r>
              <a:rPr lang="zh-TW" altLang="en-US" sz="2800" dirty="0">
                <a:solidFill>
                  <a:schemeClr val="accent1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：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66D40CFB-7351-CE54-A9FF-B68D83367477}"/>
              </a:ext>
            </a:extLst>
          </p:cNvPr>
          <p:cNvSpPr txBox="1"/>
          <p:nvPr/>
        </p:nvSpPr>
        <p:spPr>
          <a:xfrm>
            <a:off x="80963" y="6096000"/>
            <a:ext cx="60716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schemeClr val="accent1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【</a:t>
            </a:r>
            <a:r>
              <a:rPr lang="zh-TW" altLang="en-US" sz="2800" dirty="0">
                <a:solidFill>
                  <a:schemeClr val="accent1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韻尾</a:t>
            </a:r>
            <a:r>
              <a:rPr lang="en-US" altLang="zh-TW" sz="2800" dirty="0">
                <a:solidFill>
                  <a:schemeClr val="accent1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】</a:t>
            </a:r>
            <a:r>
              <a:rPr lang="zh-TW" altLang="en-US" sz="2800" dirty="0">
                <a:solidFill>
                  <a:schemeClr val="accent1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：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B597068-B40F-1FDE-BC5B-BE6E1ACA5391}"/>
              </a:ext>
            </a:extLst>
          </p:cNvPr>
          <p:cNvSpPr txBox="1"/>
          <p:nvPr/>
        </p:nvSpPr>
        <p:spPr>
          <a:xfrm>
            <a:off x="284608" y="6913721"/>
            <a:ext cx="641999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六個基本元音寫作 </a:t>
            </a:r>
            <a:r>
              <a:rPr lang="en-US" altLang="zh-TW" dirty="0">
                <a:solidFill>
                  <a:schemeClr val="accent5">
                    <a:lumMod val="7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a [a]</a:t>
            </a:r>
            <a:r>
              <a:rPr lang="zh-TW" altLang="en-US" dirty="0">
                <a:solidFill>
                  <a:schemeClr val="accent5">
                    <a:lumMod val="7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、</a:t>
            </a:r>
            <a:r>
              <a:rPr lang="en-US" altLang="zh-TW" dirty="0">
                <a:solidFill>
                  <a:schemeClr val="accent5">
                    <a:lumMod val="7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e [e]</a:t>
            </a:r>
            <a:r>
              <a:rPr lang="zh-TW" altLang="en-US" dirty="0">
                <a:solidFill>
                  <a:schemeClr val="accent5">
                    <a:lumMod val="7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、</a:t>
            </a:r>
            <a:r>
              <a:rPr lang="en-US" altLang="zh-TW" dirty="0" err="1">
                <a:solidFill>
                  <a:schemeClr val="accent5">
                    <a:lumMod val="7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i</a:t>
            </a:r>
            <a:r>
              <a:rPr lang="en-US" altLang="zh-TW" dirty="0">
                <a:solidFill>
                  <a:schemeClr val="accent5">
                    <a:lumMod val="7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[</a:t>
            </a:r>
            <a:r>
              <a:rPr lang="en-US" altLang="zh-TW" dirty="0" err="1">
                <a:solidFill>
                  <a:schemeClr val="accent5">
                    <a:lumMod val="7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i</a:t>
            </a:r>
            <a:r>
              <a:rPr lang="en-US" altLang="zh-TW" dirty="0">
                <a:solidFill>
                  <a:schemeClr val="accent5">
                    <a:lumMod val="7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]</a:t>
            </a:r>
            <a:r>
              <a:rPr lang="zh-TW" altLang="en-US" dirty="0">
                <a:solidFill>
                  <a:schemeClr val="accent5">
                    <a:lumMod val="7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、</a:t>
            </a:r>
            <a:r>
              <a:rPr lang="en-US" altLang="zh-TW" dirty="0">
                <a:solidFill>
                  <a:schemeClr val="accent5">
                    <a:lumMod val="7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o [ə]</a:t>
            </a:r>
            <a:r>
              <a:rPr lang="zh-TW" altLang="en-US" dirty="0">
                <a:solidFill>
                  <a:schemeClr val="accent5">
                    <a:lumMod val="7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、</a:t>
            </a:r>
            <a:r>
              <a:rPr lang="en-US" altLang="zh-TW" dirty="0" err="1">
                <a:solidFill>
                  <a:schemeClr val="accent5">
                    <a:lumMod val="7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oo</a:t>
            </a:r>
            <a:r>
              <a:rPr lang="en-US" altLang="zh-TW" dirty="0">
                <a:solidFill>
                  <a:schemeClr val="accent5">
                    <a:lumMod val="7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[ɔ]</a:t>
            </a:r>
            <a:r>
              <a:rPr lang="zh-TW" altLang="en-US" dirty="0">
                <a:solidFill>
                  <a:schemeClr val="accent5">
                    <a:lumMod val="7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、</a:t>
            </a:r>
            <a:r>
              <a:rPr lang="en-US" altLang="zh-TW" dirty="0">
                <a:solidFill>
                  <a:schemeClr val="accent5">
                    <a:lumMod val="7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u [u]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。閩南語的鼻化元音</a:t>
            </a:r>
            <a:r>
              <a:rPr lang="zh-TW" altLang="en-US" dirty="0">
                <a:solidFill>
                  <a:srgbClr val="FF000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在前方加上</a:t>
            </a:r>
            <a:r>
              <a:rPr lang="en-US" altLang="zh-TW" dirty="0">
                <a:solidFill>
                  <a:srgbClr val="FF000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n</a:t>
            </a:r>
            <a:r>
              <a:rPr lang="zh-TW" altLang="en-US" dirty="0">
                <a:solidFill>
                  <a:srgbClr val="FF000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表示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，形成</a:t>
            </a:r>
            <a:r>
              <a:rPr lang="en-US" altLang="zh-TW" dirty="0" err="1">
                <a:solidFill>
                  <a:srgbClr val="FF000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na</a:t>
            </a:r>
            <a:r>
              <a:rPr lang="zh-TW" altLang="en-US" dirty="0">
                <a:solidFill>
                  <a:srgbClr val="FF000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、</a:t>
            </a:r>
            <a:r>
              <a:rPr lang="en-US" altLang="zh-TW" dirty="0">
                <a:solidFill>
                  <a:srgbClr val="FF000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ne</a:t>
            </a:r>
            <a:r>
              <a:rPr lang="zh-TW" altLang="en-US" dirty="0">
                <a:solidFill>
                  <a:srgbClr val="FF000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、</a:t>
            </a:r>
            <a:r>
              <a:rPr lang="en-US" altLang="zh-TW" dirty="0" err="1">
                <a:solidFill>
                  <a:srgbClr val="FF000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ni</a:t>
            </a:r>
            <a:r>
              <a:rPr lang="zh-TW" altLang="en-US" dirty="0">
                <a:solidFill>
                  <a:srgbClr val="FF000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、</a:t>
            </a:r>
            <a:r>
              <a:rPr lang="en-US" altLang="zh-TW" dirty="0" err="1">
                <a:solidFill>
                  <a:srgbClr val="FF000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noo</a:t>
            </a:r>
            <a:r>
              <a:rPr lang="zh-TW" altLang="en-US" dirty="0">
                <a:solidFill>
                  <a:srgbClr val="FF000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、</a:t>
            </a:r>
            <a:r>
              <a:rPr lang="en-US" altLang="zh-TW" dirty="0">
                <a:solidFill>
                  <a:srgbClr val="FF000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nu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（注意閩南語中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o [ə]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無鼻化現象）。另外還有兩個</a:t>
            </a:r>
            <a:r>
              <a:rPr lang="zh-TW" altLang="en-US" dirty="0">
                <a:solidFill>
                  <a:schemeClr val="accent5">
                    <a:lumMod val="7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韻化輔音</a:t>
            </a:r>
            <a:r>
              <a:rPr lang="en-US" altLang="zh-TW" dirty="0">
                <a:solidFill>
                  <a:schemeClr val="accent5">
                    <a:lumMod val="7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m [m̩]</a:t>
            </a:r>
            <a:r>
              <a:rPr lang="zh-TW" altLang="en-US" dirty="0">
                <a:solidFill>
                  <a:schemeClr val="accent5">
                    <a:lumMod val="7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、</a:t>
            </a:r>
            <a:r>
              <a:rPr lang="en-US" altLang="zh-TW" dirty="0">
                <a:solidFill>
                  <a:schemeClr val="accent5">
                    <a:lumMod val="7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ng [ŋ̍]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。 </a:t>
            </a:r>
            <a:r>
              <a:rPr lang="en-US" altLang="zh-TW" dirty="0">
                <a:solidFill>
                  <a:schemeClr val="accent5">
                    <a:lumMod val="7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[m]</a:t>
            </a:r>
            <a:r>
              <a:rPr lang="zh-TW" altLang="en-US" dirty="0">
                <a:solidFill>
                  <a:schemeClr val="accent5">
                    <a:lumMod val="7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、</a:t>
            </a:r>
            <a:r>
              <a:rPr lang="en-US" altLang="zh-TW" dirty="0">
                <a:solidFill>
                  <a:schemeClr val="accent5">
                    <a:lumMod val="7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[n]</a:t>
            </a:r>
            <a:r>
              <a:rPr lang="zh-TW" altLang="en-US" dirty="0">
                <a:solidFill>
                  <a:schemeClr val="accent5">
                    <a:lumMod val="7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、</a:t>
            </a:r>
            <a:r>
              <a:rPr lang="en-US" altLang="zh-TW" dirty="0">
                <a:solidFill>
                  <a:schemeClr val="accent5">
                    <a:lumMod val="7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[ŋ]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作為</a:t>
            </a:r>
            <a:r>
              <a:rPr lang="zh-TW" altLang="en-US" dirty="0">
                <a:solidFill>
                  <a:srgbClr val="FF000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韻母結尾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時則寫作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-</a:t>
            </a:r>
            <a:r>
              <a:rPr lang="en-US" altLang="zh-TW" dirty="0">
                <a:solidFill>
                  <a:schemeClr val="accent5">
                    <a:lumMod val="7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m</a:t>
            </a:r>
            <a:r>
              <a:rPr lang="zh-TW" altLang="en-US" dirty="0">
                <a:solidFill>
                  <a:schemeClr val="accent5">
                    <a:lumMod val="7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、</a:t>
            </a:r>
            <a:r>
              <a:rPr lang="en-US" altLang="zh-TW" dirty="0">
                <a:solidFill>
                  <a:schemeClr val="accent5">
                    <a:lumMod val="7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-n</a:t>
            </a:r>
            <a:r>
              <a:rPr lang="zh-TW" altLang="en-US" dirty="0">
                <a:solidFill>
                  <a:schemeClr val="accent5">
                    <a:lumMod val="7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、</a:t>
            </a:r>
            <a:r>
              <a:rPr lang="en-US" altLang="zh-TW" dirty="0">
                <a:solidFill>
                  <a:schemeClr val="accent5">
                    <a:lumMod val="7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-ng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。</a:t>
            </a:r>
            <a:r>
              <a:rPr lang="zh-TW" altLang="en-US" dirty="0">
                <a:solidFill>
                  <a:srgbClr val="FF000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入聲韻韻尾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符號寫作</a:t>
            </a:r>
            <a:r>
              <a:rPr lang="en-US" altLang="zh-TW" dirty="0">
                <a:solidFill>
                  <a:schemeClr val="accent5">
                    <a:lumMod val="7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-p</a:t>
            </a:r>
            <a:r>
              <a:rPr lang="zh-TW" altLang="en-US" dirty="0">
                <a:solidFill>
                  <a:schemeClr val="accent5">
                    <a:lumMod val="7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、</a:t>
            </a:r>
            <a:r>
              <a:rPr lang="en-US" altLang="zh-TW" dirty="0">
                <a:solidFill>
                  <a:schemeClr val="accent5">
                    <a:lumMod val="7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-t</a:t>
            </a:r>
            <a:r>
              <a:rPr lang="zh-TW" altLang="en-US" dirty="0">
                <a:solidFill>
                  <a:schemeClr val="accent5">
                    <a:lumMod val="7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、</a:t>
            </a:r>
            <a:r>
              <a:rPr lang="en-US" altLang="zh-TW" dirty="0">
                <a:solidFill>
                  <a:schemeClr val="accent5">
                    <a:lumMod val="7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-k</a:t>
            </a:r>
            <a:r>
              <a:rPr lang="zh-TW" altLang="en-US" dirty="0">
                <a:solidFill>
                  <a:schemeClr val="accent5">
                    <a:lumMod val="7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、</a:t>
            </a:r>
            <a:r>
              <a:rPr lang="en-US" altLang="zh-TW" dirty="0">
                <a:solidFill>
                  <a:schemeClr val="accent5">
                    <a:lumMod val="7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-h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，做入聲韻尾時，只有成阻的動作，不發出音來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鼻韻母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(</a:t>
            </a:r>
            <a:r>
              <a:rPr lang="en-US" altLang="zh-TW" dirty="0" err="1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iong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、</a:t>
            </a:r>
            <a:r>
              <a:rPr lang="en-US" altLang="zh-TW" dirty="0" err="1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ong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)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，入聲韻母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(</a:t>
            </a:r>
            <a:r>
              <a:rPr lang="en-US" altLang="zh-TW" dirty="0" err="1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iok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、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ok)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為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(</a:t>
            </a:r>
            <a:r>
              <a:rPr lang="en-US" altLang="zh-TW" dirty="0" err="1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ioong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、</a:t>
            </a:r>
            <a:r>
              <a:rPr lang="en-US" altLang="zh-TW" dirty="0" err="1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oong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)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、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(</a:t>
            </a:r>
            <a:r>
              <a:rPr lang="en-US" altLang="zh-TW" dirty="0" err="1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iook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、</a:t>
            </a:r>
            <a:r>
              <a:rPr lang="en-US" altLang="zh-TW" dirty="0" err="1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ook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)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之簡化。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99DD4EC1-ECAC-553C-AB9D-19D28577F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839" y="2506851"/>
            <a:ext cx="6504762" cy="27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972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87CE9-AEF8-DE87-198A-FE0E75335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6710DFCF-0C6C-995C-3100-3320E6CD2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3" y="741391"/>
            <a:ext cx="6437283" cy="649110"/>
          </a:xfrm>
        </p:spPr>
        <p:txBody>
          <a:bodyPr/>
          <a:lstStyle/>
          <a:p>
            <a:r>
              <a:rPr lang="zh-TW" altLang="en-US" dirty="0"/>
              <a:t>台羅拼音：韻母（一）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CD7691D3-61FD-C383-42C8-00BAD4700E7F}"/>
              </a:ext>
            </a:extLst>
          </p:cNvPr>
          <p:cNvSpPr txBox="1"/>
          <p:nvPr/>
        </p:nvSpPr>
        <p:spPr>
          <a:xfrm>
            <a:off x="80963" y="1855513"/>
            <a:ext cx="60716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schemeClr val="accent1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【</a:t>
            </a:r>
            <a:r>
              <a:rPr lang="zh-TW" altLang="en-US" sz="2800" dirty="0">
                <a:solidFill>
                  <a:schemeClr val="accent1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元音及輔音</a:t>
            </a:r>
            <a:r>
              <a:rPr lang="en-US" altLang="zh-TW" sz="2800" dirty="0">
                <a:solidFill>
                  <a:schemeClr val="accent1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】</a:t>
            </a:r>
            <a:r>
              <a:rPr lang="zh-TW" altLang="en-US" sz="2800" dirty="0">
                <a:solidFill>
                  <a:schemeClr val="accent1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：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D09DCDC-2FDA-F7F5-F791-914A5BD89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83" y="2426063"/>
            <a:ext cx="6311418" cy="2038267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66D40CFB-7351-CE54-A9FF-B68D83367477}"/>
              </a:ext>
            </a:extLst>
          </p:cNvPr>
          <p:cNvSpPr txBox="1"/>
          <p:nvPr/>
        </p:nvSpPr>
        <p:spPr>
          <a:xfrm>
            <a:off x="80963" y="6096000"/>
            <a:ext cx="60716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schemeClr val="accent1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【</a:t>
            </a:r>
            <a:r>
              <a:rPr lang="zh-TW" altLang="en-US" sz="2800" dirty="0">
                <a:solidFill>
                  <a:schemeClr val="accent1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韻尾</a:t>
            </a:r>
            <a:r>
              <a:rPr lang="en-US" altLang="zh-TW" sz="2800" dirty="0">
                <a:solidFill>
                  <a:schemeClr val="accent1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】</a:t>
            </a:r>
            <a:r>
              <a:rPr lang="zh-TW" altLang="en-US" sz="2800" dirty="0">
                <a:solidFill>
                  <a:schemeClr val="accent1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：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B597068-B40F-1FDE-BC5B-BE6E1ACA5391}"/>
              </a:ext>
            </a:extLst>
          </p:cNvPr>
          <p:cNvSpPr txBox="1"/>
          <p:nvPr/>
        </p:nvSpPr>
        <p:spPr>
          <a:xfrm>
            <a:off x="393183" y="6692108"/>
            <a:ext cx="60716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閩南語的</a:t>
            </a:r>
            <a:r>
              <a:rPr lang="zh-TW" altLang="en-US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韻尾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有兩個元音、三個鼻音、四個塞音，有些音節沒有韻尾。可分為</a:t>
            </a:r>
            <a:r>
              <a:rPr lang="zh-TW" altLang="en-US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舒聲韻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（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-</a:t>
            </a:r>
            <a:r>
              <a:rPr lang="en-US" altLang="zh-TW" dirty="0" err="1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i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、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-u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、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-m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、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-n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、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-ng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）及</a:t>
            </a:r>
            <a:b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</a:br>
            <a:r>
              <a:rPr lang="zh-TW" altLang="en-US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入聲韻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（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-p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、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-t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、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-k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、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-h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）。</a:t>
            </a:r>
          </a:p>
        </p:txBody>
      </p:sp>
    </p:spTree>
    <p:extLst>
      <p:ext uri="{BB962C8B-B14F-4D97-AF65-F5344CB8AC3E}">
        <p14:creationId xmlns:p14="http://schemas.microsoft.com/office/powerpoint/2010/main" val="18386521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A8156-71F5-4A5E-F4F2-150D5A1F2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D323BB25-C520-96CA-2975-25C2403B4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3" y="741391"/>
            <a:ext cx="6437283" cy="649110"/>
          </a:xfrm>
        </p:spPr>
        <p:txBody>
          <a:bodyPr/>
          <a:lstStyle/>
          <a:p>
            <a:r>
              <a:rPr lang="zh-TW" altLang="en-US" dirty="0"/>
              <a:t>台羅拼音：韻母（二）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C0181785-D2BA-1223-5C91-310F72F15B7F}"/>
              </a:ext>
            </a:extLst>
          </p:cNvPr>
          <p:cNvSpPr txBox="1"/>
          <p:nvPr/>
        </p:nvSpPr>
        <p:spPr>
          <a:xfrm>
            <a:off x="148075" y="1855513"/>
            <a:ext cx="60716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schemeClr val="accent1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【</a:t>
            </a:r>
            <a:r>
              <a:rPr lang="zh-TW" altLang="en-US" sz="2800" dirty="0">
                <a:solidFill>
                  <a:schemeClr val="accent1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韻母列表上</a:t>
            </a:r>
            <a:r>
              <a:rPr lang="en-US" altLang="zh-TW" sz="2800" dirty="0">
                <a:solidFill>
                  <a:schemeClr val="accent1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】</a:t>
            </a:r>
            <a:r>
              <a:rPr lang="zh-TW" altLang="en-US" sz="2800" dirty="0">
                <a:solidFill>
                  <a:schemeClr val="accent1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：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11004B7-5392-855D-32BA-43F3019EA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697" y="3210420"/>
            <a:ext cx="6396606" cy="577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4889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BF10D-6407-2AC2-35ED-41D6C9123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2033BCD-B627-2F40-D936-1483CC717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3" y="741391"/>
            <a:ext cx="6437283" cy="649110"/>
          </a:xfrm>
        </p:spPr>
        <p:txBody>
          <a:bodyPr/>
          <a:lstStyle/>
          <a:p>
            <a:r>
              <a:rPr lang="zh-TW" altLang="en-US" dirty="0"/>
              <a:t>台羅拼音：韻母（三）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2ED68B5F-C006-8B36-9DC8-6DB83893052D}"/>
              </a:ext>
            </a:extLst>
          </p:cNvPr>
          <p:cNvSpPr txBox="1"/>
          <p:nvPr/>
        </p:nvSpPr>
        <p:spPr>
          <a:xfrm>
            <a:off x="190020" y="1830346"/>
            <a:ext cx="60716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schemeClr val="accent1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【</a:t>
            </a:r>
            <a:r>
              <a:rPr lang="zh-TW" altLang="en-US" sz="2800" dirty="0">
                <a:solidFill>
                  <a:schemeClr val="accent1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韻母列表下</a:t>
            </a:r>
            <a:r>
              <a:rPr lang="en-US" altLang="zh-TW" sz="2800" dirty="0">
                <a:solidFill>
                  <a:schemeClr val="accent1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】</a:t>
            </a:r>
            <a:r>
              <a:rPr lang="zh-TW" altLang="en-US" sz="2800" dirty="0">
                <a:solidFill>
                  <a:schemeClr val="accent1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：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516C1688-7C6E-C282-F23D-5519E1DFE0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020" y="3216275"/>
            <a:ext cx="6476832" cy="5226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4453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AC714-445E-2BEE-B202-3D554F1E8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0AE98196-310B-BD00-76BA-494020811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3" y="741391"/>
            <a:ext cx="6437283" cy="649110"/>
          </a:xfrm>
        </p:spPr>
        <p:txBody>
          <a:bodyPr/>
          <a:lstStyle/>
          <a:p>
            <a:r>
              <a:rPr lang="zh-TW" altLang="en-US" dirty="0"/>
              <a:t>台羅拼音：韻母（四）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FA609629-C33B-D88E-1495-17BC0557C6D0}"/>
              </a:ext>
            </a:extLst>
          </p:cNvPr>
          <p:cNvSpPr txBox="1"/>
          <p:nvPr/>
        </p:nvSpPr>
        <p:spPr>
          <a:xfrm>
            <a:off x="190020" y="1830346"/>
            <a:ext cx="60716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chemeClr val="accent1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【</a:t>
            </a:r>
            <a:r>
              <a:rPr lang="zh-TW" altLang="en-US" sz="2400" dirty="0">
                <a:solidFill>
                  <a:schemeClr val="accent1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韻母結構</a:t>
            </a:r>
            <a:r>
              <a:rPr lang="en-US" altLang="zh-TW" sz="2400" dirty="0">
                <a:solidFill>
                  <a:schemeClr val="accent1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】</a:t>
            </a:r>
            <a:r>
              <a:rPr lang="zh-TW" altLang="en-US" sz="2400" dirty="0">
                <a:solidFill>
                  <a:schemeClr val="accent1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：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E711575-E730-83A7-1080-1D7B254F1FF9}"/>
              </a:ext>
            </a:extLst>
          </p:cNvPr>
          <p:cNvSpPr txBox="1"/>
          <p:nvPr/>
        </p:nvSpPr>
        <p:spPr>
          <a:xfrm>
            <a:off x="393182" y="2292011"/>
            <a:ext cx="592190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漢字標音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= 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聲母 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+ 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韻母 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+ 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聲調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韻母 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= </a:t>
            </a:r>
            <a:r>
              <a:rPr lang="zh-TW" altLang="en-US" dirty="0">
                <a:solidFill>
                  <a:schemeClr val="bg1">
                    <a:lumMod val="6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韻頭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+ 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韻腹 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+ </a:t>
            </a:r>
            <a:r>
              <a:rPr lang="zh-TW" altLang="en-US" dirty="0">
                <a:solidFill>
                  <a:schemeClr val="bg1">
                    <a:lumMod val="6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韻尾</a:t>
            </a:r>
            <a:r>
              <a:rPr lang="zh-TW" altLang="en-US" dirty="0">
                <a:solidFill>
                  <a:srgbClr val="FF000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（</a:t>
            </a:r>
            <a:r>
              <a:rPr lang="en-US" altLang="zh-TW" dirty="0">
                <a:solidFill>
                  <a:srgbClr val="FF000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solidFill>
                  <a:srgbClr val="FF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韻腹</a:t>
            </a:r>
            <a:r>
              <a:rPr lang="en-US" altLang="zh-TW" dirty="0">
                <a:solidFill>
                  <a:srgbClr val="FF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】</a:t>
            </a:r>
            <a:r>
              <a:rPr lang="zh-TW" altLang="en-US" dirty="0">
                <a:solidFill>
                  <a:srgbClr val="FF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是必要元素，而</a:t>
            </a:r>
            <a:r>
              <a:rPr lang="en-US" altLang="zh-TW" dirty="0">
                <a:solidFill>
                  <a:srgbClr val="FF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【</a:t>
            </a:r>
            <a:r>
              <a:rPr lang="zh-TW" altLang="en-US" dirty="0">
                <a:solidFill>
                  <a:srgbClr val="FF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韻頭</a:t>
            </a:r>
            <a:r>
              <a:rPr lang="en-US" altLang="zh-TW" dirty="0">
                <a:solidFill>
                  <a:srgbClr val="FF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】</a:t>
            </a:r>
            <a:r>
              <a:rPr lang="zh-TW" altLang="en-US" dirty="0">
                <a:solidFill>
                  <a:srgbClr val="FF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和</a:t>
            </a:r>
            <a:r>
              <a:rPr lang="en-US" altLang="zh-TW" dirty="0">
                <a:solidFill>
                  <a:srgbClr val="FF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【</a:t>
            </a:r>
            <a:r>
              <a:rPr lang="zh-TW" altLang="en-US" dirty="0">
                <a:solidFill>
                  <a:srgbClr val="FF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韻尾</a:t>
            </a:r>
            <a:r>
              <a:rPr lang="en-US" altLang="zh-TW" dirty="0">
                <a:solidFill>
                  <a:srgbClr val="FF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】</a:t>
            </a:r>
            <a:r>
              <a:rPr lang="zh-TW" altLang="en-US" dirty="0">
                <a:solidFill>
                  <a:srgbClr val="FF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則可有可無。 </a:t>
            </a:r>
            <a:r>
              <a:rPr lang="zh-TW" altLang="en-US" dirty="0">
                <a:solidFill>
                  <a:srgbClr val="FF000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）</a:t>
            </a:r>
            <a:endParaRPr lang="en-US" altLang="zh-TW" dirty="0">
              <a:solidFill>
                <a:srgbClr val="FF0000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韻頭：亦稱為</a:t>
            </a:r>
            <a:r>
              <a:rPr lang="zh-TW" altLang="en-US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介音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，位於</a:t>
            </a:r>
            <a:r>
              <a:rPr lang="zh-TW" altLang="en-US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韻腹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之前，是韻母中較不明顯的部分，通常由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-</a:t>
            </a:r>
            <a:r>
              <a:rPr lang="en-US" altLang="zh-TW" dirty="0" err="1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i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-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、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-u-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等</a:t>
            </a:r>
            <a:r>
              <a:rPr lang="zh-TW" altLang="en-US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高元音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充當；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韻腹：為</a:t>
            </a:r>
            <a:r>
              <a:rPr lang="zh-TW" altLang="en-US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韻母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中心，發音最是響亮的部分，可由多個</a:t>
            </a:r>
            <a:r>
              <a:rPr lang="zh-TW" altLang="en-US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元音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組成，最響亮的那個元音是即為</a:t>
            </a:r>
            <a:r>
              <a:rPr lang="zh-TW" altLang="en-US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韻腹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；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韻尾：位於</a:t>
            </a:r>
            <a:r>
              <a:rPr lang="zh-TW" altLang="en-US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韻腹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之後，是</a:t>
            </a:r>
            <a:r>
              <a:rPr lang="zh-TW" altLang="en-US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韻母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的收尾部分，可以由</a:t>
            </a:r>
            <a:r>
              <a:rPr lang="zh-TW" altLang="en-US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元音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（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-</a:t>
            </a:r>
            <a:r>
              <a:rPr lang="en-US" altLang="zh-TW" dirty="0" err="1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i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、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-u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）、</a:t>
            </a:r>
            <a:r>
              <a:rPr lang="zh-TW" altLang="en-US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輔音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（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-m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、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-n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、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-ng 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）、</a:t>
            </a:r>
            <a:r>
              <a:rPr lang="zh-TW" altLang="en-US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入聲韻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（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-p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、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-t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、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-k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、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-h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）充當。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D97BFAF-06CC-E53E-6507-6D1530796AE8}"/>
              </a:ext>
            </a:extLst>
          </p:cNvPr>
          <p:cNvSpPr txBox="1"/>
          <p:nvPr/>
        </p:nvSpPr>
        <p:spPr>
          <a:xfrm>
            <a:off x="190020" y="5634335"/>
            <a:ext cx="60716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chemeClr val="accent1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【</a:t>
            </a:r>
            <a:r>
              <a:rPr lang="zh-TW" altLang="en-US" sz="2400" dirty="0">
                <a:solidFill>
                  <a:schemeClr val="accent1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舉例說明</a:t>
            </a:r>
            <a:r>
              <a:rPr lang="en-US" altLang="zh-TW" sz="2400" dirty="0">
                <a:solidFill>
                  <a:schemeClr val="accent1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】</a:t>
            </a:r>
            <a:r>
              <a:rPr lang="zh-TW" altLang="en-US" sz="2400" dirty="0">
                <a:solidFill>
                  <a:schemeClr val="accent1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：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1C9FF57-FBB6-291B-1C26-278CD68CD16B}"/>
              </a:ext>
            </a:extLst>
          </p:cNvPr>
          <p:cNvSpPr txBox="1"/>
          <p:nvPr/>
        </p:nvSpPr>
        <p:spPr>
          <a:xfrm>
            <a:off x="393183" y="6096000"/>
            <a:ext cx="607163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涼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en-US" altLang="zh-TW" dirty="0" err="1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liâng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/ liang5: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韻母：</a:t>
            </a:r>
            <a:r>
              <a:rPr lang="en-US" altLang="zh-TW" dirty="0" err="1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iang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韻頭：</a:t>
            </a:r>
            <a:r>
              <a:rPr lang="en-US" altLang="zh-TW" dirty="0" err="1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i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韻腹：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韻尾：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ng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范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en-US" altLang="zh-TW" dirty="0" err="1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huān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/ huan7: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韻母：</a:t>
            </a:r>
            <a:r>
              <a:rPr lang="en-US" altLang="zh-TW" dirty="0" err="1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uan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韻頭：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u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韻腹：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韻尾：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n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豆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en-US" altLang="zh-TW" dirty="0" err="1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tāu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/ tau7 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韻母：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au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韻頭：</a:t>
            </a:r>
            <a:r>
              <a:rPr lang="zh-TW" altLang="en-US" dirty="0"/>
              <a:t>❌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韻腹：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韻尾：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u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飽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en-US" altLang="zh-TW" dirty="0" err="1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pá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/ pa2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：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韻母：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韻頭：</a:t>
            </a:r>
            <a:r>
              <a:rPr lang="zh-TW" altLang="en-US" dirty="0"/>
              <a:t>❌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韻腹：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韻尾： </a:t>
            </a:r>
            <a:r>
              <a:rPr lang="zh-TW" altLang="en-US" dirty="0"/>
              <a:t>❌</a:t>
            </a:r>
            <a:endParaRPr lang="zh-TW" altLang="en-US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535635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58E76-8D5E-6B5A-F8D6-214963EC9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2907A350-B701-8BCA-A227-CB0488CE0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3" y="741391"/>
            <a:ext cx="6437283" cy="649110"/>
          </a:xfrm>
        </p:spPr>
        <p:txBody>
          <a:bodyPr/>
          <a:lstStyle/>
          <a:p>
            <a:r>
              <a:rPr lang="zh-TW" altLang="en-US" dirty="0"/>
              <a:t>聲調（一）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ADD7C54-F1C9-5A57-2902-71690EEF7428}"/>
              </a:ext>
            </a:extLst>
          </p:cNvPr>
          <p:cNvSpPr txBox="1"/>
          <p:nvPr/>
        </p:nvSpPr>
        <p:spPr>
          <a:xfrm>
            <a:off x="0" y="1722723"/>
            <a:ext cx="60716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schemeClr val="accent1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【</a:t>
            </a:r>
            <a:r>
              <a:rPr lang="zh-TW" altLang="en-US" sz="2800" dirty="0">
                <a:solidFill>
                  <a:schemeClr val="accent1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聲調標註</a:t>
            </a:r>
            <a:r>
              <a:rPr lang="en-US" altLang="zh-TW" sz="2800" dirty="0">
                <a:solidFill>
                  <a:schemeClr val="accent1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】</a:t>
            </a:r>
            <a:r>
              <a:rPr lang="zh-TW" altLang="en-US" sz="2800" dirty="0">
                <a:solidFill>
                  <a:schemeClr val="accent1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：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6E56190-6696-BCF2-1598-17202FBEDA88}"/>
              </a:ext>
            </a:extLst>
          </p:cNvPr>
          <p:cNvSpPr txBox="1"/>
          <p:nvPr/>
        </p:nvSpPr>
        <p:spPr>
          <a:xfrm>
            <a:off x="395287" y="2245943"/>
            <a:ext cx="607163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閩南語的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四聲八調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，實際僅有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【7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個聲調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閩南語的八聲調，其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調名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分別為：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陰平、陰上、陰去、陰入；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陽平、陽上、陽去、陽入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在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漳州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/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廈門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/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台灣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之地方腔，己無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陽上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調，故有些人將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陰上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、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陽上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，統稱為：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上聲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調；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台羅拼音標示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聲調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，標準用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調符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（聲調符號）（與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白話字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同）；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顧及電腦輸入之便利性，亦可使用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調號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（數值）代替；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陰平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之調號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【1】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，與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陰入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之調號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【7】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，允許省略不標示。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FAAD48C-C9D9-2676-AF05-1E13DDCE5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72" y="5908484"/>
            <a:ext cx="6527656" cy="1981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221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84CCD-9727-E372-4B91-642BACC66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59009C66-B08D-25B4-391A-73C51F984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3" y="741391"/>
            <a:ext cx="6437283" cy="649110"/>
          </a:xfrm>
        </p:spPr>
        <p:txBody>
          <a:bodyPr/>
          <a:lstStyle/>
          <a:p>
            <a:r>
              <a:rPr lang="zh-TW" altLang="en-US" dirty="0"/>
              <a:t>聲調（二）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586E8D9-78A2-98D7-44DA-3D941E04D062}"/>
              </a:ext>
            </a:extLst>
          </p:cNvPr>
          <p:cNvSpPr txBox="1"/>
          <p:nvPr/>
        </p:nvSpPr>
        <p:spPr>
          <a:xfrm>
            <a:off x="10812" y="1761028"/>
            <a:ext cx="60716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schemeClr val="accent1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【</a:t>
            </a:r>
            <a:r>
              <a:rPr lang="zh-TW" altLang="en-US" sz="2800" dirty="0">
                <a:solidFill>
                  <a:schemeClr val="accent1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調號標示規則</a:t>
            </a:r>
            <a:r>
              <a:rPr lang="en-US" altLang="zh-TW" sz="2800" dirty="0">
                <a:solidFill>
                  <a:schemeClr val="accent1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】</a:t>
            </a:r>
            <a:r>
              <a:rPr lang="zh-TW" altLang="en-US" sz="2800" dirty="0">
                <a:solidFill>
                  <a:schemeClr val="accent1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：</a:t>
            </a:r>
          </a:p>
        </p:txBody>
      </p:sp>
      <p:pic>
        <p:nvPicPr>
          <p:cNvPr id="4" name="圖片 3" descr="一張含有 文字, 行, 螢幕擷取畫面, 圖表 的圖片&#10;&#10;AI 產生的內容可能不正確。">
            <a:extLst>
              <a:ext uri="{FF2B5EF4-FFF2-40B4-BE49-F238E27FC236}">
                <a16:creationId xmlns:a16="http://schemas.microsoft.com/office/drawing/2014/main" id="{33AC3A3E-41F9-FE1B-D9E3-9760801CAE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21539"/>
            <a:ext cx="6858000" cy="3857625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3B9BDF7F-445B-09E0-C2FD-B6C24EB846BA}"/>
              </a:ext>
            </a:extLst>
          </p:cNvPr>
          <p:cNvSpPr txBox="1"/>
          <p:nvPr/>
        </p:nvSpPr>
        <p:spPr>
          <a:xfrm>
            <a:off x="260350" y="2556070"/>
            <a:ext cx="625789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當一個音節有多個字母時，調號得標示在響度最大的字母上面（通常在韻腹）。由規則可以判定確切的字母：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zh-TW" altLang="en-US" sz="2400" dirty="0"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響度優先順序： 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a &gt; </a:t>
            </a:r>
            <a:r>
              <a:rPr lang="en-US" altLang="zh-TW" sz="2400" dirty="0" err="1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oo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&gt; (e = o) &gt; (</a:t>
            </a:r>
            <a:r>
              <a:rPr lang="en-US" altLang="zh-TW" sz="2400" dirty="0" err="1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i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= u)〈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低元音 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&gt; 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高元音 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&gt; 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無擦通音 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&gt; 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擦音 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&gt; 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塞音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〉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二合字母 </a:t>
            </a:r>
            <a:r>
              <a:rPr lang="en-US" altLang="zh-TW" sz="2400" dirty="0" err="1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iu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及 </a:t>
            </a:r>
            <a:r>
              <a:rPr lang="en-US" altLang="zh-TW" sz="2400" dirty="0" err="1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ui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，調號都標在後一個字母上；因為前一個字母是介音。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m 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作韻腹時則標於字母 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m 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上。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二合字母 </a:t>
            </a:r>
            <a:r>
              <a:rPr lang="en-US" altLang="zh-TW" sz="2400" dirty="0" err="1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oo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及 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ng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，標於前一個字母上；比如 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ng 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標示在字母 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n 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上。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三合字母 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ere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，標於最後的字母 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e 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上。</a:t>
            </a:r>
          </a:p>
        </p:txBody>
      </p:sp>
    </p:spTree>
    <p:extLst>
      <p:ext uri="{BB962C8B-B14F-4D97-AF65-F5344CB8AC3E}">
        <p14:creationId xmlns:p14="http://schemas.microsoft.com/office/powerpoint/2010/main" val="39009817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84CCD-9727-E372-4B91-642BACC66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59009C66-B08D-25B4-391A-73C51F984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3" y="741391"/>
            <a:ext cx="6437283" cy="649110"/>
          </a:xfrm>
        </p:spPr>
        <p:txBody>
          <a:bodyPr/>
          <a:lstStyle/>
          <a:p>
            <a:r>
              <a:rPr lang="zh-TW" altLang="en-US" dirty="0"/>
              <a:t>變調（一）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586E8D9-78A2-98D7-44DA-3D941E04D062}"/>
              </a:ext>
            </a:extLst>
          </p:cNvPr>
          <p:cNvSpPr txBox="1"/>
          <p:nvPr/>
        </p:nvSpPr>
        <p:spPr>
          <a:xfrm>
            <a:off x="10812" y="1761028"/>
            <a:ext cx="60716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schemeClr val="accent1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【</a:t>
            </a:r>
            <a:r>
              <a:rPr lang="zh-TW" altLang="en-US" sz="2800" dirty="0">
                <a:solidFill>
                  <a:schemeClr val="accent1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變調規則</a:t>
            </a:r>
            <a:r>
              <a:rPr lang="en-US" altLang="zh-TW" sz="2800" dirty="0">
                <a:solidFill>
                  <a:schemeClr val="accent1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】</a:t>
            </a:r>
            <a:r>
              <a:rPr lang="zh-TW" altLang="en-US" sz="2800" dirty="0">
                <a:solidFill>
                  <a:schemeClr val="accent1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：</a:t>
            </a:r>
          </a:p>
        </p:txBody>
      </p:sp>
      <p:pic>
        <p:nvPicPr>
          <p:cNvPr id="4" name="圖片 3" descr="一張含有 文字, 行, 螢幕擷取畫面, 圖表 的圖片&#10;&#10;AI 產生的內容可能不正確。">
            <a:extLst>
              <a:ext uri="{FF2B5EF4-FFF2-40B4-BE49-F238E27FC236}">
                <a16:creationId xmlns:a16="http://schemas.microsoft.com/office/drawing/2014/main" id="{33AC3A3E-41F9-FE1B-D9E3-9760801CAE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73347"/>
            <a:ext cx="6858000" cy="3857625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D67C30CF-1BCF-B2D9-B42C-B709CBBB4D16}"/>
              </a:ext>
            </a:extLst>
          </p:cNvPr>
          <p:cNvSpPr txBox="1"/>
          <p:nvPr/>
        </p:nvSpPr>
        <p:spPr>
          <a:xfrm>
            <a:off x="260350" y="2284248"/>
            <a:ext cx="625789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兩個字（或字詞）連讀時，前面的字詞要變調，後面的字詞不變調，而此變調的規律是固定的。如果兩個以上的字詞連讀時，則只有最後的字詞不變調。一般連讀變調遵循規律性，但也有一些特殊現象。</a:t>
            </a:r>
            <a:endParaRPr lang="zh-TW" altLang="en-US" sz="2400" dirty="0"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01925F31-379A-DFE1-5C8C-4789AA530E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350" y="4746460"/>
            <a:ext cx="6337300" cy="1207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7834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A65F5-7439-5664-4634-7EEBF2E72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556B3CC9-9213-5E76-654D-86D436D04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3" y="741391"/>
            <a:ext cx="6437283" cy="649110"/>
          </a:xfrm>
        </p:spPr>
        <p:txBody>
          <a:bodyPr/>
          <a:lstStyle/>
          <a:p>
            <a:r>
              <a:rPr lang="zh-TW" altLang="en-US" dirty="0"/>
              <a:t>變調（二）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4C2FB3F-C245-790C-05A0-A05FFA824388}"/>
              </a:ext>
            </a:extLst>
          </p:cNvPr>
          <p:cNvSpPr txBox="1"/>
          <p:nvPr/>
        </p:nvSpPr>
        <p:spPr>
          <a:xfrm>
            <a:off x="10812" y="1599664"/>
            <a:ext cx="60716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schemeClr val="accent1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【</a:t>
            </a:r>
            <a:r>
              <a:rPr lang="zh-TW" altLang="en-US" sz="2800" dirty="0">
                <a:solidFill>
                  <a:schemeClr val="accent1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變調規則</a:t>
            </a:r>
            <a:r>
              <a:rPr lang="en-US" altLang="zh-TW" sz="2800" dirty="0">
                <a:solidFill>
                  <a:schemeClr val="accent1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】</a:t>
            </a:r>
            <a:r>
              <a:rPr lang="zh-TW" altLang="en-US" sz="2800" dirty="0">
                <a:solidFill>
                  <a:schemeClr val="accent1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：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B4D14D6-6793-F7EA-1302-0E4A63BED3C7}"/>
              </a:ext>
            </a:extLst>
          </p:cNvPr>
          <p:cNvSpPr txBox="1"/>
          <p:nvPr/>
        </p:nvSpPr>
        <p:spPr>
          <a:xfrm>
            <a:off x="260350" y="3532713"/>
            <a:ext cx="6257896" cy="8617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900"/>
              </a:spcAft>
            </a:pP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歸納可見，變調的規律為：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屬漳州本調第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5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聲調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(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陽平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)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，變後第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7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聲調。屬泉州本調第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5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聲調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(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陽平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)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，變後第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3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聲調。本調第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7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聲調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(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陽去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)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，變後第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3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聲調。本調第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3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聲調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(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陰去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)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，變後第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2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聲調。本調第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2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聲調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(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陰上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)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，變後第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1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聲調。本調第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1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聲調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(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陰平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)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，變後第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7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聲調。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屬漳州第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6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聲調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(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陽上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)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變成陽去、或是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(6=2)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，但第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7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聲調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(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陽上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)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則保留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(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變調後為第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3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聲調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)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。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再則屬泉州第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7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聲調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(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陽去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)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原調與第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3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聲調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(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陰去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)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同、即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(7=3)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，而第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6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聲調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(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陽上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)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則保留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(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變調後為第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3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聲調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)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。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本調第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4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聲調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(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陰入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)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，入聲尾帶「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-p/-t/-k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」的，變後第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8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聲調。本調第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4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聲調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(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陰入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)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，喉塞音韻尾帶「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-h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」的，變後除阻，成第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2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聲調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(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陰上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)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。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本調第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8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聲調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(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陽入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)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，入聲尾帶「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-p/-t/-k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」的，變後第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4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聲調。本調第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8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聲調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(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陽入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)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，喉塞音韻尾帶「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-h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」的，變後除阻，成第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3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聲調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(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陰去</a:t>
            </a:r>
            <a:r>
              <a:rPr lang="en-US" altLang="zh-TW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)</a:t>
            </a:r>
            <a:r>
              <a:rPr lang="zh-TW" altLang="en-US" sz="2400" dirty="0"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。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A187B1D-3D34-B02E-9C28-BCFC788A29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350" y="2122884"/>
            <a:ext cx="6337300" cy="1207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904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84CCD-9727-E372-4B91-642BACC66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59009C66-B08D-25B4-391A-73C51F984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3" y="741391"/>
            <a:ext cx="6437283" cy="649110"/>
          </a:xfrm>
        </p:spPr>
        <p:txBody>
          <a:bodyPr/>
          <a:lstStyle/>
          <a:p>
            <a:r>
              <a:rPr lang="zh-TW" altLang="en-US" dirty="0"/>
              <a:t>變調（二）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586E8D9-78A2-98D7-44DA-3D941E04D062}"/>
              </a:ext>
            </a:extLst>
          </p:cNvPr>
          <p:cNvSpPr txBox="1"/>
          <p:nvPr/>
        </p:nvSpPr>
        <p:spPr>
          <a:xfrm>
            <a:off x="10812" y="1761028"/>
            <a:ext cx="60716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schemeClr val="accent1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【</a:t>
            </a:r>
            <a:r>
              <a:rPr lang="zh-TW" altLang="en-US" sz="2800" dirty="0">
                <a:solidFill>
                  <a:schemeClr val="accent1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變調標註</a:t>
            </a:r>
            <a:r>
              <a:rPr lang="en-US" altLang="zh-TW" sz="2800" dirty="0">
                <a:solidFill>
                  <a:schemeClr val="accent1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】</a:t>
            </a:r>
            <a:r>
              <a:rPr lang="zh-TW" altLang="en-US" sz="2800" dirty="0">
                <a:solidFill>
                  <a:schemeClr val="accent1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：</a:t>
            </a:r>
          </a:p>
        </p:txBody>
      </p: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0B226EBA-5A0C-B020-3C48-274A04D40D96}"/>
              </a:ext>
            </a:extLst>
          </p:cNvPr>
          <p:cNvGrpSpPr/>
          <p:nvPr/>
        </p:nvGrpSpPr>
        <p:grpSpPr>
          <a:xfrm>
            <a:off x="330846" y="5054976"/>
            <a:ext cx="6071634" cy="2725805"/>
            <a:chOff x="356907" y="5899747"/>
            <a:chExt cx="6071634" cy="2725805"/>
          </a:xfrm>
        </p:grpSpPr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175DDB74-C32F-7EB9-98EA-9BBF6CA733E7}"/>
                </a:ext>
              </a:extLst>
            </p:cNvPr>
            <p:cNvSpPr txBox="1"/>
            <p:nvPr/>
          </p:nvSpPr>
          <p:spPr>
            <a:xfrm>
              <a:off x="356907" y="5899747"/>
              <a:ext cx="607163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000">
                  <a:solidFill>
                    <a:schemeClr val="accent5"/>
                  </a:solidFill>
                  <a:latin typeface="Noto Serif TC Black" panose="02020200000000000000" pitchFamily="18" charset="-128"/>
                  <a:ea typeface="Noto Serif TC Black" panose="02020200000000000000" pitchFamily="18" charset="-128"/>
                </a:defRPr>
              </a:lvl1pPr>
            </a:lstStyle>
            <a:p>
              <a:r>
                <a:rPr lang="en-US" altLang="zh-TW" dirty="0"/>
                <a:t>【</a:t>
              </a:r>
              <a:r>
                <a:rPr lang="zh-TW" altLang="en-US" dirty="0"/>
                <a:t>乙式</a:t>
              </a:r>
              <a:r>
                <a:rPr lang="en-US" altLang="zh-TW" dirty="0"/>
                <a:t>】</a:t>
              </a:r>
              <a:r>
                <a:rPr lang="zh-TW" altLang="en-US" dirty="0"/>
                <a:t>：</a:t>
              </a:r>
            </a:p>
          </p:txBody>
        </p:sp>
        <p:sp>
          <p:nvSpPr>
            <p:cNvPr id="13" name="圖說文字: 折線 12">
              <a:extLst>
                <a:ext uri="{FF2B5EF4-FFF2-40B4-BE49-F238E27FC236}">
                  <a16:creationId xmlns:a16="http://schemas.microsoft.com/office/drawing/2014/main" id="{B8C830CA-B1E1-2DBC-38E4-440899874DF2}"/>
                </a:ext>
              </a:extLst>
            </p:cNvPr>
            <p:cNvSpPr/>
            <p:nvPr/>
          </p:nvSpPr>
          <p:spPr>
            <a:xfrm>
              <a:off x="2066299" y="6352650"/>
              <a:ext cx="871870" cy="500767"/>
            </a:xfrm>
            <a:prstGeom prst="borderCallout2">
              <a:avLst>
                <a:gd name="adj1" fmla="val 51613"/>
                <a:gd name="adj2" fmla="val 102671"/>
                <a:gd name="adj3" fmla="val 97853"/>
                <a:gd name="adj4" fmla="val 162515"/>
                <a:gd name="adj5" fmla="val 212410"/>
                <a:gd name="adj6" fmla="val 162444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>
                  <a:latin typeface="Noto Sans TC Black" panose="020B0200000000000000" pitchFamily="34" charset="-128"/>
                  <a:ea typeface="Noto Sans TC Black" panose="020B0200000000000000" pitchFamily="34" charset="-128"/>
                </a:rPr>
                <a:t>本調</a:t>
              </a:r>
            </a:p>
          </p:txBody>
        </p:sp>
        <p:sp>
          <p:nvSpPr>
            <p:cNvPr id="14" name="圖說文字: 折線 13">
              <a:extLst>
                <a:ext uri="{FF2B5EF4-FFF2-40B4-BE49-F238E27FC236}">
                  <a16:creationId xmlns:a16="http://schemas.microsoft.com/office/drawing/2014/main" id="{93297450-1530-A307-A227-A8BB50D52F54}"/>
                </a:ext>
              </a:extLst>
            </p:cNvPr>
            <p:cNvSpPr/>
            <p:nvPr/>
          </p:nvSpPr>
          <p:spPr>
            <a:xfrm>
              <a:off x="5087047" y="6352649"/>
              <a:ext cx="871870" cy="500767"/>
            </a:xfrm>
            <a:prstGeom prst="borderCallout2">
              <a:avLst>
                <a:gd name="adj1" fmla="val 56527"/>
                <a:gd name="adj2" fmla="val -3426"/>
                <a:gd name="adj3" fmla="val 115871"/>
                <a:gd name="adj4" fmla="val -33826"/>
                <a:gd name="adj5" fmla="val 211986"/>
                <a:gd name="adj6" fmla="val -32678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>
                  <a:latin typeface="Noto Sans TC Black" panose="020B0200000000000000" pitchFamily="34" charset="-128"/>
                  <a:ea typeface="Noto Sans TC Black" panose="020B0200000000000000" pitchFamily="34" charset="-128"/>
                </a:rPr>
                <a:t>變調</a:t>
              </a:r>
            </a:p>
          </p:txBody>
        </p: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7C685C80-786D-0DFE-D6EF-B1E14B3F9CF7}"/>
                </a:ext>
              </a:extLst>
            </p:cNvPr>
            <p:cNvSpPr txBox="1"/>
            <p:nvPr/>
          </p:nvSpPr>
          <p:spPr>
            <a:xfrm>
              <a:off x="1059587" y="7055892"/>
              <a:ext cx="5210456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9600" dirty="0">
                  <a:solidFill>
                    <a:schemeClr val="accent3"/>
                  </a:solidFill>
                </a:rPr>
                <a:t>hue</a:t>
              </a:r>
              <a:r>
                <a:rPr lang="en-US" altLang="zh-TW" sz="9600" dirty="0">
                  <a:solidFill>
                    <a:srgbClr val="FF0000"/>
                  </a:solidFill>
                </a:rPr>
                <a:t>3</a:t>
              </a:r>
              <a:r>
                <a:rPr lang="en-US" altLang="zh-TW" sz="9600" dirty="0">
                  <a:solidFill>
                    <a:schemeClr val="accent3"/>
                  </a:solidFill>
                </a:rPr>
                <a:t>~</a:t>
              </a:r>
              <a:r>
                <a:rPr lang="en-US" altLang="zh-TW" sz="9600" dirty="0">
                  <a:solidFill>
                    <a:srgbClr val="FF0000"/>
                  </a:solidFill>
                </a:rPr>
                <a:t>2</a:t>
              </a:r>
              <a:endParaRPr lang="zh-TW" altLang="en-US" sz="96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17E62106-AEBB-F607-6BB9-7D424E8C20E3}"/>
              </a:ext>
            </a:extLst>
          </p:cNvPr>
          <p:cNvGrpSpPr/>
          <p:nvPr/>
        </p:nvGrpSpPr>
        <p:grpSpPr>
          <a:xfrm>
            <a:off x="263787" y="2388413"/>
            <a:ext cx="6071634" cy="2815809"/>
            <a:chOff x="282299" y="2553238"/>
            <a:chExt cx="6071634" cy="2815809"/>
          </a:xfrm>
        </p:grpSpPr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53D49DA6-D519-7B7F-898D-F2170F150E77}"/>
                </a:ext>
              </a:extLst>
            </p:cNvPr>
            <p:cNvSpPr txBox="1"/>
            <p:nvPr/>
          </p:nvSpPr>
          <p:spPr>
            <a:xfrm>
              <a:off x="282299" y="2553238"/>
              <a:ext cx="607163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dirty="0">
                  <a:solidFill>
                    <a:schemeClr val="accent5"/>
                  </a:solidFill>
                  <a:latin typeface="Noto Serif TC Black" panose="02020200000000000000" pitchFamily="18" charset="-128"/>
                  <a:ea typeface="Noto Serif TC Black" panose="02020200000000000000" pitchFamily="18" charset="-128"/>
                </a:rPr>
                <a:t>【</a:t>
              </a:r>
              <a:r>
                <a:rPr lang="zh-TW" altLang="en-US" sz="2000" dirty="0">
                  <a:solidFill>
                    <a:schemeClr val="accent5"/>
                  </a:solidFill>
                  <a:latin typeface="Noto Serif TC Black" panose="02020200000000000000" pitchFamily="18" charset="-128"/>
                  <a:ea typeface="Noto Serif TC Black" panose="02020200000000000000" pitchFamily="18" charset="-128"/>
                </a:rPr>
                <a:t>甲式</a:t>
              </a:r>
              <a:r>
                <a:rPr lang="en-US" altLang="zh-TW" sz="2000" dirty="0">
                  <a:solidFill>
                    <a:schemeClr val="accent5"/>
                  </a:solidFill>
                  <a:latin typeface="Noto Serif TC Black" panose="02020200000000000000" pitchFamily="18" charset="-128"/>
                  <a:ea typeface="Noto Serif TC Black" panose="02020200000000000000" pitchFamily="18" charset="-128"/>
                </a:rPr>
                <a:t>】</a:t>
              </a:r>
              <a:r>
                <a:rPr lang="zh-TW" altLang="en-US" sz="2000" dirty="0">
                  <a:solidFill>
                    <a:schemeClr val="accent5"/>
                  </a:solidFill>
                  <a:latin typeface="Noto Serif TC Black" panose="02020200000000000000" pitchFamily="18" charset="-128"/>
                  <a:ea typeface="Noto Serif TC Black" panose="02020200000000000000" pitchFamily="18" charset="-128"/>
                </a:rPr>
                <a:t>：</a:t>
              </a:r>
            </a:p>
          </p:txBody>
        </p:sp>
        <p:sp>
          <p:nvSpPr>
            <p:cNvPr id="9" name="圖說文字: 折線 8">
              <a:extLst>
                <a:ext uri="{FF2B5EF4-FFF2-40B4-BE49-F238E27FC236}">
                  <a16:creationId xmlns:a16="http://schemas.microsoft.com/office/drawing/2014/main" id="{4A0007FB-1563-CFA9-698D-C9A1EFB212FF}"/>
                </a:ext>
              </a:extLst>
            </p:cNvPr>
            <p:cNvSpPr/>
            <p:nvPr/>
          </p:nvSpPr>
          <p:spPr>
            <a:xfrm>
              <a:off x="2150189" y="2979744"/>
              <a:ext cx="871870" cy="500767"/>
            </a:xfrm>
            <a:prstGeom prst="borderCallout2">
              <a:avLst>
                <a:gd name="adj1" fmla="val 51613"/>
                <a:gd name="adj2" fmla="val 102671"/>
                <a:gd name="adj3" fmla="val 97853"/>
                <a:gd name="adj4" fmla="val 162515"/>
                <a:gd name="adj5" fmla="val 212410"/>
                <a:gd name="adj6" fmla="val 162444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>
                  <a:latin typeface="Noto Sans TC Black" panose="020B0200000000000000" pitchFamily="34" charset="-128"/>
                  <a:ea typeface="Noto Sans TC Black" panose="020B0200000000000000" pitchFamily="34" charset="-128"/>
                </a:rPr>
                <a:t>本調</a:t>
              </a:r>
            </a:p>
          </p:txBody>
        </p:sp>
        <p:sp>
          <p:nvSpPr>
            <p:cNvPr id="10" name="圖說文字: 折線 9">
              <a:extLst>
                <a:ext uri="{FF2B5EF4-FFF2-40B4-BE49-F238E27FC236}">
                  <a16:creationId xmlns:a16="http://schemas.microsoft.com/office/drawing/2014/main" id="{C642FCE3-441A-E006-C76D-4BE5F372D799}"/>
                </a:ext>
              </a:extLst>
            </p:cNvPr>
            <p:cNvSpPr/>
            <p:nvPr/>
          </p:nvSpPr>
          <p:spPr>
            <a:xfrm>
              <a:off x="4579121" y="2991910"/>
              <a:ext cx="871870" cy="500767"/>
            </a:xfrm>
            <a:prstGeom prst="borderCallout2">
              <a:avLst>
                <a:gd name="adj1" fmla="val 56527"/>
                <a:gd name="adj2" fmla="val -3426"/>
                <a:gd name="adj3" fmla="val 115871"/>
                <a:gd name="adj4" fmla="val -33826"/>
                <a:gd name="adj5" fmla="val 211986"/>
                <a:gd name="adj6" fmla="val -32678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>
                  <a:latin typeface="Noto Sans TC Black" panose="020B0200000000000000" pitchFamily="34" charset="-128"/>
                  <a:ea typeface="Noto Sans TC Black" panose="020B0200000000000000" pitchFamily="34" charset="-128"/>
                </a:rPr>
                <a:t>變調</a:t>
              </a:r>
            </a:p>
          </p:txBody>
        </p: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D3F95E1F-5FCA-91DF-EF26-E647A6DDF443}"/>
                </a:ext>
              </a:extLst>
            </p:cNvPr>
            <p:cNvSpPr txBox="1"/>
            <p:nvPr/>
          </p:nvSpPr>
          <p:spPr>
            <a:xfrm>
              <a:off x="1283885" y="3799387"/>
              <a:ext cx="3525488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9600" dirty="0">
                  <a:solidFill>
                    <a:schemeClr val="accent3"/>
                  </a:solidFill>
                </a:rPr>
                <a:t>hue</a:t>
              </a:r>
              <a:r>
                <a:rPr lang="en-US" altLang="zh-TW" sz="9600" baseline="30000" dirty="0">
                  <a:solidFill>
                    <a:srgbClr val="FF0000"/>
                  </a:solidFill>
                </a:rPr>
                <a:t>3</a:t>
              </a:r>
              <a:r>
                <a:rPr lang="en-US" altLang="zh-TW" sz="9600" baseline="30000" dirty="0">
                  <a:solidFill>
                    <a:schemeClr val="accent3"/>
                  </a:solidFill>
                </a:rPr>
                <a:t>-</a:t>
              </a:r>
              <a:r>
                <a:rPr lang="en-US" altLang="zh-TW" sz="9600" baseline="30000" dirty="0">
                  <a:solidFill>
                    <a:srgbClr val="FF0000"/>
                  </a:solidFill>
                </a:rPr>
                <a:t>2</a:t>
              </a:r>
              <a:endParaRPr lang="zh-TW" altLang="en-US" sz="9600" baseline="30000" dirty="0">
                <a:solidFill>
                  <a:srgbClr val="FF0000"/>
                </a:solidFill>
              </a:endParaRPr>
            </a:p>
          </p:txBody>
        </p:sp>
      </p:grpSp>
      <p:pic>
        <p:nvPicPr>
          <p:cNvPr id="4" name="圖片 3" descr="一張含有 文字, 行, 螢幕擷取畫面, 圖表 的圖片&#10;&#10;AI 產生的內容可能不正確。">
            <a:extLst>
              <a:ext uri="{FF2B5EF4-FFF2-40B4-BE49-F238E27FC236}">
                <a16:creationId xmlns:a16="http://schemas.microsoft.com/office/drawing/2014/main" id="{33AC3A3E-41F9-FE1B-D9E3-9760801CAE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21539"/>
            <a:ext cx="6858000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5114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佈景主題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2087</Words>
  <Application>Microsoft Office PowerPoint</Application>
  <PresentationFormat>寬螢幕</PresentationFormat>
  <Paragraphs>178</Paragraphs>
  <Slides>26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13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26</vt:i4>
      </vt:variant>
    </vt:vector>
  </HeadingPairs>
  <TitlesOfParts>
    <vt:vector size="40" baseType="lpstr">
      <vt:lpstr>Chiron Sung HK ExtraLight</vt:lpstr>
      <vt:lpstr>Microsoft JhengHei UI</vt:lpstr>
      <vt:lpstr>Noto Sans SC Medium</vt:lpstr>
      <vt:lpstr>Noto Sans TC Black</vt:lpstr>
      <vt:lpstr>Noto Sans TC Medium</vt:lpstr>
      <vt:lpstr>Noto Sans TC SemiBold</vt:lpstr>
      <vt:lpstr>Noto Serif TC Black</vt:lpstr>
      <vt:lpstr>Noto Serif TC SemiBold</vt:lpstr>
      <vt:lpstr>霞鶩文楷 TC</vt:lpstr>
      <vt:lpstr>Aptos</vt:lpstr>
      <vt:lpstr>Aptos Display</vt:lpstr>
      <vt:lpstr>Arial</vt:lpstr>
      <vt:lpstr>Lucida Fax</vt:lpstr>
      <vt:lpstr>Office 佈景主題</vt:lpstr>
      <vt:lpstr>四聲八調與變調 v0.31</vt:lpstr>
      <vt:lpstr>四聲八調定義</vt:lpstr>
      <vt:lpstr>四聲</vt:lpstr>
      <vt:lpstr>四聲八調之【調名】定義</vt:lpstr>
      <vt:lpstr>四聲八調-不用調符，以數值調號表聲調</vt:lpstr>
      <vt:lpstr>四聲八調助記法</vt:lpstr>
      <vt:lpstr>四聲八調：調值助記法</vt:lpstr>
      <vt:lpstr>四聲八調：W助記法</vt:lpstr>
      <vt:lpstr>八調之變調規則</vt:lpstr>
      <vt:lpstr>變調規則（台灣/廈門腔）</vt:lpstr>
      <vt:lpstr>變調規則助記圖（台灣/廈門腔）</vt:lpstr>
      <vt:lpstr>變調實例（台灣/廈門腔）</vt:lpstr>
      <vt:lpstr>變調實例（台灣/廈門腔）</vt:lpstr>
      <vt:lpstr>變調實例（台灣/廈門腔）</vt:lpstr>
      <vt:lpstr>附錄：台羅拼音</vt:lpstr>
      <vt:lpstr>台羅拼音：聲母</vt:lpstr>
      <vt:lpstr>台羅拼音：韻母（一）</vt:lpstr>
      <vt:lpstr>台羅拼音：韻母（一）</vt:lpstr>
      <vt:lpstr>台羅拼音：韻母（二）</vt:lpstr>
      <vt:lpstr>台羅拼音：韻母（三）</vt:lpstr>
      <vt:lpstr>台羅拼音：韻母（四）</vt:lpstr>
      <vt:lpstr>聲調（一）</vt:lpstr>
      <vt:lpstr>聲調（二）</vt:lpstr>
      <vt:lpstr>變調（一）</vt:lpstr>
      <vt:lpstr>變調（二）</vt:lpstr>
      <vt:lpstr>變調（二）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正中 居</dc:creator>
  <cp:lastModifiedBy>正中 居</cp:lastModifiedBy>
  <cp:revision>75</cp:revision>
  <dcterms:created xsi:type="dcterms:W3CDTF">2025-07-23T04:08:23Z</dcterms:created>
  <dcterms:modified xsi:type="dcterms:W3CDTF">2025-11-08T04:06:15Z</dcterms:modified>
</cp:coreProperties>
</file>