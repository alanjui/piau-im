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364" r:id="rId3"/>
    <p:sldId id="257" r:id="rId4"/>
    <p:sldId id="363" r:id="rId5"/>
    <p:sldId id="259" r:id="rId6"/>
    <p:sldId id="365" r:id="rId7"/>
    <p:sldId id="260" r:id="rId8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24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426" y="-120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0755A-CD51-4F07-BE52-8AAB17121638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0A7A7-7D6B-43C7-9390-115CFAAE4E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6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5C07C-ADB1-F5F5-0E95-304CE231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9D9183A-6A8B-8746-0731-9A3D101A0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D4DFBDA-E251-577B-2223-003F948C88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D856C0-E435-24E3-BB8C-A00DA993D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53526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0F54-64E1-D7C9-AAB0-71724BE4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FFADDD-B12E-B860-0EA3-049D9E21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8EABCA-BD72-3CBB-4299-38748B07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CEF54A-D4F5-41AD-F766-BD367148C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756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0913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1743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58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1313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975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3716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869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63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6404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263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6647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91730" y="2960925"/>
            <a:ext cx="2400165" cy="758572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373376"/>
            <a:ext cx="3482149" cy="2097024"/>
          </a:xfrm>
        </p:spPr>
        <p:txBody>
          <a:bodyPr lIns="91440" tIns="45720" rIns="91440" bIns="45720" rtlCol="0" anchor="b"/>
          <a:lstStyle>
            <a:lvl1pPr>
              <a:defRPr sz="303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346" y="5023104"/>
            <a:ext cx="3482149" cy="5949696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1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28602">
              <a:defRPr sz="101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257203">
              <a:defRPr sz="9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385805">
              <a:defRPr sz="78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787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4468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>
          <p15:clr>
            <a:srgbClr val="FBAE40"/>
          </p15:clr>
        </p15:guide>
        <p15:guide id="2" pos="32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DF9799-662D-42E6-ABC9-D46897B23367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865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6BBE5-F19D-7B47-4943-1CA2CBD5D3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閩拼聲調與變調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356004B-DE2E-E4B3-B02F-CE30C813B3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3782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7A1B0-BC19-B324-2E06-4FB7510C6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DE6E34D3-4C3A-1457-CAF5-3370DFE4B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117FE28A-82BD-D130-66E9-C5538D842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閩南八音（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28CDC75B-EDE3-58C0-A62A-E4A991B26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955761"/>
            <a:ext cx="6248400" cy="513722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FC2891DD-F8A9-616E-D4B1-D50923531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973534"/>
            <a:ext cx="6858000" cy="3788732"/>
          </a:xfrm>
          <a:prstGeom prst="rect">
            <a:avLst/>
          </a:prstGeom>
        </p:spPr>
      </p:pic>
      <p:sp>
        <p:nvSpPr>
          <p:cNvPr id="45" name="矩形: 按鈕形 44">
            <a:extLst>
              <a:ext uri="{FF2B5EF4-FFF2-40B4-BE49-F238E27FC236}">
                <a16:creationId xmlns:a16="http://schemas.microsoft.com/office/drawing/2014/main" id="{214D7933-268F-A2A6-4319-1678F8FA6F42}"/>
              </a:ext>
            </a:extLst>
          </p:cNvPr>
          <p:cNvSpPr/>
          <p:nvPr/>
        </p:nvSpPr>
        <p:spPr>
          <a:xfrm>
            <a:off x="1494211" y="7424311"/>
            <a:ext cx="3869577" cy="740025"/>
          </a:xfrm>
          <a:prstGeom prst="bevel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400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ans TC Black" panose="020B0200000000000000" pitchFamily="34" charset="-128"/>
                <a:ea typeface="Noto Sans TC Black" panose="020B0200000000000000" pitchFamily="34" charset="-128"/>
                <a:cs typeface="ADLaM Display" panose="020F0502020204030204" pitchFamily="2" charset="0"/>
              </a:rPr>
              <a:t>1 6 5 3 2 7 8</a:t>
            </a:r>
            <a:endParaRPr lang="zh-TW" altLang="en-US" sz="400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ans TC Black" panose="020B0200000000000000" pitchFamily="34" charset="-128"/>
              <a:ea typeface="Noto Sans TC Black" panose="020B0200000000000000" pitchFamily="34" charset="-128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739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B7E5524-F8D6-AD76-5521-AED312A5A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八音速記圖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CC62B41-4279-DB49-2254-0591CEE95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45721"/>
            <a:ext cx="6858000" cy="378873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E22ED662-4552-CFA2-599C-27738D2D7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46" y="6094892"/>
            <a:ext cx="6408308" cy="3869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104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5864-D3E0-DF9A-8894-2D48F480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AFA02A45-8098-9AA3-30C2-71A10E41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5193F2-664B-54AC-E195-F655C7A7E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 fontScale="90000"/>
          </a:bodyPr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D91E2F7-93C0-7651-1031-407F53CF5216}"/>
              </a:ext>
            </a:extLst>
          </p:cNvPr>
          <p:cNvSpPr txBox="1"/>
          <p:nvPr/>
        </p:nvSpPr>
        <p:spPr>
          <a:xfrm>
            <a:off x="167214" y="5510555"/>
            <a:ext cx="607163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高變中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中變低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 5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低變高降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（上声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 3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（陰平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低促升高促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（陽入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 8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高促降低促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（陰入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（上声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A592E28-7F66-9778-A696-7F3EF7531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45721"/>
            <a:ext cx="6858000" cy="378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7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7BEE-19A1-6F1F-3100-934A7F9F4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FD08DEE-E338-76C7-E961-2C2D593C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八音變調圖（台灣</a:t>
            </a: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</a:p>
        </p:txBody>
      </p:sp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30D6E88B-576A-DFA8-2D79-A0745A9F809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3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【1】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骹底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[ka¹⁻⁶ de³]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ECD8560F-3EC6-ECC8-FA31-DF19BE8CF8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0" y="2819332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【3】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手心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[ciu³⁻¹ sim¹]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" name="流程圖: 替代程序 6">
            <a:extLst>
              <a:ext uri="{FF2B5EF4-FFF2-40B4-BE49-F238E27FC236}">
                <a16:creationId xmlns:a16="http://schemas.microsoft.com/office/drawing/2014/main" id="{81060C4D-40F4-AA14-CB1C-DB7DBBC451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1" y="437164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【5】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嘴齒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[cui⁵⁻³ ki³]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CF531656-7385-FA41-49E3-2B62D79C70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2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【7】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骨頭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[gut⁷⁻⁸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9FA0335D-B031-0198-9D8D-3904B6B43D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49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【8】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目睭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[bbak⁸⁻⁷ ziu¹]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B56F0ADC-DE2B-63A0-3DFE-F5ACA278E9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437429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【6】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鼻孔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[pni⁶⁻⁵ kang¹]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11" name="流程圖: 替代程序 10">
            <a:extLst>
              <a:ext uri="{FF2B5EF4-FFF2-40B4-BE49-F238E27FC236}">
                <a16:creationId xmlns:a16="http://schemas.microsoft.com/office/drawing/2014/main" id="{E847B6F9-01E4-BE37-0DFF-2D1F2BED4E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【2】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頭殼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[tao²⁻⁶ kak⁷]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C26424D9-1F0F-27AF-29AA-110DC9321F57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  <a:endCxn id="7" idx="2"/>
          </p:cNvCxnSpPr>
          <p:nvPr/>
        </p:nvCxnSpPr>
        <p:spPr>
          <a:xfrm rot="16200000" flipV="1">
            <a:off x="3148715" y="4133104"/>
            <a:ext cx="1321242" cy="3309068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B58633B8-958C-7FE1-C32C-DE0E4705EA8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>
            <a:off x="2822713" y="2049858"/>
            <a:ext cx="2325759" cy="2258174"/>
          </a:xfrm>
          <a:prstGeom prst="bentConnector3">
            <a:avLst>
              <a:gd name="adj1" fmla="val 16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D5BDFFBE-AFBE-A60E-D25C-55ABD9E689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5764696" y="2045887"/>
            <a:ext cx="0" cy="2325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232A6B40-9CC9-E30A-5DF4-703E3071889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1" y="6916726"/>
            <a:ext cx="122582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A73E0610-D5F4-517A-C94C-680E6CC10FF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196420" y="6706683"/>
            <a:ext cx="122582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2A17D67A-7327-4DF7-5E0F-E3CB31DB1B9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0" y="4707587"/>
            <a:ext cx="12258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單箭頭接點 36">
            <a:extLst>
              <a:ext uri="{FF2B5EF4-FFF2-40B4-BE49-F238E27FC236}">
                <a16:creationId xmlns:a16="http://schemas.microsoft.com/office/drawing/2014/main" id="{84728C71-BFAE-BAF6-F5F2-E8ECDFA168C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 flipV="1">
            <a:off x="2115046" y="3574706"/>
            <a:ext cx="1" cy="796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1446E769-8390-0499-1F71-DEC1F30C550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2115046" y="2045887"/>
            <a:ext cx="3" cy="773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左中括弧 71">
            <a:extLst>
              <a:ext uri="{FF2B5EF4-FFF2-40B4-BE49-F238E27FC236}">
                <a16:creationId xmlns:a16="http://schemas.microsoft.com/office/drawing/2014/main" id="{B8141D24-4E8E-40A0-AC32-3F06E1469F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721" y="3226072"/>
            <a:ext cx="741455" cy="3599874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4D8B0CB-5482-506D-C920-A1024F0B826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375783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6EC98127-2A2D-30FF-A000-D54654961A9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85013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DEF4E0E1-4DDC-532F-0765-47DF821125D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69012" y="5296343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AA87C62-88C5-5EBC-1600-B0FBA5F0A38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5366" y="5953770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9" name="矩形: 圓角 78">
            <a:extLst>
              <a:ext uri="{FF2B5EF4-FFF2-40B4-BE49-F238E27FC236}">
                <a16:creationId xmlns:a16="http://schemas.microsoft.com/office/drawing/2014/main" id="{7FA7A6BC-0628-F113-26A4-0B10BB8278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82653" y="5278705"/>
            <a:ext cx="2389371" cy="369332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白目 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[Beh⁸⁻⁵ bbak⁸]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7439247A-3695-40FE-809D-0988F49877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3482" y="5946450"/>
            <a:ext cx="2187818" cy="3693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拍破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[pah⁷⁻³ pua⁵]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6" name="矩形: 按鈕形 85">
            <a:extLst>
              <a:ext uri="{FF2B5EF4-FFF2-40B4-BE49-F238E27FC236}">
                <a16:creationId xmlns:a16="http://schemas.microsoft.com/office/drawing/2014/main" id="{537E1D22-4C83-2848-626A-57DCD06FFBF7}"/>
              </a:ext>
            </a:extLst>
          </p:cNvPr>
          <p:cNvSpPr/>
          <p:nvPr/>
        </p:nvSpPr>
        <p:spPr>
          <a:xfrm>
            <a:off x="1494211" y="7776736"/>
            <a:ext cx="3869577" cy="740025"/>
          </a:xfrm>
          <a:prstGeom prst="bevel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ans TC Black" panose="020B0200000000000000" pitchFamily="34" charset="-128"/>
                <a:ea typeface="Noto Sans TC Black" panose="020B0200000000000000" pitchFamily="34" charset="-128"/>
                <a:cs typeface="ADLaM Display" panose="020F0502020204030204" pitchFamily="2" charset="0"/>
              </a:rPr>
              <a:t>1 6 5 3 2 7 8</a:t>
            </a:r>
            <a:endParaRPr lang="zh-TW" altLang="en-US" sz="280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ans TC Black" panose="020B0200000000000000" pitchFamily="34" charset="-128"/>
              <a:ea typeface="Noto Sans TC Black" panose="020B0200000000000000" pitchFamily="34" charset="-128"/>
              <a:cs typeface="ADLaM Display" panose="020F0502020204030204" pitchFamily="2" charset="0"/>
            </a:endParaRPr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1074A399-2608-5DCD-2838-5E294BB94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73584"/>
            <a:ext cx="6858000" cy="378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598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010FF-764B-225B-1CA8-AED051EC8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B28A89C-85E4-5C54-20D9-55615F1BA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八音變調圖（台灣</a:t>
            </a: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</a:p>
        </p:txBody>
      </p:sp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F70ACDCF-4620-3F6A-E02D-11AFB8D27A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3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【1】</a:t>
            </a:r>
            <a:r>
              <a:rPr lang="zh-TW" altLang="en-US"/>
              <a:t>骹底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[ka¹⁻⁶ de³]</a:t>
            </a:r>
            <a:endParaRPr lang="zh-TW" altLang="en-US"/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AE9DD801-585C-E1C4-C795-123E9850C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0" y="2819332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【3】</a:t>
            </a:r>
            <a:r>
              <a:rPr lang="zh-TW" altLang="en-US"/>
              <a:t>手心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[ciu³⁻¹ sim¹]</a:t>
            </a:r>
            <a:endParaRPr lang="zh-TW" altLang="en-US"/>
          </a:p>
        </p:txBody>
      </p:sp>
      <p:sp>
        <p:nvSpPr>
          <p:cNvPr id="7" name="流程圖: 替代程序 6">
            <a:extLst>
              <a:ext uri="{FF2B5EF4-FFF2-40B4-BE49-F238E27FC236}">
                <a16:creationId xmlns:a16="http://schemas.microsoft.com/office/drawing/2014/main" id="{0388F498-E28A-BCBD-9590-BC188F38B3F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1" y="437164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【5】</a:t>
            </a:r>
            <a:r>
              <a:rPr lang="zh-TW" altLang="en-US"/>
              <a:t>嘴齒</a:t>
            </a:r>
            <a:br>
              <a:rPr lang="en-US" altLang="zh-TW"/>
            </a:br>
            <a:r>
              <a:rPr lang="en-US" altLang="zh-TW"/>
              <a:t>[cui⁵⁻³ ki³]</a:t>
            </a:r>
            <a:endParaRPr lang="zh-TW" altLang="en-US"/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6CAEFE93-7760-B0C1-B587-614DFAE86F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2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【7】</a:t>
            </a:r>
            <a:r>
              <a:rPr lang="zh-TW" altLang="en-US"/>
              <a:t>骨頭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[gut⁷⁻⁸ tao²]</a:t>
            </a:r>
            <a:endParaRPr lang="zh-TW" altLang="en-US"/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C4CC8EA7-FA06-4E5F-BB1F-BD5F22A63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49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【8】</a:t>
            </a:r>
            <a:r>
              <a:rPr lang="zh-TW" altLang="en-US"/>
              <a:t>目睭</a:t>
            </a:r>
            <a:br>
              <a:rPr lang="en-US" altLang="zh-TW"/>
            </a:br>
            <a:r>
              <a:rPr lang="en-US" altLang="zh-TW"/>
              <a:t>[bbak⁸⁻⁷ ziu¹]</a:t>
            </a:r>
            <a:endParaRPr lang="zh-TW" altLang="en-US"/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B84F14DE-F018-98EC-C9E6-F953DEA880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437429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【6】</a:t>
            </a:r>
            <a:r>
              <a:rPr lang="zh-TW" altLang="en-US"/>
              <a:t>鼻孔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[pni⁶⁻⁵ kang¹]</a:t>
            </a:r>
            <a:endParaRPr lang="zh-TW" altLang="en-US"/>
          </a:p>
        </p:txBody>
      </p:sp>
      <p:sp>
        <p:nvSpPr>
          <p:cNvPr id="11" name="流程圖: 替代程序 10">
            <a:extLst>
              <a:ext uri="{FF2B5EF4-FFF2-40B4-BE49-F238E27FC236}">
                <a16:creationId xmlns:a16="http://schemas.microsoft.com/office/drawing/2014/main" id="{642890ED-ED73-E289-4CC7-C5DE6830AF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【2】</a:t>
            </a:r>
            <a:r>
              <a:rPr lang="zh-TW" altLang="en-US"/>
              <a:t>頭殼</a:t>
            </a:r>
            <a:br>
              <a:rPr lang="en-US" altLang="zh-TW"/>
            </a:br>
            <a:r>
              <a:rPr lang="en-US" altLang="zh-TW"/>
              <a:t>[tao²⁻⁶ kak⁷]</a:t>
            </a:r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04C5C01E-2460-11B4-FFA8-69E7AF5F7386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  <a:endCxn id="7" idx="2"/>
          </p:cNvCxnSpPr>
          <p:nvPr/>
        </p:nvCxnSpPr>
        <p:spPr>
          <a:xfrm rot="16200000" flipV="1">
            <a:off x="3148715" y="4133104"/>
            <a:ext cx="1321242" cy="3309068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B973B922-DFE4-DFA4-366D-0D504F9B9FE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>
            <a:off x="2822713" y="2049858"/>
            <a:ext cx="2325759" cy="2258174"/>
          </a:xfrm>
          <a:prstGeom prst="bentConnector3">
            <a:avLst>
              <a:gd name="adj1" fmla="val 16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8B9F96CE-FCC9-6D0D-6A8B-53D531E150F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5764696" y="2045887"/>
            <a:ext cx="0" cy="2325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9458FA01-24F0-16D0-F9F8-D6A6C6EEC7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1" y="6916726"/>
            <a:ext cx="122582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8B883DAF-E929-C328-0D63-B64F239A207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196420" y="6706683"/>
            <a:ext cx="122582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A06D7326-74C8-7ADA-3E09-96CEA3A5539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0" y="4707587"/>
            <a:ext cx="12258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單箭頭接點 36">
            <a:extLst>
              <a:ext uri="{FF2B5EF4-FFF2-40B4-BE49-F238E27FC236}">
                <a16:creationId xmlns:a16="http://schemas.microsoft.com/office/drawing/2014/main" id="{415C7050-0840-CD01-2C47-668E40B332C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 flipV="1">
            <a:off x="2115046" y="3574706"/>
            <a:ext cx="1" cy="796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BB8EF7D6-605B-5632-8A92-64B0B702662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2115046" y="2045887"/>
            <a:ext cx="3" cy="773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左中括弧 71">
            <a:extLst>
              <a:ext uri="{FF2B5EF4-FFF2-40B4-BE49-F238E27FC236}">
                <a16:creationId xmlns:a16="http://schemas.microsoft.com/office/drawing/2014/main" id="{07658648-9292-4DEE-DED5-88015A9454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721" y="3226072"/>
            <a:ext cx="741455" cy="3599874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D8F9566A-4D7F-2A06-B15A-082ED48993B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375783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</a:rPr>
              <a:t>p/t/k</a:t>
            </a:r>
            <a:endParaRPr lang="zh-TW" altLang="en-US">
              <a:solidFill>
                <a:schemeClr val="accent5"/>
              </a:solidFill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101255CD-3871-7ED2-7B6E-BFA24AE84C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85013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</a:rPr>
              <a:t>p/t/k</a:t>
            </a:r>
            <a:endParaRPr lang="zh-TW" altLang="en-US">
              <a:solidFill>
                <a:schemeClr val="accent6"/>
              </a:solidFill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966F5127-65E7-8C2B-45C3-953B525FA7B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02512" y="5296343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</a:rPr>
              <a:t>h</a:t>
            </a:r>
            <a:endParaRPr lang="zh-TW" altLang="en-US">
              <a:solidFill>
                <a:schemeClr val="accent6"/>
              </a:solidFill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5FA13A60-ADD2-987A-B313-211624685AD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5366" y="5953770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</a:rPr>
              <a:t>h</a:t>
            </a:r>
            <a:endParaRPr lang="zh-TW" altLang="en-US">
              <a:solidFill>
                <a:schemeClr val="accent5"/>
              </a:solidFill>
            </a:endParaRPr>
          </a:p>
        </p:txBody>
      </p:sp>
      <p:sp>
        <p:nvSpPr>
          <p:cNvPr id="79" name="矩形: 圓角 78">
            <a:extLst>
              <a:ext uri="{FF2B5EF4-FFF2-40B4-BE49-F238E27FC236}">
                <a16:creationId xmlns:a16="http://schemas.microsoft.com/office/drawing/2014/main" id="{DB4BD723-2833-4BEB-D6DC-E7BB149FED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6153" y="5278705"/>
            <a:ext cx="2389371" cy="36933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/>
              <a:t>白目 </a:t>
            </a:r>
            <a:r>
              <a:rPr lang="en-US" altLang="zh-TW"/>
              <a:t>[Beh⁸⁻⁵ bbak⁸]</a:t>
            </a:r>
            <a:endParaRPr lang="zh-TW" altLang="en-US"/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83A7847E-C005-AAEC-8F5D-795598DB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3482" y="5946450"/>
            <a:ext cx="2187818" cy="36933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/>
              <a:t>拍破</a:t>
            </a:r>
            <a:r>
              <a:rPr lang="en-US" altLang="zh-TW"/>
              <a:t> [pah⁷⁻³ pua⁵]</a:t>
            </a:r>
            <a:endParaRPr lang="zh-TW" altLang="en-US"/>
          </a:p>
        </p:txBody>
      </p:sp>
      <p:sp>
        <p:nvSpPr>
          <p:cNvPr id="86" name="矩形: 按鈕形 85">
            <a:extLst>
              <a:ext uri="{FF2B5EF4-FFF2-40B4-BE49-F238E27FC236}">
                <a16:creationId xmlns:a16="http://schemas.microsoft.com/office/drawing/2014/main" id="{8B95B49A-C4BE-83C5-B605-A2CFE1FECEF9}"/>
              </a:ext>
            </a:extLst>
          </p:cNvPr>
          <p:cNvSpPr/>
          <p:nvPr/>
        </p:nvSpPr>
        <p:spPr>
          <a:xfrm>
            <a:off x="1494211" y="7776736"/>
            <a:ext cx="3869577" cy="740025"/>
          </a:xfrm>
          <a:prstGeom prst="bevel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ans TC Black" panose="020B0200000000000000" pitchFamily="34" charset="-128"/>
                <a:ea typeface="Noto Sans TC Black" panose="020B0200000000000000" pitchFamily="34" charset="-128"/>
                <a:cs typeface="ADLaM Display" panose="020F0502020204030204" pitchFamily="2" charset="0"/>
              </a:rPr>
              <a:t>1 6 5 3 2 7 8</a:t>
            </a:r>
            <a:endParaRPr lang="zh-TW" altLang="en-US" sz="280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ans TC Black" panose="020B0200000000000000" pitchFamily="34" charset="-128"/>
              <a:ea typeface="Noto Sans TC Black" panose="020B0200000000000000" pitchFamily="34" charset="-128"/>
              <a:cs typeface="ADLaM Display" panose="020F0502020204030204" pitchFamily="2" charset="0"/>
            </a:endParaRPr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84AB6647-AAF0-EE15-8FE3-49922EF19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73584"/>
            <a:ext cx="6858000" cy="378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039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B67BEE-19A1-6F1F-3100-934A7F9F4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FD08DEE-E338-76C7-E961-2C2D593C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7A70BC-4614-0E78-8279-6151A4F11E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grayscl/>
            <a:alphaModFix amt="13000"/>
          </a:blip>
          <a:stretch>
            <a:fillRect/>
          </a:stretch>
        </p:blipFill>
        <p:spPr>
          <a:xfrm>
            <a:off x="0" y="1560709"/>
            <a:ext cx="6858000" cy="10064496"/>
          </a:xfrm>
          <a:prstGeom prst="rect">
            <a:avLst/>
          </a:prstGeom>
        </p:spPr>
      </p:pic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30D6E88B-576A-DFA8-2D79-A0745A9F8092}"/>
              </a:ext>
            </a:extLst>
          </p:cNvPr>
          <p:cNvSpPr/>
          <p:nvPr/>
        </p:nvSpPr>
        <p:spPr>
          <a:xfrm>
            <a:off x="1113183" y="1757238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ECD8560F-3EC6-ECC8-FA31-DF19BE8CF860}"/>
              </a:ext>
            </a:extLst>
          </p:cNvPr>
          <p:cNvSpPr/>
          <p:nvPr/>
        </p:nvSpPr>
        <p:spPr>
          <a:xfrm>
            <a:off x="1113180" y="3286057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流程圖: 替代程序 6">
            <a:extLst>
              <a:ext uri="{FF2B5EF4-FFF2-40B4-BE49-F238E27FC236}">
                <a16:creationId xmlns:a16="http://schemas.microsoft.com/office/drawing/2014/main" id="{81060C4D-40F4-AA14-CB1C-DB7DBBC4510E}"/>
              </a:ext>
            </a:extLst>
          </p:cNvPr>
          <p:cNvSpPr/>
          <p:nvPr/>
        </p:nvSpPr>
        <p:spPr>
          <a:xfrm>
            <a:off x="1113181" y="4838368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CF531656-7385-FA41-49E3-2B62D79C7048}"/>
              </a:ext>
            </a:extLst>
          </p:cNvPr>
          <p:cNvSpPr/>
          <p:nvPr/>
        </p:nvSpPr>
        <p:spPr>
          <a:xfrm>
            <a:off x="1113182" y="691498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9FA0335D-B031-0198-9D8D-3904B6B43D31}"/>
              </a:ext>
            </a:extLst>
          </p:cNvPr>
          <p:cNvSpPr/>
          <p:nvPr/>
        </p:nvSpPr>
        <p:spPr>
          <a:xfrm>
            <a:off x="4422249" y="691498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B56F0ADC-DE2B-63A0-3DFE-F5ACA278E98F}"/>
              </a:ext>
            </a:extLst>
          </p:cNvPr>
          <p:cNvSpPr/>
          <p:nvPr/>
        </p:nvSpPr>
        <p:spPr>
          <a:xfrm>
            <a:off x="4422250" y="484101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替代程序 10">
            <a:extLst>
              <a:ext uri="{FF2B5EF4-FFF2-40B4-BE49-F238E27FC236}">
                <a16:creationId xmlns:a16="http://schemas.microsoft.com/office/drawing/2014/main" id="{E847B6F9-01E4-BE37-0DFF-2D1F2BED4E4A}"/>
              </a:ext>
            </a:extLst>
          </p:cNvPr>
          <p:cNvSpPr/>
          <p:nvPr/>
        </p:nvSpPr>
        <p:spPr>
          <a:xfrm>
            <a:off x="4422250" y="1757238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C26424D9-1F0F-27AF-29AA-110DC9321F57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rot="16200000" flipV="1">
            <a:off x="3148715" y="4599829"/>
            <a:ext cx="1321242" cy="3309068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B58633B8-958C-7FE1-C32C-DE0E4705EA8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>
            <a:off x="2822713" y="2516583"/>
            <a:ext cx="2325759" cy="2258174"/>
          </a:xfrm>
          <a:prstGeom prst="bentConnector3">
            <a:avLst>
              <a:gd name="adj1" fmla="val 16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D5BDFFBE-AFBE-A60E-D25C-55ABD9E689F3}"/>
              </a:ext>
            </a:extLst>
          </p:cNvPr>
          <p:cNvCxnSpPr/>
          <p:nvPr/>
        </p:nvCxnSpPr>
        <p:spPr>
          <a:xfrm>
            <a:off x="5764696" y="2512612"/>
            <a:ext cx="0" cy="2325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232A6B40-9CC9-E30A-5DF4-703E30718897}"/>
              </a:ext>
            </a:extLst>
          </p:cNvPr>
          <p:cNvCxnSpPr>
            <a:cxnSpLocks/>
          </p:cNvCxnSpPr>
          <p:nvPr/>
        </p:nvCxnSpPr>
        <p:spPr>
          <a:xfrm flipH="1">
            <a:off x="3196421" y="7383451"/>
            <a:ext cx="122582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A73E0610-D5F4-517A-C94C-680E6CC10FF2}"/>
              </a:ext>
            </a:extLst>
          </p:cNvPr>
          <p:cNvCxnSpPr>
            <a:cxnSpLocks/>
          </p:cNvCxnSpPr>
          <p:nvPr/>
        </p:nvCxnSpPr>
        <p:spPr>
          <a:xfrm>
            <a:off x="3196420" y="7173408"/>
            <a:ext cx="122582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2A17D67A-7327-4DF7-5E0F-E3CB31DB1B9D}"/>
              </a:ext>
            </a:extLst>
          </p:cNvPr>
          <p:cNvCxnSpPr>
            <a:cxnSpLocks/>
          </p:cNvCxnSpPr>
          <p:nvPr/>
        </p:nvCxnSpPr>
        <p:spPr>
          <a:xfrm flipH="1">
            <a:off x="3196420" y="5174312"/>
            <a:ext cx="12258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單箭頭接點 36">
            <a:extLst>
              <a:ext uri="{FF2B5EF4-FFF2-40B4-BE49-F238E27FC236}">
                <a16:creationId xmlns:a16="http://schemas.microsoft.com/office/drawing/2014/main" id="{84728C71-BFAE-BAF6-F5F2-E8ECDFA168CE}"/>
              </a:ext>
            </a:extLst>
          </p:cNvPr>
          <p:cNvCxnSpPr>
            <a:cxnSpLocks/>
          </p:cNvCxnSpPr>
          <p:nvPr/>
        </p:nvCxnSpPr>
        <p:spPr>
          <a:xfrm flipH="1" flipV="1">
            <a:off x="2115046" y="4041431"/>
            <a:ext cx="1" cy="796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1446E769-8390-0499-1F71-DEC1F30C550E}"/>
              </a:ext>
            </a:extLst>
          </p:cNvPr>
          <p:cNvCxnSpPr>
            <a:cxnSpLocks/>
          </p:cNvCxnSpPr>
          <p:nvPr/>
        </p:nvCxnSpPr>
        <p:spPr>
          <a:xfrm flipV="1">
            <a:off x="2115046" y="2512612"/>
            <a:ext cx="3" cy="773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左中括弧 71">
            <a:extLst>
              <a:ext uri="{FF2B5EF4-FFF2-40B4-BE49-F238E27FC236}">
                <a16:creationId xmlns:a16="http://schemas.microsoft.com/office/drawing/2014/main" id="{B8141D24-4E8E-40A0-AC32-3F06E1469F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721" y="3692797"/>
            <a:ext cx="741455" cy="3599874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1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625</TotalTime>
  <Words>498</Words>
  <Application>Microsoft Office PowerPoint</Application>
  <PresentationFormat>寬螢幕</PresentationFormat>
  <Paragraphs>51</Paragraphs>
  <Slides>7</Slides>
  <Notes>2</Notes>
  <HiddenSlides>1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6" baseType="lpstr">
      <vt:lpstr>Microsoft JhengHei UI</vt:lpstr>
      <vt:lpstr>Noto Sans TC Black</vt:lpstr>
      <vt:lpstr>Noto Sans TC Medium</vt:lpstr>
      <vt:lpstr>Noto Serif TC Black</vt:lpstr>
      <vt:lpstr>Aptos</vt:lpstr>
      <vt:lpstr>Aptos Display</vt:lpstr>
      <vt:lpstr>Arial</vt:lpstr>
      <vt:lpstr>Charis SemiBold</vt:lpstr>
      <vt:lpstr>Office 佈景主題</vt:lpstr>
      <vt:lpstr>閩拼聲調與變調</vt:lpstr>
      <vt:lpstr>閩南八音（台灣/廈門腔）</vt:lpstr>
      <vt:lpstr>八音速記圖</vt:lpstr>
      <vt:lpstr>八音變調規則（台灣/廈門腔）</vt:lpstr>
      <vt:lpstr>八音變調圖（台灣/廈門腔）</vt:lpstr>
      <vt:lpstr>八音變調圖（台灣/廈門腔）</vt:lpstr>
      <vt:lpstr>八音變調圖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13</cp:revision>
  <dcterms:created xsi:type="dcterms:W3CDTF">2026-10-13T03:21:08Z</dcterms:created>
  <dcterms:modified xsi:type="dcterms:W3CDTF">2026-10-13T13:46:08Z</dcterms:modified>
</cp:coreProperties>
</file>