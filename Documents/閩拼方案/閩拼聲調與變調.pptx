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56" r:id="rId2"/>
    <p:sldId id="364" r:id="rId3"/>
    <p:sldId id="257" r:id="rId4"/>
    <p:sldId id="363" r:id="rId5"/>
    <p:sldId id="259" r:id="rId6"/>
    <p:sldId id="368" r:id="rId7"/>
    <p:sldId id="366" r:id="rId8"/>
    <p:sldId id="367" r:id="rId9"/>
    <p:sldId id="369" r:id="rId10"/>
    <p:sldId id="365" r:id="rId11"/>
    <p:sldId id="260" r:id="rId12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4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24" autoAdjust="0"/>
    <p:restoredTop sz="94660"/>
  </p:normalViewPr>
  <p:slideViewPr>
    <p:cSldViewPr snapToGrid="0" showGuides="1">
      <p:cViewPr varScale="1">
        <p:scale>
          <a:sx n="115" d="100"/>
          <a:sy n="115" d="100"/>
        </p:scale>
        <p:origin x="114" y="330"/>
      </p:cViewPr>
      <p:guideLst>
        <p:guide orient="horz" pos="384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image" Target="../media/image1.png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D0755A-CD51-4F07-BE52-8AAB17121638}" type="datetimeFigureOut">
              <a:rPr lang="zh-TW" altLang="en-US" smtClean="0"/>
              <a:t>2026/10/18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B0A7A7-7D6B-43C7-9390-115CFAAE4E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46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5C07C-ADB1-F5F5-0E95-304CE231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9D9183A-6A8B-8746-0731-9A3D101A0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D4DFBDA-E251-577B-2223-003F948C88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D856C0-E435-24E3-BB8C-A00DA993D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535267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40F54-64E1-D7C9-AAB0-71724BE4F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9FFADDD-B12E-B860-0EA3-049D9E21B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F8EABCA-BD72-3CBB-4299-38748B07F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CEF54A-D4F5-41AD-F766-BD367148C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47565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90FE5-B797-E56A-4010-D8E5455E7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C1C4A9F-0F08-C30A-B649-B15253EB8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22394D-48FB-92C2-CC72-3DDA90A50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68B622-98FF-C2F7-ACC9-4485F94EE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111352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0913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1743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58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13138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6975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2026/10/18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3716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2026/10/18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8694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7630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64041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72638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9799-662D-42E6-ABC9-D46897B23367}" type="datetimeFigureOut">
              <a:rPr lang="zh-TW" altLang="en-US" smtClean="0"/>
              <a:t>2026/10/18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6647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圖片版面配置區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91730" y="2960925"/>
            <a:ext cx="2400165" cy="7585721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628" y="2373376"/>
            <a:ext cx="3482149" cy="2097024"/>
          </a:xfrm>
        </p:spPr>
        <p:txBody>
          <a:bodyPr lIns="91440" tIns="45720" rIns="91440" bIns="45720" rtlCol="0" anchor="b"/>
          <a:lstStyle>
            <a:lvl1pPr>
              <a:defRPr sz="303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346" y="5023104"/>
            <a:ext cx="3482149" cy="5949696"/>
          </a:xfrm>
        </p:spPr>
        <p:txBody>
          <a:bodyPr rtlCol="0"/>
          <a:lstStyle>
            <a:lvl1pPr marL="0" indent="0">
              <a:lnSpc>
                <a:spcPct val="110000"/>
              </a:lnSpc>
              <a:buNone/>
              <a:defRPr sz="11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128602">
              <a:defRPr sz="1013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257203">
              <a:defRPr sz="9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385805">
              <a:defRPr sz="787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787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9" name="直線接點​​(S) 8">
            <a:extLst>
              <a:ext uri="{FF2B5EF4-FFF2-40B4-BE49-F238E27FC236}">
                <a16:creationId xmlns:a16="http://schemas.microsoft.com/office/drawing/2014/main" id="{FA8B3D0E-ED3F-46FA-AE79-5FEFDE9168E3}"/>
              </a:ext>
            </a:extLst>
          </p:cNvPr>
          <p:cNvCxnSpPr>
            <a:cxnSpLocks/>
          </p:cNvCxnSpPr>
          <p:nvPr userDrawn="1"/>
        </p:nvCxnSpPr>
        <p:spPr>
          <a:xfrm>
            <a:off x="1" y="1433725"/>
            <a:ext cx="4445844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44689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>
          <p15:clr>
            <a:srgbClr val="FBAE40"/>
          </p15:clr>
        </p15:guide>
        <p15:guide id="2" pos="32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DF9799-662D-42E6-ABC9-D46897B23367}" type="datetimeFigureOut">
              <a:rPr lang="zh-TW" altLang="en-US" smtClean="0"/>
              <a:t>2026/10/18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F918C9-DA8D-4EB4-AF46-3DC5EF1AE6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865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13.emf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B6BBE5-F19D-7B47-4943-1CA2CBD5D3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閩拼聲調與變調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356004B-DE2E-E4B3-B02F-CE30C813B3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3782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7A1B0-BC19-B324-2E06-4FB7510C6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DE6E34D3-4C3A-1457-CAF5-3370DFE4B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117FE28A-82BD-D130-66E9-C5538D842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閩南八音（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3" name="圖片 42">
            <a:extLst>
              <a:ext uri="{FF2B5EF4-FFF2-40B4-BE49-F238E27FC236}">
                <a16:creationId xmlns:a16="http://schemas.microsoft.com/office/drawing/2014/main" id="{FC2891DD-F8A9-616E-D4B1-D509235318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973534"/>
            <a:ext cx="6858000" cy="3788732"/>
          </a:xfrm>
          <a:prstGeom prst="rect">
            <a:avLst/>
          </a:prstGeom>
        </p:spPr>
      </p:pic>
      <p:sp>
        <p:nvSpPr>
          <p:cNvPr id="45" name="矩形: 按鈕形 44">
            <a:extLst>
              <a:ext uri="{FF2B5EF4-FFF2-40B4-BE49-F238E27FC236}">
                <a16:creationId xmlns:a16="http://schemas.microsoft.com/office/drawing/2014/main" id="{214D7933-268F-A2A6-4319-1678F8FA6F42}"/>
              </a:ext>
            </a:extLst>
          </p:cNvPr>
          <p:cNvSpPr/>
          <p:nvPr/>
        </p:nvSpPr>
        <p:spPr>
          <a:xfrm>
            <a:off x="1494211" y="7424311"/>
            <a:ext cx="3869577" cy="740025"/>
          </a:xfrm>
          <a:prstGeom prst="bevel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400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Noto Sans TC Black" panose="020B0200000000000000" pitchFamily="34" charset="-128"/>
                <a:ea typeface="Noto Sans TC Black" panose="020B0200000000000000" pitchFamily="34" charset="-128"/>
                <a:cs typeface="ADLaM Display" panose="020F0502020204030204" pitchFamily="2" charset="0"/>
              </a:rPr>
              <a:t>1 6 5 3 2 7 8</a:t>
            </a:r>
            <a:endParaRPr lang="zh-TW" altLang="en-US" sz="4000"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Noto Sans TC Black" panose="020B0200000000000000" pitchFamily="34" charset="-128"/>
              <a:ea typeface="Noto Sans TC Black" panose="020B0200000000000000" pitchFamily="34" charset="-128"/>
              <a:cs typeface="ADLaM Display" panose="020F0502020204030204" pitchFamily="2" charset="0"/>
            </a:endParaRP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D9821941-A228-04D2-0892-1822E4A8C2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018" y="1736725"/>
            <a:ext cx="6467964" cy="5317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739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B7E5524-F8D6-AD76-5521-AED312A5A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312821"/>
            <a:ext cx="5915025" cy="647480"/>
          </a:xfrm>
        </p:spPr>
        <p:txBody>
          <a:bodyPr/>
          <a:lstStyle/>
          <a:p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八音速記圖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CC62B41-4279-DB49-2254-0591CEE95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645721"/>
            <a:ext cx="6858000" cy="3788732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E754E60E-F484-DA4B-1604-6548EAD3BA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30" y="6019516"/>
            <a:ext cx="6558740" cy="396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104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C5864-D3E0-DF9A-8894-2D48F4809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AFA02A45-8098-9AA3-30C2-71A10E411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685193F2-664B-54AC-E195-F655C7A7E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 fontScale="90000"/>
          </a:bodyPr>
          <a:lstStyle/>
          <a:p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八音變調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規則（台灣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AD91E2F7-93C0-7651-1031-407F53CF5216}"/>
              </a:ext>
            </a:extLst>
          </p:cNvPr>
          <p:cNvSpPr txBox="1"/>
          <p:nvPr/>
        </p:nvSpPr>
        <p:spPr>
          <a:xfrm>
            <a:off x="167214" y="5510555"/>
            <a:ext cx="6071634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1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.【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高變中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（陽去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6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2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.【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中變低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（陰去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 5 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.【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低變高降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（上声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 3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4.【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（陰平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1 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（陽去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6 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Bef>
                <a:spcPts val="1200"/>
              </a:spcBef>
            </a:pPr>
            <a:r>
              <a:rPr lang="en-US" altLang="zh-TW" dirty="0">
                <a:solidFill>
                  <a:schemeClr val="bg1"/>
                </a:solidFill>
                <a:highlight>
                  <a:srgbClr val="800080"/>
                </a:highligh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chemeClr val="bg1"/>
                </a:solidFill>
                <a:highlight>
                  <a:srgbClr val="800080"/>
                </a:highligh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chemeClr val="bg1"/>
                </a:solidFill>
                <a:highlight>
                  <a:srgbClr val="800080"/>
                </a:highligh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p/t/k》</a:t>
            </a:r>
          </a:p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6.【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低促升高促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（陽入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 8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7.【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高促降低促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（陰入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7 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Bef>
                <a:spcPts val="1200"/>
              </a:spcBef>
            </a:pPr>
            <a:r>
              <a:rPr lang="en-US" altLang="zh-TW" dirty="0">
                <a:solidFill>
                  <a:schemeClr val="bg1"/>
                </a:solidFill>
                <a:highlight>
                  <a:srgbClr val="800080"/>
                </a:highligh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chemeClr val="bg1"/>
                </a:solidFill>
                <a:highlight>
                  <a:srgbClr val="800080"/>
                </a:highligh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chemeClr val="bg1"/>
                </a:solidFill>
                <a:highlight>
                  <a:srgbClr val="800080"/>
                </a:highligh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h》</a:t>
            </a:r>
          </a:p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8.【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低促變高降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（上声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 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Bef>
                <a:spcPts val="1200"/>
              </a:spcBef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9.【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高促變低音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（陰去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 </a:t>
            </a:r>
            <a:r>
              <a:rPr lang="zh-TW" altLang="en-US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）。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A592E28-7F66-9778-A696-7F3EF7531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645721"/>
            <a:ext cx="6858000" cy="3788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978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67BEE-19A1-6F1F-3100-934A7F9F4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FD08DEE-E338-76C7-E961-2C2D593CE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312821"/>
            <a:ext cx="5915025" cy="647480"/>
          </a:xfrm>
        </p:spPr>
        <p:txBody>
          <a:bodyPr/>
          <a:lstStyle/>
          <a:p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八音變調圖（台灣</a:t>
            </a:r>
            <a:r>
              <a:rPr lang="en-US" altLang="zh-TW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</a:p>
        </p:txBody>
      </p:sp>
      <p:sp>
        <p:nvSpPr>
          <p:cNvPr id="5" name="流程圖: 替代程序 4">
            <a:extLst>
              <a:ext uri="{FF2B5EF4-FFF2-40B4-BE49-F238E27FC236}">
                <a16:creationId xmlns:a16="http://schemas.microsoft.com/office/drawing/2014/main" id="{30D6E88B-576A-DFA8-2D79-A0745A9F809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3183" y="1290513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【1】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骹底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[ka¹⁻⁶ de³]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6" name="流程圖: 替代程序 5">
            <a:extLst>
              <a:ext uri="{FF2B5EF4-FFF2-40B4-BE49-F238E27FC236}">
                <a16:creationId xmlns:a16="http://schemas.microsoft.com/office/drawing/2014/main" id="{ECD8560F-3EC6-ECC8-FA31-DF19BE8CF8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3180" y="2819332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【3】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手心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[ciu³⁻¹ sim¹]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7" name="流程圖: 替代程序 6">
            <a:extLst>
              <a:ext uri="{FF2B5EF4-FFF2-40B4-BE49-F238E27FC236}">
                <a16:creationId xmlns:a16="http://schemas.microsoft.com/office/drawing/2014/main" id="{81060C4D-40F4-AA14-CB1C-DB7DBBC451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3181" y="4371643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【5】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嘴齒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[cui⁵⁻³ ki³]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CF531656-7385-FA41-49E3-2B62D79C70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3182" y="6448259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【7】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骨頭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[gut⁷⁻⁸ tao²]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9" name="流程圖: 替代程序 8">
            <a:extLst>
              <a:ext uri="{FF2B5EF4-FFF2-40B4-BE49-F238E27FC236}">
                <a16:creationId xmlns:a16="http://schemas.microsoft.com/office/drawing/2014/main" id="{9FA0335D-B031-0198-9D8D-3904B6B43D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22249" y="6448259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【8】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目睭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[bbak⁸⁻⁷ ziu¹]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10" name="流程圖: 替代程序 9">
            <a:extLst>
              <a:ext uri="{FF2B5EF4-FFF2-40B4-BE49-F238E27FC236}">
                <a16:creationId xmlns:a16="http://schemas.microsoft.com/office/drawing/2014/main" id="{B56F0ADC-DE2B-63A0-3DFE-F5ACA278E9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22250" y="4374294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【6】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鼻孔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[pni⁶⁻⁵ kang¹]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11" name="流程圖: 替代程序 10">
            <a:extLst>
              <a:ext uri="{FF2B5EF4-FFF2-40B4-BE49-F238E27FC236}">
                <a16:creationId xmlns:a16="http://schemas.microsoft.com/office/drawing/2014/main" id="{E847B6F9-01E4-BE37-0DFF-2D1F2BED4E4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22250" y="1290513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【2】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頭殼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[tao²⁻⁶ kak⁷]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C26424D9-1F0F-27AF-29AA-110DC9321F57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  <a:endCxn id="7" idx="2"/>
          </p:cNvCxnSpPr>
          <p:nvPr/>
        </p:nvCxnSpPr>
        <p:spPr>
          <a:xfrm rot="16200000" flipV="1">
            <a:off x="3148715" y="4133104"/>
            <a:ext cx="1321242" cy="3309068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接點: 肘形 16">
            <a:extLst>
              <a:ext uri="{FF2B5EF4-FFF2-40B4-BE49-F238E27FC236}">
                <a16:creationId xmlns:a16="http://schemas.microsoft.com/office/drawing/2014/main" id="{B58633B8-958C-7FE1-C32C-DE0E4705EA8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 flipH="1">
            <a:off x="2822713" y="2049858"/>
            <a:ext cx="2325759" cy="2258174"/>
          </a:xfrm>
          <a:prstGeom prst="bentConnector3">
            <a:avLst>
              <a:gd name="adj1" fmla="val 1683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D5BDFFBE-AFBE-A60E-D25C-55ABD9E689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5764696" y="2045887"/>
            <a:ext cx="0" cy="23257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232A6B40-9CC9-E30A-5DF4-703E3071889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3196421" y="6916726"/>
            <a:ext cx="1225827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A73E0610-D5F4-517A-C94C-680E6CC10FF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196420" y="6706683"/>
            <a:ext cx="1225827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2A17D67A-7327-4DF7-5E0F-E3CB31DB1B9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3196420" y="4707587"/>
            <a:ext cx="12258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單箭頭接點 36">
            <a:extLst>
              <a:ext uri="{FF2B5EF4-FFF2-40B4-BE49-F238E27FC236}">
                <a16:creationId xmlns:a16="http://schemas.microsoft.com/office/drawing/2014/main" id="{84728C71-BFAE-BAF6-F5F2-E8ECDFA168C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 flipV="1">
            <a:off x="2115046" y="3574706"/>
            <a:ext cx="1" cy="7969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1446E769-8390-0499-1F71-DEC1F30C550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V="1">
            <a:off x="2115046" y="2045887"/>
            <a:ext cx="3" cy="773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左中括弧 71">
            <a:extLst>
              <a:ext uri="{FF2B5EF4-FFF2-40B4-BE49-F238E27FC236}">
                <a16:creationId xmlns:a16="http://schemas.microsoft.com/office/drawing/2014/main" id="{B8141D24-4E8E-40A0-AC32-3F06E1469F4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1721" y="3226072"/>
            <a:ext cx="741455" cy="3599874"/>
          </a:xfrm>
          <a:prstGeom prst="leftBracket">
            <a:avLst>
              <a:gd name="adj" fmla="val 0"/>
            </a:avLst>
          </a:prstGeom>
          <a:ln>
            <a:solidFill>
              <a:schemeClr val="accent5"/>
            </a:solidFill>
            <a:prstDash val="sys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84D8B0CB-5482-506D-C920-A1024F0B826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429000" y="6375783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p/t/k</a:t>
            </a:r>
            <a:endParaRPr lang="zh-TW" altLang="en-US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6EC98127-2A2D-30FF-A000-D54654961A9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429000" y="6850136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p/t/k</a:t>
            </a:r>
            <a:endParaRPr lang="zh-TW" altLang="en-US">
              <a:solidFill>
                <a:schemeClr val="accent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DEF4E0E1-4DDC-532F-0765-47DF821125D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69012" y="5296343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h</a:t>
            </a:r>
            <a:endParaRPr lang="zh-TW" altLang="en-US">
              <a:solidFill>
                <a:schemeClr val="accent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3AA87C62-88C5-5EBC-1600-B0FBA5F0A38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65366" y="5953770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h</a:t>
            </a:r>
            <a:endParaRPr lang="zh-TW" altLang="en-US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79" name="矩形: 圓角 78">
            <a:extLst>
              <a:ext uri="{FF2B5EF4-FFF2-40B4-BE49-F238E27FC236}">
                <a16:creationId xmlns:a16="http://schemas.microsoft.com/office/drawing/2014/main" id="{7FA7A6BC-0628-F113-26A4-0B10BB8278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82653" y="5278705"/>
            <a:ext cx="2389371" cy="369332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白目 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[Beh⁸⁻⁵ bbak⁸]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82" name="矩形: 圓角 81">
            <a:extLst>
              <a:ext uri="{FF2B5EF4-FFF2-40B4-BE49-F238E27FC236}">
                <a16:creationId xmlns:a16="http://schemas.microsoft.com/office/drawing/2014/main" id="{7439247A-3695-40FE-809D-0988F49877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3482" y="5946450"/>
            <a:ext cx="2187818" cy="369332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拍破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[pah⁷⁻³ pua⁵]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86" name="矩形: 按鈕形 85">
            <a:extLst>
              <a:ext uri="{FF2B5EF4-FFF2-40B4-BE49-F238E27FC236}">
                <a16:creationId xmlns:a16="http://schemas.microsoft.com/office/drawing/2014/main" id="{537E1D22-4C83-2848-626A-57DCD06FFBF7}"/>
              </a:ext>
            </a:extLst>
          </p:cNvPr>
          <p:cNvSpPr/>
          <p:nvPr/>
        </p:nvSpPr>
        <p:spPr>
          <a:xfrm>
            <a:off x="1494211" y="7776736"/>
            <a:ext cx="3869577" cy="740025"/>
          </a:xfrm>
          <a:prstGeom prst="bevel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Noto Sans TC Black" panose="020B0200000000000000" pitchFamily="34" charset="-128"/>
                <a:ea typeface="Noto Sans TC Black" panose="020B0200000000000000" pitchFamily="34" charset="-128"/>
                <a:cs typeface="ADLaM Display" panose="020F0502020204030204" pitchFamily="2" charset="0"/>
              </a:rPr>
              <a:t>1 6 5 3 2 7 8</a:t>
            </a:r>
            <a:endParaRPr lang="zh-TW" altLang="en-US" sz="2800"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Noto Sans TC Black" panose="020B0200000000000000" pitchFamily="34" charset="-128"/>
              <a:ea typeface="Noto Sans TC Black" panose="020B0200000000000000" pitchFamily="34" charset="-128"/>
              <a:cs typeface="ADLaM Display" panose="020F0502020204030204" pitchFamily="2" charset="0"/>
            </a:endParaRPr>
          </a:p>
        </p:txBody>
      </p:sp>
      <p:pic>
        <p:nvPicPr>
          <p:cNvPr id="88" name="圖片 87">
            <a:extLst>
              <a:ext uri="{FF2B5EF4-FFF2-40B4-BE49-F238E27FC236}">
                <a16:creationId xmlns:a16="http://schemas.microsoft.com/office/drawing/2014/main" id="{1074A399-2608-5DCD-2838-5E294BB94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73584"/>
            <a:ext cx="6858000" cy="3788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5981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1C74E-B8A0-8BF9-79C1-CD37767C0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81F2B96F-D8C9-9475-86BB-73518CB49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42DE9A58-148E-5AA4-231C-FFF100390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八音變調規則圖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48DD8A0-3742-8A88-3818-53C08BAD4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45" y="8782881"/>
            <a:ext cx="6358908" cy="3513008"/>
          </a:xfrm>
          <a:prstGeom prst="rect">
            <a:avLst/>
          </a:prstGeom>
        </p:spPr>
      </p:pic>
      <p:sp>
        <p:nvSpPr>
          <p:cNvPr id="2" name="流程圖: 替代程序 1">
            <a:extLst>
              <a:ext uri="{FF2B5EF4-FFF2-40B4-BE49-F238E27FC236}">
                <a16:creationId xmlns:a16="http://schemas.microsoft.com/office/drawing/2014/main" id="{ED0AFEE9-A273-1F51-5065-673D8208075D}"/>
              </a:ext>
            </a:extLst>
          </p:cNvPr>
          <p:cNvSpPr/>
          <p:nvPr/>
        </p:nvSpPr>
        <p:spPr>
          <a:xfrm>
            <a:off x="403746" y="1663099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【1】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花車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[hue¹⁻⁶ cia¹]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3" name="流程圖: 替代程序 2">
            <a:extLst>
              <a:ext uri="{FF2B5EF4-FFF2-40B4-BE49-F238E27FC236}">
                <a16:creationId xmlns:a16="http://schemas.microsoft.com/office/drawing/2014/main" id="{8284D1F8-72FB-1A7D-ABE4-29EB1DA6BB1E}"/>
              </a:ext>
            </a:extLst>
          </p:cNvPr>
          <p:cNvSpPr/>
          <p:nvPr/>
        </p:nvSpPr>
        <p:spPr>
          <a:xfrm>
            <a:off x="403746" y="4750904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【3】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火車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[hue³⁻¹ cia¹]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5" name="流程圖: 替代程序 4">
            <a:extLst>
              <a:ext uri="{FF2B5EF4-FFF2-40B4-BE49-F238E27FC236}">
                <a16:creationId xmlns:a16="http://schemas.microsoft.com/office/drawing/2014/main" id="{B63F016F-20BF-1205-28E3-3E4979820879}"/>
              </a:ext>
            </a:extLst>
          </p:cNvPr>
          <p:cNvSpPr/>
          <p:nvPr/>
        </p:nvSpPr>
        <p:spPr>
          <a:xfrm>
            <a:off x="4341344" y="4750904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【5】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貨車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[hue⁵⁻³ cia¹]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6" name="流程圖: 替代程序 5">
            <a:extLst>
              <a:ext uri="{FF2B5EF4-FFF2-40B4-BE49-F238E27FC236}">
                <a16:creationId xmlns:a16="http://schemas.microsoft.com/office/drawing/2014/main" id="{AFBB7F9F-F424-649B-0062-73E1F032222F}"/>
              </a:ext>
            </a:extLst>
          </p:cNvPr>
          <p:cNvSpPr/>
          <p:nvPr/>
        </p:nvSpPr>
        <p:spPr>
          <a:xfrm>
            <a:off x="403746" y="7665142"/>
            <a:ext cx="2083241" cy="755374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【7】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骨頭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[gut⁷⁻⁸ tao²]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BCADC31C-741A-0112-2967-3C52EFDA7A5B}"/>
              </a:ext>
            </a:extLst>
          </p:cNvPr>
          <p:cNvSpPr/>
          <p:nvPr/>
        </p:nvSpPr>
        <p:spPr>
          <a:xfrm>
            <a:off x="4341344" y="7659856"/>
            <a:ext cx="2083241" cy="755374"/>
          </a:xfrm>
          <a:prstGeom prst="flowChartAlternateProcess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【8】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轉頭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[wat⁸⁻⁷ tao²]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9" name="流程圖: 替代程序 8">
            <a:extLst>
              <a:ext uri="{FF2B5EF4-FFF2-40B4-BE49-F238E27FC236}">
                <a16:creationId xmlns:a16="http://schemas.microsoft.com/office/drawing/2014/main" id="{807B889B-E1C1-B549-4C20-9074259CF512}"/>
              </a:ext>
            </a:extLst>
          </p:cNvPr>
          <p:cNvSpPr/>
          <p:nvPr/>
        </p:nvSpPr>
        <p:spPr>
          <a:xfrm>
            <a:off x="4341344" y="1663099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【6】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會車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[hue⁶⁻⁵ cia¹]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10" name="流程圖: 替代程序 9">
            <a:extLst>
              <a:ext uri="{FF2B5EF4-FFF2-40B4-BE49-F238E27FC236}">
                <a16:creationId xmlns:a16="http://schemas.microsoft.com/office/drawing/2014/main" id="{EFC5146C-C9F9-765A-F836-2C0801A5CAC8}"/>
              </a:ext>
            </a:extLst>
          </p:cNvPr>
          <p:cNvSpPr/>
          <p:nvPr/>
        </p:nvSpPr>
        <p:spPr>
          <a:xfrm>
            <a:off x="2372545" y="3167595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【2】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回車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[hue²⁻⁶ cia¹]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092EA716-F98F-4B60-9983-63F5E25C4575}"/>
              </a:ext>
            </a:extLst>
          </p:cNvPr>
          <p:cNvCxnSpPr>
            <a:cxnSpLocks/>
            <a:stCxn id="9" idx="2"/>
            <a:endCxn id="5" idx="0"/>
          </p:cNvCxnSpPr>
          <p:nvPr/>
        </p:nvCxnSpPr>
        <p:spPr>
          <a:xfrm>
            <a:off x="5382965" y="2418473"/>
            <a:ext cx="0" cy="23324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474D504B-625D-B4E9-3BD1-5666E2909693}"/>
              </a:ext>
            </a:extLst>
          </p:cNvPr>
          <p:cNvCxnSpPr>
            <a:cxnSpLocks/>
          </p:cNvCxnSpPr>
          <p:nvPr/>
        </p:nvCxnSpPr>
        <p:spPr>
          <a:xfrm flipH="1">
            <a:off x="2485162" y="8158138"/>
            <a:ext cx="1889047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DF4B664-1EFA-008D-94E1-2EA1154780CA}"/>
              </a:ext>
            </a:extLst>
          </p:cNvPr>
          <p:cNvCxnSpPr>
            <a:cxnSpLocks/>
          </p:cNvCxnSpPr>
          <p:nvPr/>
        </p:nvCxnSpPr>
        <p:spPr>
          <a:xfrm>
            <a:off x="2470163" y="7913798"/>
            <a:ext cx="1868737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FCEE50F7-A9E3-ACAB-3880-0FE9A8B64490}"/>
              </a:ext>
            </a:extLst>
          </p:cNvPr>
          <p:cNvCxnSpPr>
            <a:cxnSpLocks/>
          </p:cNvCxnSpPr>
          <p:nvPr/>
        </p:nvCxnSpPr>
        <p:spPr>
          <a:xfrm>
            <a:off x="2486987" y="2040786"/>
            <a:ext cx="18543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93FEA001-7547-AE15-4E8D-29822B149BD8}"/>
              </a:ext>
            </a:extLst>
          </p:cNvPr>
          <p:cNvCxnSpPr>
            <a:cxnSpLocks/>
            <a:stCxn id="6" idx="0"/>
            <a:endCxn id="3" idx="2"/>
          </p:cNvCxnSpPr>
          <p:nvPr/>
        </p:nvCxnSpPr>
        <p:spPr>
          <a:xfrm flipV="1">
            <a:off x="1445367" y="5506278"/>
            <a:ext cx="0" cy="215886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E21F5137-03AC-5267-FC59-1BFAEC09832C}"/>
              </a:ext>
            </a:extLst>
          </p:cNvPr>
          <p:cNvCxnSpPr>
            <a:cxnSpLocks/>
            <a:stCxn id="3" idx="0"/>
            <a:endCxn id="2" idx="2"/>
          </p:cNvCxnSpPr>
          <p:nvPr/>
        </p:nvCxnSpPr>
        <p:spPr>
          <a:xfrm flipV="1">
            <a:off x="1445367" y="2418473"/>
            <a:ext cx="0" cy="23324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8D84304-9B95-1471-BE1D-427A1FFEEE98}"/>
              </a:ext>
            </a:extLst>
          </p:cNvPr>
          <p:cNvSpPr txBox="1"/>
          <p:nvPr/>
        </p:nvSpPr>
        <p:spPr>
          <a:xfrm>
            <a:off x="3084060" y="7562576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p/t/k</a:t>
            </a:r>
            <a:endParaRPr lang="zh-TW" altLang="en-US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C7FFAFD7-DF9C-0AFA-5685-F3F449D425FA}"/>
              </a:ext>
            </a:extLst>
          </p:cNvPr>
          <p:cNvSpPr txBox="1"/>
          <p:nvPr/>
        </p:nvSpPr>
        <p:spPr>
          <a:xfrm>
            <a:off x="3084060" y="8136043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p/t/k</a:t>
            </a:r>
            <a:endParaRPr lang="zh-TW" altLang="en-US">
              <a:solidFill>
                <a:schemeClr val="accent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0EE0012C-A180-EADC-15D4-B6FB77FC787F}"/>
              </a:ext>
            </a:extLst>
          </p:cNvPr>
          <p:cNvSpPr txBox="1"/>
          <p:nvPr/>
        </p:nvSpPr>
        <p:spPr>
          <a:xfrm>
            <a:off x="5153484" y="6343639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h</a:t>
            </a:r>
            <a:endParaRPr lang="zh-TW" altLang="en-US">
              <a:solidFill>
                <a:schemeClr val="accent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5307F004-F7A3-8E17-6C06-0C6B03D88049}"/>
              </a:ext>
            </a:extLst>
          </p:cNvPr>
          <p:cNvSpPr txBox="1"/>
          <p:nvPr/>
        </p:nvSpPr>
        <p:spPr>
          <a:xfrm>
            <a:off x="1445600" y="6343639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h</a:t>
            </a:r>
            <a:endParaRPr lang="zh-TW" altLang="en-US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AD815132-9A96-8111-E1F1-23070A0F3C78}"/>
              </a:ext>
            </a:extLst>
          </p:cNvPr>
          <p:cNvSpPr/>
          <p:nvPr/>
        </p:nvSpPr>
        <p:spPr>
          <a:xfrm>
            <a:off x="2982273" y="6694861"/>
            <a:ext cx="2324277" cy="369332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白頭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〔beh⁸⁻⁵ tao²〕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67963C57-D72E-D251-2B14-4FA5796A890B}"/>
              </a:ext>
            </a:extLst>
          </p:cNvPr>
          <p:cNvSpPr/>
          <p:nvPr/>
        </p:nvSpPr>
        <p:spPr>
          <a:xfrm>
            <a:off x="1517676" y="5974306"/>
            <a:ext cx="2247645" cy="426493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拍頭 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[pah⁷⁻³ tao²]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8878B7C0-1526-F6B1-DBC9-F68284D09385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5382965" y="5506278"/>
            <a:ext cx="0" cy="2153578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59D235E2-5817-CED7-B801-06586D443342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414166" y="2430655"/>
            <a:ext cx="960043" cy="7369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3C04F1AF-3788-DA87-20F1-D0FF12B97BBA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3414166" y="3922969"/>
            <a:ext cx="924734" cy="875969"/>
          </a:xfrm>
          <a:prstGeom prst="straightConnector1">
            <a:avLst/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8C49887D-2659-12C2-AEDF-DE9146E7CCF5}"/>
              </a:ext>
            </a:extLst>
          </p:cNvPr>
          <p:cNvCxnSpPr>
            <a:cxnSpLocks/>
            <a:stCxn id="5" idx="1"/>
            <a:endCxn id="3" idx="3"/>
          </p:cNvCxnSpPr>
          <p:nvPr/>
        </p:nvCxnSpPr>
        <p:spPr>
          <a:xfrm flipH="1">
            <a:off x="2486987" y="5128591"/>
            <a:ext cx="18543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EF3DD6CD-6854-6927-F517-6DFE33EA4860}"/>
              </a:ext>
            </a:extLst>
          </p:cNvPr>
          <p:cNvSpPr txBox="1"/>
          <p:nvPr/>
        </p:nvSpPr>
        <p:spPr>
          <a:xfrm>
            <a:off x="3894187" y="2777727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漳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3A0E23BF-84CD-8B17-9B80-E2621A123804}"/>
              </a:ext>
            </a:extLst>
          </p:cNvPr>
          <p:cNvSpPr txBox="1"/>
          <p:nvPr/>
        </p:nvSpPr>
        <p:spPr>
          <a:xfrm>
            <a:off x="3874624" y="4031963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泉</a:t>
            </a:r>
          </a:p>
        </p:txBody>
      </p:sp>
    </p:spTree>
    <p:extLst>
      <p:ext uri="{BB962C8B-B14F-4D97-AF65-F5344CB8AC3E}">
        <p14:creationId xmlns:p14="http://schemas.microsoft.com/office/powerpoint/2010/main" val="1223798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2A2643-0E9B-B164-6B76-EF7AFFF99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629" y="669870"/>
            <a:ext cx="5915025" cy="2356556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8" name="流程圖: 替代程序 37">
            <a:extLst>
              <a:ext uri="{FF2B5EF4-FFF2-40B4-BE49-F238E27FC236}">
                <a16:creationId xmlns:a16="http://schemas.microsoft.com/office/drawing/2014/main" id="{F06E941B-1E39-1529-8709-7F7434651C6C}"/>
              </a:ext>
            </a:extLst>
          </p:cNvPr>
          <p:cNvSpPr/>
          <p:nvPr/>
        </p:nvSpPr>
        <p:spPr>
          <a:xfrm>
            <a:off x="320962" y="3674777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【1】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骹底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[ka¹⁻⁶ de³]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39" name="流程圖: 替代程序 38">
            <a:extLst>
              <a:ext uri="{FF2B5EF4-FFF2-40B4-BE49-F238E27FC236}">
                <a16:creationId xmlns:a16="http://schemas.microsoft.com/office/drawing/2014/main" id="{D3A9B982-490F-7F20-E46F-9FA6ED5A547C}"/>
              </a:ext>
            </a:extLst>
          </p:cNvPr>
          <p:cNvSpPr/>
          <p:nvPr/>
        </p:nvSpPr>
        <p:spPr>
          <a:xfrm>
            <a:off x="320962" y="7212830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【3】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手心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[ciu³⁻¹ sim¹]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40" name="流程圖: 替代程序 39">
            <a:extLst>
              <a:ext uri="{FF2B5EF4-FFF2-40B4-BE49-F238E27FC236}">
                <a16:creationId xmlns:a16="http://schemas.microsoft.com/office/drawing/2014/main" id="{167605DE-5076-088B-454D-62FA1655E529}"/>
              </a:ext>
            </a:extLst>
          </p:cNvPr>
          <p:cNvSpPr/>
          <p:nvPr/>
        </p:nvSpPr>
        <p:spPr>
          <a:xfrm>
            <a:off x="4258560" y="7212830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【5】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嘴齒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[cui⁵⁻³ ki³]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41" name="流程圖: 替代程序 40">
            <a:extLst>
              <a:ext uri="{FF2B5EF4-FFF2-40B4-BE49-F238E27FC236}">
                <a16:creationId xmlns:a16="http://schemas.microsoft.com/office/drawing/2014/main" id="{D8D854A7-302A-8F8B-FE9C-D13ED2AC7DBE}"/>
              </a:ext>
            </a:extLst>
          </p:cNvPr>
          <p:cNvSpPr/>
          <p:nvPr/>
        </p:nvSpPr>
        <p:spPr>
          <a:xfrm>
            <a:off x="320962" y="10305774"/>
            <a:ext cx="2083241" cy="755374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【7】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骨頭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[gut⁷⁻⁸ tao²]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42" name="流程圖: 替代程序 41">
            <a:extLst>
              <a:ext uri="{FF2B5EF4-FFF2-40B4-BE49-F238E27FC236}">
                <a16:creationId xmlns:a16="http://schemas.microsoft.com/office/drawing/2014/main" id="{567F79D8-7BBA-C96F-66F2-8A4CEE39B15E}"/>
              </a:ext>
            </a:extLst>
          </p:cNvPr>
          <p:cNvSpPr/>
          <p:nvPr/>
        </p:nvSpPr>
        <p:spPr>
          <a:xfrm>
            <a:off x="4258560" y="10300488"/>
            <a:ext cx="2083241" cy="755374"/>
          </a:xfrm>
          <a:prstGeom prst="flowChartAlternateProcess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【8】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目睭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[bbak⁸⁻⁷ ziu¹]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43" name="流程圖: 替代程序 42">
            <a:extLst>
              <a:ext uri="{FF2B5EF4-FFF2-40B4-BE49-F238E27FC236}">
                <a16:creationId xmlns:a16="http://schemas.microsoft.com/office/drawing/2014/main" id="{EAF1264E-AC69-230C-97A5-1A91071385C9}"/>
              </a:ext>
            </a:extLst>
          </p:cNvPr>
          <p:cNvSpPr/>
          <p:nvPr/>
        </p:nvSpPr>
        <p:spPr>
          <a:xfrm>
            <a:off x="4258560" y="3674777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【6】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鼻孔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[pni⁶⁻⁵ kang¹]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44" name="流程圖: 替代程序 43">
            <a:extLst>
              <a:ext uri="{FF2B5EF4-FFF2-40B4-BE49-F238E27FC236}">
                <a16:creationId xmlns:a16="http://schemas.microsoft.com/office/drawing/2014/main" id="{076B5E65-FE3D-997C-2CFA-B2540C08F998}"/>
              </a:ext>
            </a:extLst>
          </p:cNvPr>
          <p:cNvSpPr/>
          <p:nvPr/>
        </p:nvSpPr>
        <p:spPr>
          <a:xfrm>
            <a:off x="2289761" y="5429093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【2】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頭殼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[tao²⁻⁶ kak⁷]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cxnSp>
        <p:nvCxnSpPr>
          <p:cNvPr id="47" name="直線單箭頭接點 46">
            <a:extLst>
              <a:ext uri="{FF2B5EF4-FFF2-40B4-BE49-F238E27FC236}">
                <a16:creationId xmlns:a16="http://schemas.microsoft.com/office/drawing/2014/main" id="{BE4E1FE6-F0D5-82C2-A531-D2DE5AAC8944}"/>
              </a:ext>
            </a:extLst>
          </p:cNvPr>
          <p:cNvCxnSpPr>
            <a:cxnSpLocks/>
            <a:stCxn id="43" idx="2"/>
            <a:endCxn id="40" idx="0"/>
          </p:cNvCxnSpPr>
          <p:nvPr/>
        </p:nvCxnSpPr>
        <p:spPr>
          <a:xfrm>
            <a:off x="5300181" y="4430151"/>
            <a:ext cx="0" cy="27826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單箭頭接點 47">
            <a:extLst>
              <a:ext uri="{FF2B5EF4-FFF2-40B4-BE49-F238E27FC236}">
                <a16:creationId xmlns:a16="http://schemas.microsoft.com/office/drawing/2014/main" id="{31AD153A-0F8C-8DF1-1D4F-C12B68AF080C}"/>
              </a:ext>
            </a:extLst>
          </p:cNvPr>
          <p:cNvCxnSpPr>
            <a:cxnSpLocks/>
          </p:cNvCxnSpPr>
          <p:nvPr/>
        </p:nvCxnSpPr>
        <p:spPr>
          <a:xfrm flipH="1">
            <a:off x="2402378" y="10798770"/>
            <a:ext cx="1889047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單箭頭接點 48">
            <a:extLst>
              <a:ext uri="{FF2B5EF4-FFF2-40B4-BE49-F238E27FC236}">
                <a16:creationId xmlns:a16="http://schemas.microsoft.com/office/drawing/2014/main" id="{9C215AC0-E098-CE9D-7921-C65677B215B0}"/>
              </a:ext>
            </a:extLst>
          </p:cNvPr>
          <p:cNvCxnSpPr>
            <a:cxnSpLocks/>
          </p:cNvCxnSpPr>
          <p:nvPr/>
        </p:nvCxnSpPr>
        <p:spPr>
          <a:xfrm>
            <a:off x="2387379" y="10554430"/>
            <a:ext cx="1868737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9FDD3231-FAE5-F4D0-F967-5D2C074A66DE}"/>
              </a:ext>
            </a:extLst>
          </p:cNvPr>
          <p:cNvCxnSpPr>
            <a:cxnSpLocks/>
          </p:cNvCxnSpPr>
          <p:nvPr/>
        </p:nvCxnSpPr>
        <p:spPr>
          <a:xfrm>
            <a:off x="2404203" y="4052464"/>
            <a:ext cx="18543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B2A7CA1E-C8D4-26BC-72D7-FAC5813A0D48}"/>
              </a:ext>
            </a:extLst>
          </p:cNvPr>
          <p:cNvCxnSpPr>
            <a:cxnSpLocks/>
            <a:stCxn id="41" idx="0"/>
            <a:endCxn id="39" idx="2"/>
          </p:cNvCxnSpPr>
          <p:nvPr/>
        </p:nvCxnSpPr>
        <p:spPr>
          <a:xfrm flipV="1">
            <a:off x="1362583" y="7968204"/>
            <a:ext cx="0" cy="233757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線單箭頭接點 51">
            <a:extLst>
              <a:ext uri="{FF2B5EF4-FFF2-40B4-BE49-F238E27FC236}">
                <a16:creationId xmlns:a16="http://schemas.microsoft.com/office/drawing/2014/main" id="{A7A589D5-26CC-FF1B-A3C8-D035885DD043}"/>
              </a:ext>
            </a:extLst>
          </p:cNvPr>
          <p:cNvCxnSpPr>
            <a:cxnSpLocks/>
            <a:stCxn id="39" idx="0"/>
            <a:endCxn id="38" idx="2"/>
          </p:cNvCxnSpPr>
          <p:nvPr/>
        </p:nvCxnSpPr>
        <p:spPr>
          <a:xfrm flipV="1">
            <a:off x="1362583" y="4430151"/>
            <a:ext cx="0" cy="27826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6E237EE6-E482-563E-F11A-39ED01B6A47E}"/>
              </a:ext>
            </a:extLst>
          </p:cNvPr>
          <p:cNvSpPr txBox="1"/>
          <p:nvPr/>
        </p:nvSpPr>
        <p:spPr>
          <a:xfrm>
            <a:off x="3001276" y="1020320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p/t/k</a:t>
            </a:r>
            <a:endParaRPr lang="zh-TW" altLang="en-US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F55A0878-1974-E28C-555E-116998776285}"/>
              </a:ext>
            </a:extLst>
          </p:cNvPr>
          <p:cNvSpPr txBox="1"/>
          <p:nvPr/>
        </p:nvSpPr>
        <p:spPr>
          <a:xfrm>
            <a:off x="3001276" y="10776675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p/t/k</a:t>
            </a:r>
            <a:endParaRPr lang="zh-TW" altLang="en-US">
              <a:solidFill>
                <a:schemeClr val="accent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C0D93D3-146D-7374-E1D1-3D47D222EF3C}"/>
              </a:ext>
            </a:extLst>
          </p:cNvPr>
          <p:cNvSpPr txBox="1"/>
          <p:nvPr/>
        </p:nvSpPr>
        <p:spPr>
          <a:xfrm>
            <a:off x="5070700" y="9095152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h</a:t>
            </a:r>
            <a:endParaRPr lang="zh-TW" altLang="en-US">
              <a:solidFill>
                <a:schemeClr val="accent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897F0D6B-A635-B141-243A-D568BB8AE6CA}"/>
              </a:ext>
            </a:extLst>
          </p:cNvPr>
          <p:cNvSpPr txBox="1"/>
          <p:nvPr/>
        </p:nvSpPr>
        <p:spPr>
          <a:xfrm>
            <a:off x="1362816" y="9095152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h</a:t>
            </a:r>
            <a:endParaRPr lang="zh-TW" altLang="en-US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58" name="矩形: 圓角 57">
            <a:extLst>
              <a:ext uri="{FF2B5EF4-FFF2-40B4-BE49-F238E27FC236}">
                <a16:creationId xmlns:a16="http://schemas.microsoft.com/office/drawing/2014/main" id="{0AF49147-FF21-5491-F7FF-A610E2CF9924}"/>
              </a:ext>
            </a:extLst>
          </p:cNvPr>
          <p:cNvSpPr/>
          <p:nvPr/>
        </p:nvSpPr>
        <p:spPr>
          <a:xfrm>
            <a:off x="2834395" y="9446374"/>
            <a:ext cx="2389371" cy="369332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白目 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[Beh⁸⁻⁵ bbak⁸]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386C6AF-108D-B3E7-6E9F-7B86206AD73B}"/>
              </a:ext>
            </a:extLst>
          </p:cNvPr>
          <p:cNvSpPr/>
          <p:nvPr/>
        </p:nvSpPr>
        <p:spPr>
          <a:xfrm>
            <a:off x="1434893" y="8725820"/>
            <a:ext cx="2187818" cy="369332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拍破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[pah⁷⁻³ pua⁵]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cxnSp>
        <p:nvCxnSpPr>
          <p:cNvPr id="80" name="直線單箭頭接點 79">
            <a:extLst>
              <a:ext uri="{FF2B5EF4-FFF2-40B4-BE49-F238E27FC236}">
                <a16:creationId xmlns:a16="http://schemas.microsoft.com/office/drawing/2014/main" id="{0CC098EA-9685-CC88-3C39-5820B8EE3406}"/>
              </a:ext>
            </a:extLst>
          </p:cNvPr>
          <p:cNvCxnSpPr>
            <a:cxnSpLocks/>
          </p:cNvCxnSpPr>
          <p:nvPr/>
        </p:nvCxnSpPr>
        <p:spPr>
          <a:xfrm flipV="1">
            <a:off x="5300181" y="7968204"/>
            <a:ext cx="0" cy="233228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FDE85902-EECC-3EFB-7253-1008B188136B}"/>
              </a:ext>
            </a:extLst>
          </p:cNvPr>
          <p:cNvCxnSpPr>
            <a:cxnSpLocks/>
          </p:cNvCxnSpPr>
          <p:nvPr/>
        </p:nvCxnSpPr>
        <p:spPr>
          <a:xfrm flipH="1">
            <a:off x="2404203" y="7590517"/>
            <a:ext cx="18543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直線單箭頭接點 102">
            <a:extLst>
              <a:ext uri="{FF2B5EF4-FFF2-40B4-BE49-F238E27FC236}">
                <a16:creationId xmlns:a16="http://schemas.microsoft.com/office/drawing/2014/main" id="{DFAB0589-7685-EE6D-E836-7FE299DEFA86}"/>
              </a:ext>
            </a:extLst>
          </p:cNvPr>
          <p:cNvCxnSpPr>
            <a:cxnSpLocks/>
          </p:cNvCxnSpPr>
          <p:nvPr/>
        </p:nvCxnSpPr>
        <p:spPr>
          <a:xfrm flipV="1">
            <a:off x="3331382" y="4405745"/>
            <a:ext cx="941360" cy="10233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直線單箭頭接點 103">
            <a:extLst>
              <a:ext uri="{FF2B5EF4-FFF2-40B4-BE49-F238E27FC236}">
                <a16:creationId xmlns:a16="http://schemas.microsoft.com/office/drawing/2014/main" id="{D3700883-ED0C-10C8-555E-F988EB0EB735}"/>
              </a:ext>
            </a:extLst>
          </p:cNvPr>
          <p:cNvCxnSpPr>
            <a:cxnSpLocks/>
          </p:cNvCxnSpPr>
          <p:nvPr/>
        </p:nvCxnSpPr>
        <p:spPr>
          <a:xfrm>
            <a:off x="3331382" y="6184467"/>
            <a:ext cx="924734" cy="1082075"/>
          </a:xfrm>
          <a:prstGeom prst="straightConnector1">
            <a:avLst/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7FCFAFC6-17F3-DEB5-19BD-D7650CDDED0E}"/>
              </a:ext>
            </a:extLst>
          </p:cNvPr>
          <p:cNvSpPr txBox="1"/>
          <p:nvPr/>
        </p:nvSpPr>
        <p:spPr>
          <a:xfrm>
            <a:off x="3816838" y="4820019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漳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B66DB96C-9230-9F43-2458-03B39C85D7A8}"/>
              </a:ext>
            </a:extLst>
          </p:cNvPr>
          <p:cNvSpPr txBox="1"/>
          <p:nvPr/>
        </p:nvSpPr>
        <p:spPr>
          <a:xfrm>
            <a:off x="3816838" y="6410697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泉</a:t>
            </a:r>
          </a:p>
        </p:txBody>
      </p:sp>
    </p:spTree>
    <p:extLst>
      <p:ext uri="{BB962C8B-B14F-4D97-AF65-F5344CB8AC3E}">
        <p14:creationId xmlns:p14="http://schemas.microsoft.com/office/powerpoint/2010/main" val="2570783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0F549-A917-9456-4E4B-D79E0800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C638FC-D5C3-1897-9260-0D9B15311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629" y="669870"/>
            <a:ext cx="5915025" cy="2356556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8" name="流程圖: 替代程序 37">
            <a:extLst>
              <a:ext uri="{FF2B5EF4-FFF2-40B4-BE49-F238E27FC236}">
                <a16:creationId xmlns:a16="http://schemas.microsoft.com/office/drawing/2014/main" id="{902E8141-7EF8-5DEF-E700-8FF7021A01FF}"/>
              </a:ext>
            </a:extLst>
          </p:cNvPr>
          <p:cNvSpPr/>
          <p:nvPr/>
        </p:nvSpPr>
        <p:spPr>
          <a:xfrm>
            <a:off x="320962" y="3674777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【1】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花車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[hue¹⁻⁶ cia¹]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39" name="流程圖: 替代程序 38">
            <a:extLst>
              <a:ext uri="{FF2B5EF4-FFF2-40B4-BE49-F238E27FC236}">
                <a16:creationId xmlns:a16="http://schemas.microsoft.com/office/drawing/2014/main" id="{18B07E19-CF7A-5D6E-8DDE-955133AD4FD4}"/>
              </a:ext>
            </a:extLst>
          </p:cNvPr>
          <p:cNvSpPr/>
          <p:nvPr/>
        </p:nvSpPr>
        <p:spPr>
          <a:xfrm>
            <a:off x="320962" y="7212830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【3】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火車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[hue³⁻¹ cia¹]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40" name="流程圖: 替代程序 39">
            <a:extLst>
              <a:ext uri="{FF2B5EF4-FFF2-40B4-BE49-F238E27FC236}">
                <a16:creationId xmlns:a16="http://schemas.microsoft.com/office/drawing/2014/main" id="{F5FB1419-B313-6964-C323-0A3A2177471B}"/>
              </a:ext>
            </a:extLst>
          </p:cNvPr>
          <p:cNvSpPr/>
          <p:nvPr/>
        </p:nvSpPr>
        <p:spPr>
          <a:xfrm>
            <a:off x="4258560" y="7212830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【5】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貨車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[hue⁵⁻³ cia¹]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41" name="流程圖: 替代程序 40">
            <a:extLst>
              <a:ext uri="{FF2B5EF4-FFF2-40B4-BE49-F238E27FC236}">
                <a16:creationId xmlns:a16="http://schemas.microsoft.com/office/drawing/2014/main" id="{25EA1BD7-E649-51C4-CD82-E2D84EF6444E}"/>
              </a:ext>
            </a:extLst>
          </p:cNvPr>
          <p:cNvSpPr/>
          <p:nvPr/>
        </p:nvSpPr>
        <p:spPr>
          <a:xfrm>
            <a:off x="320962" y="10305774"/>
            <a:ext cx="2083241" cy="755374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【7】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骨頭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 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[gut⁷⁻⁸ tao²]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42" name="流程圖: 替代程序 41">
            <a:extLst>
              <a:ext uri="{FF2B5EF4-FFF2-40B4-BE49-F238E27FC236}">
                <a16:creationId xmlns:a16="http://schemas.microsoft.com/office/drawing/2014/main" id="{0348E340-2E93-0E40-67AB-9AC51A5F136D}"/>
              </a:ext>
            </a:extLst>
          </p:cNvPr>
          <p:cNvSpPr/>
          <p:nvPr/>
        </p:nvSpPr>
        <p:spPr>
          <a:xfrm>
            <a:off x="4258560" y="10300488"/>
            <a:ext cx="2083241" cy="755374"/>
          </a:xfrm>
          <a:prstGeom prst="flowChartAlternateProcess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【8】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轉頭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[wat⁸⁻⁷ tao²]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43" name="流程圖: 替代程序 42">
            <a:extLst>
              <a:ext uri="{FF2B5EF4-FFF2-40B4-BE49-F238E27FC236}">
                <a16:creationId xmlns:a16="http://schemas.microsoft.com/office/drawing/2014/main" id="{8DA795E5-97C8-7A2F-8A79-709210A314BA}"/>
              </a:ext>
            </a:extLst>
          </p:cNvPr>
          <p:cNvSpPr/>
          <p:nvPr/>
        </p:nvSpPr>
        <p:spPr>
          <a:xfrm>
            <a:off x="4258560" y="3674777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【6】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會車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[hue⁶⁻⁵ cia¹]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44" name="流程圖: 替代程序 43">
            <a:extLst>
              <a:ext uri="{FF2B5EF4-FFF2-40B4-BE49-F238E27FC236}">
                <a16:creationId xmlns:a16="http://schemas.microsoft.com/office/drawing/2014/main" id="{AD491773-C4F4-35BC-BA9A-00777E63230C}"/>
              </a:ext>
            </a:extLst>
          </p:cNvPr>
          <p:cNvSpPr/>
          <p:nvPr/>
        </p:nvSpPr>
        <p:spPr>
          <a:xfrm>
            <a:off x="2289761" y="5429093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【2】</a:t>
            </a:r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回車</a:t>
            </a:r>
            <a:b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</a:b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[hue²⁻⁶ cia¹]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cxnSp>
        <p:nvCxnSpPr>
          <p:cNvPr id="47" name="直線單箭頭接點 46">
            <a:extLst>
              <a:ext uri="{FF2B5EF4-FFF2-40B4-BE49-F238E27FC236}">
                <a16:creationId xmlns:a16="http://schemas.microsoft.com/office/drawing/2014/main" id="{D7304F08-68A2-16E6-F8B9-F8C1F0934DA5}"/>
              </a:ext>
            </a:extLst>
          </p:cNvPr>
          <p:cNvCxnSpPr>
            <a:cxnSpLocks/>
            <a:stCxn id="43" idx="2"/>
            <a:endCxn id="40" idx="0"/>
          </p:cNvCxnSpPr>
          <p:nvPr/>
        </p:nvCxnSpPr>
        <p:spPr>
          <a:xfrm>
            <a:off x="5300181" y="4430151"/>
            <a:ext cx="0" cy="27826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單箭頭接點 47">
            <a:extLst>
              <a:ext uri="{FF2B5EF4-FFF2-40B4-BE49-F238E27FC236}">
                <a16:creationId xmlns:a16="http://schemas.microsoft.com/office/drawing/2014/main" id="{86A24A0D-F6AC-7353-BEED-567D6677D8EA}"/>
              </a:ext>
            </a:extLst>
          </p:cNvPr>
          <p:cNvCxnSpPr>
            <a:cxnSpLocks/>
          </p:cNvCxnSpPr>
          <p:nvPr/>
        </p:nvCxnSpPr>
        <p:spPr>
          <a:xfrm flipH="1">
            <a:off x="2402378" y="10798770"/>
            <a:ext cx="1889047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單箭頭接點 48">
            <a:extLst>
              <a:ext uri="{FF2B5EF4-FFF2-40B4-BE49-F238E27FC236}">
                <a16:creationId xmlns:a16="http://schemas.microsoft.com/office/drawing/2014/main" id="{5ECA1F50-981E-CDE7-E57F-452F1A44857E}"/>
              </a:ext>
            </a:extLst>
          </p:cNvPr>
          <p:cNvCxnSpPr>
            <a:cxnSpLocks/>
          </p:cNvCxnSpPr>
          <p:nvPr/>
        </p:nvCxnSpPr>
        <p:spPr>
          <a:xfrm>
            <a:off x="2387379" y="10554430"/>
            <a:ext cx="1868737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DAAF522E-942D-0CE6-FF45-C8A0804ADD4A}"/>
              </a:ext>
            </a:extLst>
          </p:cNvPr>
          <p:cNvCxnSpPr>
            <a:cxnSpLocks/>
          </p:cNvCxnSpPr>
          <p:nvPr/>
        </p:nvCxnSpPr>
        <p:spPr>
          <a:xfrm>
            <a:off x="2404203" y="4052464"/>
            <a:ext cx="18543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A582E7B1-70BD-1E02-6320-8DEAC8C935CC}"/>
              </a:ext>
            </a:extLst>
          </p:cNvPr>
          <p:cNvCxnSpPr>
            <a:cxnSpLocks/>
            <a:stCxn id="41" idx="0"/>
            <a:endCxn id="39" idx="2"/>
          </p:cNvCxnSpPr>
          <p:nvPr/>
        </p:nvCxnSpPr>
        <p:spPr>
          <a:xfrm flipV="1">
            <a:off x="1362583" y="7968204"/>
            <a:ext cx="0" cy="233757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線單箭頭接點 51">
            <a:extLst>
              <a:ext uri="{FF2B5EF4-FFF2-40B4-BE49-F238E27FC236}">
                <a16:creationId xmlns:a16="http://schemas.microsoft.com/office/drawing/2014/main" id="{7215C5E3-A5C9-540B-EF52-CDF76EF650B2}"/>
              </a:ext>
            </a:extLst>
          </p:cNvPr>
          <p:cNvCxnSpPr>
            <a:cxnSpLocks/>
            <a:stCxn id="39" idx="0"/>
            <a:endCxn id="38" idx="2"/>
          </p:cNvCxnSpPr>
          <p:nvPr/>
        </p:nvCxnSpPr>
        <p:spPr>
          <a:xfrm flipV="1">
            <a:off x="1362583" y="4430151"/>
            <a:ext cx="0" cy="27826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647262E2-9615-7C25-B858-5C789303CE86}"/>
              </a:ext>
            </a:extLst>
          </p:cNvPr>
          <p:cNvSpPr txBox="1"/>
          <p:nvPr/>
        </p:nvSpPr>
        <p:spPr>
          <a:xfrm>
            <a:off x="3001276" y="1020320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p/t/k</a:t>
            </a:r>
            <a:endParaRPr lang="zh-TW" altLang="en-US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F46054B3-D2FC-73CF-2B0D-E28D7D9556C2}"/>
              </a:ext>
            </a:extLst>
          </p:cNvPr>
          <p:cNvSpPr txBox="1"/>
          <p:nvPr/>
        </p:nvSpPr>
        <p:spPr>
          <a:xfrm>
            <a:off x="3001276" y="10776675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p/t/k</a:t>
            </a:r>
            <a:endParaRPr lang="zh-TW" altLang="en-US">
              <a:solidFill>
                <a:schemeClr val="accent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FA1310AC-48FF-1E3E-6768-E666A7FD51FE}"/>
              </a:ext>
            </a:extLst>
          </p:cNvPr>
          <p:cNvSpPr txBox="1"/>
          <p:nvPr/>
        </p:nvSpPr>
        <p:spPr>
          <a:xfrm>
            <a:off x="5070700" y="9095152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h</a:t>
            </a:r>
            <a:endParaRPr lang="zh-TW" altLang="en-US">
              <a:solidFill>
                <a:schemeClr val="accent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7BD36804-3092-6D0C-BDD3-92FDD5423D07}"/>
              </a:ext>
            </a:extLst>
          </p:cNvPr>
          <p:cNvSpPr txBox="1"/>
          <p:nvPr/>
        </p:nvSpPr>
        <p:spPr>
          <a:xfrm>
            <a:off x="1362816" y="9095152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h</a:t>
            </a:r>
            <a:endParaRPr lang="zh-TW" altLang="en-US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58" name="矩形: 圓角 57">
            <a:extLst>
              <a:ext uri="{FF2B5EF4-FFF2-40B4-BE49-F238E27FC236}">
                <a16:creationId xmlns:a16="http://schemas.microsoft.com/office/drawing/2014/main" id="{2A83049B-C7B1-DF93-C61B-395A9F4107F3}"/>
              </a:ext>
            </a:extLst>
          </p:cNvPr>
          <p:cNvSpPr/>
          <p:nvPr/>
        </p:nvSpPr>
        <p:spPr>
          <a:xfrm>
            <a:off x="2899489" y="9446374"/>
            <a:ext cx="2324277" cy="369332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白頭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〔beh⁸⁻⁵ tao²〕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69095007-8326-FCE7-1224-EE22613BF14C}"/>
              </a:ext>
            </a:extLst>
          </p:cNvPr>
          <p:cNvSpPr/>
          <p:nvPr/>
        </p:nvSpPr>
        <p:spPr>
          <a:xfrm>
            <a:off x="1434892" y="8725819"/>
            <a:ext cx="2247645" cy="426493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拍頭 </a:t>
            </a:r>
            <a:r>
              <a:rPr lang="en-US" altLang="zh-TW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[pah⁷⁻³ tao²]</a:t>
            </a:r>
            <a:endParaRPr lang="zh-TW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emiBold" panose="02000500060000020004" pitchFamily="2" charset="0"/>
              <a:ea typeface="Noto Sans TC Medium" panose="020B0200000000000000" pitchFamily="34" charset="-128"/>
            </a:endParaRPr>
          </a:p>
        </p:txBody>
      </p:sp>
      <p:cxnSp>
        <p:nvCxnSpPr>
          <p:cNvPr id="80" name="直線單箭頭接點 79">
            <a:extLst>
              <a:ext uri="{FF2B5EF4-FFF2-40B4-BE49-F238E27FC236}">
                <a16:creationId xmlns:a16="http://schemas.microsoft.com/office/drawing/2014/main" id="{6F1FE431-0F4A-63BD-1E98-1EBB58C156BD}"/>
              </a:ext>
            </a:extLst>
          </p:cNvPr>
          <p:cNvCxnSpPr>
            <a:cxnSpLocks/>
          </p:cNvCxnSpPr>
          <p:nvPr/>
        </p:nvCxnSpPr>
        <p:spPr>
          <a:xfrm flipV="1">
            <a:off x="5300181" y="7968204"/>
            <a:ext cx="0" cy="233228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27E6B597-5E03-327F-1214-6C4BFCF9D4C7}"/>
              </a:ext>
            </a:extLst>
          </p:cNvPr>
          <p:cNvCxnSpPr>
            <a:cxnSpLocks/>
            <a:stCxn id="44" idx="0"/>
          </p:cNvCxnSpPr>
          <p:nvPr/>
        </p:nvCxnSpPr>
        <p:spPr>
          <a:xfrm flipV="1">
            <a:off x="3331382" y="4405745"/>
            <a:ext cx="941360" cy="10233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04BBE79D-28EC-4227-E3F7-B6599ED384F3}"/>
              </a:ext>
            </a:extLst>
          </p:cNvPr>
          <p:cNvCxnSpPr>
            <a:cxnSpLocks/>
            <a:stCxn id="44" idx="2"/>
          </p:cNvCxnSpPr>
          <p:nvPr/>
        </p:nvCxnSpPr>
        <p:spPr>
          <a:xfrm>
            <a:off x="3331382" y="6184467"/>
            <a:ext cx="924734" cy="1082075"/>
          </a:xfrm>
          <a:prstGeom prst="straightConnector1">
            <a:avLst/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2CCBDF45-E0FB-05CB-37BA-4CC59B659163}"/>
              </a:ext>
            </a:extLst>
          </p:cNvPr>
          <p:cNvCxnSpPr>
            <a:cxnSpLocks/>
            <a:stCxn id="40" idx="1"/>
            <a:endCxn id="39" idx="3"/>
          </p:cNvCxnSpPr>
          <p:nvPr/>
        </p:nvCxnSpPr>
        <p:spPr>
          <a:xfrm flipH="1">
            <a:off x="2404203" y="7590517"/>
            <a:ext cx="18543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F2E9AC45-4D16-4613-3AC1-31520842C9A0}"/>
              </a:ext>
            </a:extLst>
          </p:cNvPr>
          <p:cNvSpPr txBox="1"/>
          <p:nvPr/>
        </p:nvSpPr>
        <p:spPr>
          <a:xfrm>
            <a:off x="3816838" y="4820019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漳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82E7419-1107-A5EF-D6AE-4F85BB3BA81B}"/>
              </a:ext>
            </a:extLst>
          </p:cNvPr>
          <p:cNvSpPr txBox="1"/>
          <p:nvPr/>
        </p:nvSpPr>
        <p:spPr>
          <a:xfrm>
            <a:off x="3816838" y="6410697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emiBold" panose="02000500060000020004" pitchFamily="2" charset="0"/>
                <a:ea typeface="Noto Sans TC Medium" panose="020B0200000000000000" pitchFamily="34" charset="-128"/>
              </a:rPr>
              <a:t>泉</a:t>
            </a:r>
          </a:p>
        </p:txBody>
      </p:sp>
    </p:spTree>
    <p:extLst>
      <p:ext uri="{BB962C8B-B14F-4D97-AF65-F5344CB8AC3E}">
        <p14:creationId xmlns:p14="http://schemas.microsoft.com/office/powerpoint/2010/main" val="2690747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015D3C-8F01-E615-67FA-73DE6D6DB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D3A7918-05CA-F39C-D294-368AE2F33B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00162"/>
            <a:ext cx="6858000" cy="679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160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E010FF-764B-225B-1CA8-AED051EC8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2B28A89C-85E4-5C54-20D9-55615F1BA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312821"/>
            <a:ext cx="5915025" cy="647480"/>
          </a:xfrm>
        </p:spPr>
        <p:txBody>
          <a:bodyPr/>
          <a:lstStyle/>
          <a:p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八音變調圖（台灣</a:t>
            </a:r>
            <a:r>
              <a:rPr lang="en-US" altLang="zh-TW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</a:p>
        </p:txBody>
      </p:sp>
      <p:sp>
        <p:nvSpPr>
          <p:cNvPr id="5" name="流程圖: 替代程序 4">
            <a:extLst>
              <a:ext uri="{FF2B5EF4-FFF2-40B4-BE49-F238E27FC236}">
                <a16:creationId xmlns:a16="http://schemas.microsoft.com/office/drawing/2014/main" id="{F70ACDCF-4620-3F6A-E02D-11AFB8D27A8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3183" y="1290513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【1】</a:t>
            </a:r>
            <a:r>
              <a:rPr lang="zh-TW" altLang="en-US"/>
              <a:t>骹底</a:t>
            </a:r>
            <a:r>
              <a:rPr lang="en-US" altLang="zh-TW"/>
              <a:t> </a:t>
            </a:r>
            <a:br>
              <a:rPr lang="en-US" altLang="zh-TW"/>
            </a:br>
            <a:r>
              <a:rPr lang="en-US" altLang="zh-TW"/>
              <a:t>[ka¹⁻⁶ de³]</a:t>
            </a:r>
            <a:endParaRPr lang="zh-TW" altLang="en-US"/>
          </a:p>
        </p:txBody>
      </p:sp>
      <p:sp>
        <p:nvSpPr>
          <p:cNvPr id="6" name="流程圖: 替代程序 5">
            <a:extLst>
              <a:ext uri="{FF2B5EF4-FFF2-40B4-BE49-F238E27FC236}">
                <a16:creationId xmlns:a16="http://schemas.microsoft.com/office/drawing/2014/main" id="{AE9DD801-585C-E1C4-C795-123E9850C3E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3180" y="2819332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【3】</a:t>
            </a:r>
            <a:r>
              <a:rPr lang="zh-TW" altLang="en-US"/>
              <a:t>手心</a:t>
            </a:r>
            <a:r>
              <a:rPr lang="en-US" altLang="zh-TW"/>
              <a:t> </a:t>
            </a:r>
            <a:br>
              <a:rPr lang="en-US" altLang="zh-TW"/>
            </a:br>
            <a:r>
              <a:rPr lang="en-US" altLang="zh-TW"/>
              <a:t>[ciu³⁻¹ sim¹]</a:t>
            </a:r>
            <a:endParaRPr lang="zh-TW" altLang="en-US"/>
          </a:p>
        </p:txBody>
      </p:sp>
      <p:sp>
        <p:nvSpPr>
          <p:cNvPr id="7" name="流程圖: 替代程序 6">
            <a:extLst>
              <a:ext uri="{FF2B5EF4-FFF2-40B4-BE49-F238E27FC236}">
                <a16:creationId xmlns:a16="http://schemas.microsoft.com/office/drawing/2014/main" id="{0388F498-E28A-BCBD-9590-BC188F38B3F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3181" y="4371643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【5】</a:t>
            </a:r>
            <a:r>
              <a:rPr lang="zh-TW" altLang="en-US"/>
              <a:t>嘴齒</a:t>
            </a:r>
            <a:br>
              <a:rPr lang="en-US" altLang="zh-TW"/>
            </a:br>
            <a:r>
              <a:rPr lang="en-US" altLang="zh-TW"/>
              <a:t>[cui⁵⁻³ ki³]</a:t>
            </a:r>
            <a:endParaRPr lang="zh-TW" altLang="en-US"/>
          </a:p>
        </p:txBody>
      </p:sp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6CAEFE93-7760-B0C1-B587-614DFAE86F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13182" y="6448259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【7】</a:t>
            </a:r>
            <a:r>
              <a:rPr lang="zh-TW" altLang="en-US"/>
              <a:t>骨頭</a:t>
            </a:r>
            <a:r>
              <a:rPr lang="en-US" altLang="zh-TW"/>
              <a:t> </a:t>
            </a:r>
            <a:br>
              <a:rPr lang="en-US" altLang="zh-TW"/>
            </a:br>
            <a:r>
              <a:rPr lang="en-US" altLang="zh-TW"/>
              <a:t>[gut⁷⁻⁸ tao²]</a:t>
            </a:r>
            <a:endParaRPr lang="zh-TW" altLang="en-US"/>
          </a:p>
        </p:txBody>
      </p:sp>
      <p:sp>
        <p:nvSpPr>
          <p:cNvPr id="9" name="流程圖: 替代程序 8">
            <a:extLst>
              <a:ext uri="{FF2B5EF4-FFF2-40B4-BE49-F238E27FC236}">
                <a16:creationId xmlns:a16="http://schemas.microsoft.com/office/drawing/2014/main" id="{C4CC8EA7-FA06-4E5F-BB1F-BD5F22A637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22249" y="6448259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【8】</a:t>
            </a:r>
            <a:r>
              <a:rPr lang="zh-TW" altLang="en-US"/>
              <a:t>目睭</a:t>
            </a:r>
            <a:br>
              <a:rPr lang="en-US" altLang="zh-TW"/>
            </a:br>
            <a:r>
              <a:rPr lang="en-US" altLang="zh-TW"/>
              <a:t>[bbak⁸⁻⁷ ziu¹]</a:t>
            </a:r>
            <a:endParaRPr lang="zh-TW" altLang="en-US"/>
          </a:p>
        </p:txBody>
      </p:sp>
      <p:sp>
        <p:nvSpPr>
          <p:cNvPr id="10" name="流程圖: 替代程序 9">
            <a:extLst>
              <a:ext uri="{FF2B5EF4-FFF2-40B4-BE49-F238E27FC236}">
                <a16:creationId xmlns:a16="http://schemas.microsoft.com/office/drawing/2014/main" id="{B84F14DE-F018-98EC-C9E6-F953DEA8800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22250" y="4374294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【6】</a:t>
            </a:r>
            <a:r>
              <a:rPr lang="zh-TW" altLang="en-US"/>
              <a:t>鼻孔</a:t>
            </a:r>
            <a:r>
              <a:rPr lang="en-US" altLang="zh-TW"/>
              <a:t> </a:t>
            </a:r>
            <a:br>
              <a:rPr lang="en-US" altLang="zh-TW"/>
            </a:br>
            <a:r>
              <a:rPr lang="en-US" altLang="zh-TW"/>
              <a:t>[pni⁶⁻⁵ kang¹]</a:t>
            </a:r>
            <a:endParaRPr lang="zh-TW" altLang="en-US"/>
          </a:p>
        </p:txBody>
      </p:sp>
      <p:sp>
        <p:nvSpPr>
          <p:cNvPr id="11" name="流程圖: 替代程序 10">
            <a:extLst>
              <a:ext uri="{FF2B5EF4-FFF2-40B4-BE49-F238E27FC236}">
                <a16:creationId xmlns:a16="http://schemas.microsoft.com/office/drawing/2014/main" id="{642890ED-ED73-E289-4CC7-C5DE6830AF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22250" y="1290513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【2】</a:t>
            </a:r>
            <a:r>
              <a:rPr lang="zh-TW" altLang="en-US"/>
              <a:t>頭殼</a:t>
            </a:r>
            <a:br>
              <a:rPr lang="en-US" altLang="zh-TW"/>
            </a:br>
            <a:r>
              <a:rPr lang="en-US" altLang="zh-TW"/>
              <a:t>[tao²⁻⁶ kak⁷]</a:t>
            </a:r>
            <a:endParaRPr lang="zh-TW" altLang="en-US"/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04C5C01E-2460-11B4-FFA8-69E7AF5F7386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  <a:endCxn id="7" idx="2"/>
          </p:cNvCxnSpPr>
          <p:nvPr/>
        </p:nvCxnSpPr>
        <p:spPr>
          <a:xfrm rot="16200000" flipV="1">
            <a:off x="3148715" y="4133104"/>
            <a:ext cx="1321242" cy="3309068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接點: 肘形 16">
            <a:extLst>
              <a:ext uri="{FF2B5EF4-FFF2-40B4-BE49-F238E27FC236}">
                <a16:creationId xmlns:a16="http://schemas.microsoft.com/office/drawing/2014/main" id="{B973B922-DFE4-DFA4-366D-0D504F9B9FE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 flipH="1">
            <a:off x="2822713" y="2049858"/>
            <a:ext cx="2325759" cy="2258174"/>
          </a:xfrm>
          <a:prstGeom prst="bentConnector3">
            <a:avLst>
              <a:gd name="adj1" fmla="val 1683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8B9F96CE-FCC9-6D0D-6A8B-53D531E150F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5764696" y="2045887"/>
            <a:ext cx="0" cy="23257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9458FA01-24F0-16D0-F9F8-D6A6C6EEC72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3196421" y="6916726"/>
            <a:ext cx="1225827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8B883DAF-E929-C328-0D63-B64F239A207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196420" y="6706683"/>
            <a:ext cx="1225827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A06D7326-74C8-7ADA-3E09-96CEA3A5539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3196420" y="4707587"/>
            <a:ext cx="12258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單箭頭接點 36">
            <a:extLst>
              <a:ext uri="{FF2B5EF4-FFF2-40B4-BE49-F238E27FC236}">
                <a16:creationId xmlns:a16="http://schemas.microsoft.com/office/drawing/2014/main" id="{415C7050-0840-CD01-2C47-668E40B332C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 flipV="1">
            <a:off x="2115046" y="3574706"/>
            <a:ext cx="1" cy="7969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BB8EF7D6-605B-5632-8A92-64B0B702662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V="1">
            <a:off x="2115046" y="2045887"/>
            <a:ext cx="3" cy="773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左中括弧 71">
            <a:extLst>
              <a:ext uri="{FF2B5EF4-FFF2-40B4-BE49-F238E27FC236}">
                <a16:creationId xmlns:a16="http://schemas.microsoft.com/office/drawing/2014/main" id="{07658648-9292-4DEE-DED5-88015A9454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1721" y="3226072"/>
            <a:ext cx="741455" cy="3599874"/>
          </a:xfrm>
          <a:prstGeom prst="leftBracket">
            <a:avLst>
              <a:gd name="adj" fmla="val 0"/>
            </a:avLst>
          </a:prstGeom>
          <a:ln>
            <a:solidFill>
              <a:schemeClr val="accent5"/>
            </a:solidFill>
            <a:prstDash val="sys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D8F9566A-4D7F-2A06-B15A-082ED48993B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429000" y="6375783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5"/>
                </a:solidFill>
              </a:rPr>
              <a:t>p/t/k</a:t>
            </a:r>
            <a:endParaRPr lang="zh-TW" altLang="en-US">
              <a:solidFill>
                <a:schemeClr val="accent5"/>
              </a:solidFill>
            </a:endParaRP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101255CD-3871-7ED2-7B6E-BFA24AE84C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429000" y="6850136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6"/>
                </a:solidFill>
              </a:rPr>
              <a:t>p/t/k</a:t>
            </a:r>
            <a:endParaRPr lang="zh-TW" altLang="en-US">
              <a:solidFill>
                <a:schemeClr val="accent6"/>
              </a:solidFill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966F5127-65E7-8C2B-45C3-953B525FA7B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02512" y="5296343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6"/>
                </a:solidFill>
              </a:rPr>
              <a:t>h</a:t>
            </a:r>
            <a:endParaRPr lang="zh-TW" altLang="en-US">
              <a:solidFill>
                <a:schemeClr val="accent6"/>
              </a:solidFill>
            </a:endParaRP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5FA13A60-ADD2-987A-B313-211624685AD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65366" y="5953770"/>
            <a:ext cx="212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>
                <a:solidFill>
                  <a:schemeClr val="accent5"/>
                </a:solidFill>
              </a:rPr>
              <a:t>h</a:t>
            </a:r>
            <a:endParaRPr lang="zh-TW" altLang="en-US">
              <a:solidFill>
                <a:schemeClr val="accent5"/>
              </a:solidFill>
            </a:endParaRPr>
          </a:p>
        </p:txBody>
      </p:sp>
      <p:sp>
        <p:nvSpPr>
          <p:cNvPr id="79" name="矩形: 圓角 78">
            <a:extLst>
              <a:ext uri="{FF2B5EF4-FFF2-40B4-BE49-F238E27FC236}">
                <a16:creationId xmlns:a16="http://schemas.microsoft.com/office/drawing/2014/main" id="{DB4BD723-2833-4BEB-D6DC-E7BB149FED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16153" y="5278705"/>
            <a:ext cx="2389371" cy="369332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/>
              <a:t>白頭 </a:t>
            </a:r>
            <a:r>
              <a:rPr lang="en-US" altLang="zh-TW"/>
              <a:t>[beh⁸⁻⁵ tao²]</a:t>
            </a:r>
            <a:endParaRPr lang="zh-TW" altLang="en-US"/>
          </a:p>
        </p:txBody>
      </p:sp>
      <p:sp>
        <p:nvSpPr>
          <p:cNvPr id="82" name="矩形: 圓角 81">
            <a:extLst>
              <a:ext uri="{FF2B5EF4-FFF2-40B4-BE49-F238E27FC236}">
                <a16:creationId xmlns:a16="http://schemas.microsoft.com/office/drawing/2014/main" id="{83A7847E-C005-AAEC-8F5D-795598DBE2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3482" y="5946450"/>
            <a:ext cx="2187818" cy="369332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/>
              <a:t>拍頭 </a:t>
            </a:r>
            <a:r>
              <a:rPr lang="en-US" altLang="zh-TW"/>
              <a:t>[pah⁷⁻³ tao²]</a:t>
            </a:r>
            <a:endParaRPr lang="zh-TW" altLang="en-US"/>
          </a:p>
        </p:txBody>
      </p:sp>
      <p:sp>
        <p:nvSpPr>
          <p:cNvPr id="86" name="矩形: 按鈕形 85">
            <a:extLst>
              <a:ext uri="{FF2B5EF4-FFF2-40B4-BE49-F238E27FC236}">
                <a16:creationId xmlns:a16="http://schemas.microsoft.com/office/drawing/2014/main" id="{8B95B49A-C4BE-83C5-B605-A2CFE1FECEF9}"/>
              </a:ext>
            </a:extLst>
          </p:cNvPr>
          <p:cNvSpPr/>
          <p:nvPr/>
        </p:nvSpPr>
        <p:spPr>
          <a:xfrm>
            <a:off x="1494211" y="7776736"/>
            <a:ext cx="3869577" cy="740025"/>
          </a:xfrm>
          <a:prstGeom prst="bevel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Noto Sans TC Black" panose="020B0200000000000000" pitchFamily="34" charset="-128"/>
                <a:ea typeface="Noto Sans TC Black" panose="020B0200000000000000" pitchFamily="34" charset="-128"/>
                <a:cs typeface="ADLaM Display" panose="020F0502020204030204" pitchFamily="2" charset="0"/>
              </a:rPr>
              <a:t>1 6 5 3 2 7 8</a:t>
            </a:r>
            <a:endParaRPr lang="zh-TW" altLang="en-US" sz="2800"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Noto Sans TC Black" panose="020B0200000000000000" pitchFamily="34" charset="-128"/>
              <a:ea typeface="Noto Sans TC Black" panose="020B0200000000000000" pitchFamily="34" charset="-128"/>
              <a:cs typeface="ADLaM Display" panose="020F0502020204030204" pitchFamily="2" charset="0"/>
            </a:endParaRPr>
          </a:p>
        </p:txBody>
      </p:sp>
      <p:pic>
        <p:nvPicPr>
          <p:cNvPr id="88" name="圖片 87">
            <a:extLst>
              <a:ext uri="{FF2B5EF4-FFF2-40B4-BE49-F238E27FC236}">
                <a16:creationId xmlns:a16="http://schemas.microsoft.com/office/drawing/2014/main" id="{84AB6647-AAF0-EE15-8FE3-49922EF19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73584"/>
            <a:ext cx="6858000" cy="3788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039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9B67BEE-19A1-6F1F-3100-934A7F9F4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FD08DEE-E338-76C7-E961-2C2D593CE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312821"/>
            <a:ext cx="5915025" cy="647480"/>
          </a:xfrm>
        </p:spPr>
        <p:txBody>
          <a:bodyPr/>
          <a:lstStyle/>
          <a:p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八音變調圖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37A70BC-4614-0E78-8279-6151A4F11E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grayscl/>
            <a:alphaModFix amt="13000"/>
          </a:blip>
          <a:stretch>
            <a:fillRect/>
          </a:stretch>
        </p:blipFill>
        <p:spPr>
          <a:xfrm>
            <a:off x="0" y="1560709"/>
            <a:ext cx="6858000" cy="10064496"/>
          </a:xfrm>
          <a:prstGeom prst="rect">
            <a:avLst/>
          </a:prstGeom>
        </p:spPr>
      </p:pic>
      <p:sp>
        <p:nvSpPr>
          <p:cNvPr id="5" name="流程圖: 替代程序 4">
            <a:extLst>
              <a:ext uri="{FF2B5EF4-FFF2-40B4-BE49-F238E27FC236}">
                <a16:creationId xmlns:a16="http://schemas.microsoft.com/office/drawing/2014/main" id="{30D6E88B-576A-DFA8-2D79-A0745A9F8092}"/>
              </a:ext>
            </a:extLst>
          </p:cNvPr>
          <p:cNvSpPr/>
          <p:nvPr/>
        </p:nvSpPr>
        <p:spPr>
          <a:xfrm>
            <a:off x="1113183" y="1757238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流程圖: 替代程序 5">
            <a:extLst>
              <a:ext uri="{FF2B5EF4-FFF2-40B4-BE49-F238E27FC236}">
                <a16:creationId xmlns:a16="http://schemas.microsoft.com/office/drawing/2014/main" id="{ECD8560F-3EC6-ECC8-FA31-DF19BE8CF860}"/>
              </a:ext>
            </a:extLst>
          </p:cNvPr>
          <p:cNvSpPr/>
          <p:nvPr/>
        </p:nvSpPr>
        <p:spPr>
          <a:xfrm>
            <a:off x="1113180" y="3286057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流程圖: 替代程序 6">
            <a:extLst>
              <a:ext uri="{FF2B5EF4-FFF2-40B4-BE49-F238E27FC236}">
                <a16:creationId xmlns:a16="http://schemas.microsoft.com/office/drawing/2014/main" id="{81060C4D-40F4-AA14-CB1C-DB7DBBC4510E}"/>
              </a:ext>
            </a:extLst>
          </p:cNvPr>
          <p:cNvSpPr/>
          <p:nvPr/>
        </p:nvSpPr>
        <p:spPr>
          <a:xfrm>
            <a:off x="1113181" y="4838368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CF531656-7385-FA41-49E3-2B62D79C7048}"/>
              </a:ext>
            </a:extLst>
          </p:cNvPr>
          <p:cNvSpPr/>
          <p:nvPr/>
        </p:nvSpPr>
        <p:spPr>
          <a:xfrm>
            <a:off x="1113182" y="6914984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流程圖: 替代程序 8">
            <a:extLst>
              <a:ext uri="{FF2B5EF4-FFF2-40B4-BE49-F238E27FC236}">
                <a16:creationId xmlns:a16="http://schemas.microsoft.com/office/drawing/2014/main" id="{9FA0335D-B031-0198-9D8D-3904B6B43D31}"/>
              </a:ext>
            </a:extLst>
          </p:cNvPr>
          <p:cNvSpPr/>
          <p:nvPr/>
        </p:nvSpPr>
        <p:spPr>
          <a:xfrm>
            <a:off x="4422249" y="6914984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流程圖: 替代程序 9">
            <a:extLst>
              <a:ext uri="{FF2B5EF4-FFF2-40B4-BE49-F238E27FC236}">
                <a16:creationId xmlns:a16="http://schemas.microsoft.com/office/drawing/2014/main" id="{B56F0ADC-DE2B-63A0-3DFE-F5ACA278E98F}"/>
              </a:ext>
            </a:extLst>
          </p:cNvPr>
          <p:cNvSpPr/>
          <p:nvPr/>
        </p:nvSpPr>
        <p:spPr>
          <a:xfrm>
            <a:off x="4422250" y="4841019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流程圖: 替代程序 10">
            <a:extLst>
              <a:ext uri="{FF2B5EF4-FFF2-40B4-BE49-F238E27FC236}">
                <a16:creationId xmlns:a16="http://schemas.microsoft.com/office/drawing/2014/main" id="{E847B6F9-01E4-BE37-0DFF-2D1F2BED4E4A}"/>
              </a:ext>
            </a:extLst>
          </p:cNvPr>
          <p:cNvSpPr/>
          <p:nvPr/>
        </p:nvSpPr>
        <p:spPr>
          <a:xfrm>
            <a:off x="4422250" y="1757238"/>
            <a:ext cx="2083241" cy="755374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C26424D9-1F0F-27AF-29AA-110DC9321F57}"/>
              </a:ext>
            </a:extLst>
          </p:cNvPr>
          <p:cNvCxnSpPr>
            <a:cxnSpLocks/>
            <a:stCxn id="9" idx="0"/>
            <a:endCxn id="7" idx="2"/>
          </p:cNvCxnSpPr>
          <p:nvPr/>
        </p:nvCxnSpPr>
        <p:spPr>
          <a:xfrm rot="16200000" flipV="1">
            <a:off x="3148715" y="4599829"/>
            <a:ext cx="1321242" cy="3309068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接點: 肘形 16">
            <a:extLst>
              <a:ext uri="{FF2B5EF4-FFF2-40B4-BE49-F238E27FC236}">
                <a16:creationId xmlns:a16="http://schemas.microsoft.com/office/drawing/2014/main" id="{B58633B8-958C-7FE1-C32C-DE0E4705EA8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 flipH="1">
            <a:off x="2822713" y="2516583"/>
            <a:ext cx="2325759" cy="2258174"/>
          </a:xfrm>
          <a:prstGeom prst="bentConnector3">
            <a:avLst>
              <a:gd name="adj1" fmla="val 1683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D5BDFFBE-AFBE-A60E-D25C-55ABD9E689F3}"/>
              </a:ext>
            </a:extLst>
          </p:cNvPr>
          <p:cNvCxnSpPr/>
          <p:nvPr/>
        </p:nvCxnSpPr>
        <p:spPr>
          <a:xfrm>
            <a:off x="5764696" y="2512612"/>
            <a:ext cx="0" cy="23257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232A6B40-9CC9-E30A-5DF4-703E30718897}"/>
              </a:ext>
            </a:extLst>
          </p:cNvPr>
          <p:cNvCxnSpPr>
            <a:cxnSpLocks/>
          </p:cNvCxnSpPr>
          <p:nvPr/>
        </p:nvCxnSpPr>
        <p:spPr>
          <a:xfrm flipH="1">
            <a:off x="3196421" y="7383451"/>
            <a:ext cx="1225827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A73E0610-D5F4-517A-C94C-680E6CC10FF2}"/>
              </a:ext>
            </a:extLst>
          </p:cNvPr>
          <p:cNvCxnSpPr>
            <a:cxnSpLocks/>
          </p:cNvCxnSpPr>
          <p:nvPr/>
        </p:nvCxnSpPr>
        <p:spPr>
          <a:xfrm>
            <a:off x="3196420" y="7173408"/>
            <a:ext cx="1225827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2A17D67A-7327-4DF7-5E0F-E3CB31DB1B9D}"/>
              </a:ext>
            </a:extLst>
          </p:cNvPr>
          <p:cNvCxnSpPr>
            <a:cxnSpLocks/>
          </p:cNvCxnSpPr>
          <p:nvPr/>
        </p:nvCxnSpPr>
        <p:spPr>
          <a:xfrm flipH="1">
            <a:off x="3196420" y="5174312"/>
            <a:ext cx="12258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單箭頭接點 36">
            <a:extLst>
              <a:ext uri="{FF2B5EF4-FFF2-40B4-BE49-F238E27FC236}">
                <a16:creationId xmlns:a16="http://schemas.microsoft.com/office/drawing/2014/main" id="{84728C71-BFAE-BAF6-F5F2-E8ECDFA168CE}"/>
              </a:ext>
            </a:extLst>
          </p:cNvPr>
          <p:cNvCxnSpPr>
            <a:cxnSpLocks/>
          </p:cNvCxnSpPr>
          <p:nvPr/>
        </p:nvCxnSpPr>
        <p:spPr>
          <a:xfrm flipH="1" flipV="1">
            <a:off x="2115046" y="4041431"/>
            <a:ext cx="1" cy="7969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1446E769-8390-0499-1F71-DEC1F30C550E}"/>
              </a:ext>
            </a:extLst>
          </p:cNvPr>
          <p:cNvCxnSpPr>
            <a:cxnSpLocks/>
          </p:cNvCxnSpPr>
          <p:nvPr/>
        </p:nvCxnSpPr>
        <p:spPr>
          <a:xfrm flipV="1">
            <a:off x="2115046" y="2512612"/>
            <a:ext cx="3" cy="773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左中括弧 71">
            <a:extLst>
              <a:ext uri="{FF2B5EF4-FFF2-40B4-BE49-F238E27FC236}">
                <a16:creationId xmlns:a16="http://schemas.microsoft.com/office/drawing/2014/main" id="{B8141D24-4E8E-40A0-AC32-3F06E1469F4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1721" y="3692797"/>
            <a:ext cx="741455" cy="3599874"/>
          </a:xfrm>
          <a:prstGeom prst="leftBracket">
            <a:avLst>
              <a:gd name="adj" fmla="val 0"/>
            </a:avLst>
          </a:prstGeom>
          <a:ln>
            <a:solidFill>
              <a:schemeClr val="accent5"/>
            </a:solidFill>
            <a:prstDash val="sys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1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885</TotalTime>
  <Words>814</Words>
  <Application>Microsoft Office PowerPoint</Application>
  <PresentationFormat>寬螢幕</PresentationFormat>
  <Paragraphs>99</Paragraphs>
  <Slides>11</Slides>
  <Notes>3</Notes>
  <HiddenSlides>2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20" baseType="lpstr">
      <vt:lpstr>Microsoft JhengHei UI</vt:lpstr>
      <vt:lpstr>Noto Sans TC Black</vt:lpstr>
      <vt:lpstr>Noto Sans TC Medium</vt:lpstr>
      <vt:lpstr>Noto Serif TC Black</vt:lpstr>
      <vt:lpstr>Aptos</vt:lpstr>
      <vt:lpstr>Aptos Display</vt:lpstr>
      <vt:lpstr>Arial</vt:lpstr>
      <vt:lpstr>Charis SemiBold</vt:lpstr>
      <vt:lpstr>Office 佈景主題</vt:lpstr>
      <vt:lpstr>閩拼聲調與變調</vt:lpstr>
      <vt:lpstr>閩南八音（台灣/廈門腔）</vt:lpstr>
      <vt:lpstr>八音速記圖</vt:lpstr>
      <vt:lpstr>八音變調規則（台灣/廈門腔）</vt:lpstr>
      <vt:lpstr>八音變調圖（台灣/廈門腔）</vt:lpstr>
      <vt:lpstr>八音變調規則圖</vt:lpstr>
      <vt:lpstr>PowerPoint 簡報</vt:lpstr>
      <vt:lpstr>PowerPoint 簡報</vt:lpstr>
      <vt:lpstr>PowerPoint 簡報</vt:lpstr>
      <vt:lpstr>八音變調圖（台灣/廈門腔）</vt:lpstr>
      <vt:lpstr>八音變調圖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正中 居</dc:creator>
  <cp:lastModifiedBy>正中 居</cp:lastModifiedBy>
  <cp:revision>22</cp:revision>
  <dcterms:created xsi:type="dcterms:W3CDTF">2026-10-13T03:21:08Z</dcterms:created>
  <dcterms:modified xsi:type="dcterms:W3CDTF">2026-10-18T09:38:37Z</dcterms:modified>
</cp:coreProperties>
</file>