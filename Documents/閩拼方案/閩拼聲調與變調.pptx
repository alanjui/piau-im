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364" r:id="rId3"/>
    <p:sldId id="257" r:id="rId4"/>
    <p:sldId id="363" r:id="rId5"/>
    <p:sldId id="259" r:id="rId6"/>
    <p:sldId id="365" r:id="rId7"/>
    <p:sldId id="260" r:id="rId8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24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114" y="330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0755A-CD51-4F07-BE52-8AAB17121638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0A7A7-7D6B-43C7-9390-115CFAAE4E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46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5C07C-ADB1-F5F5-0E95-304CE231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D9183A-6A8B-8746-0731-9A3D101A0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D4DFBDA-E251-577B-2223-003F948C8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D856C0-E435-24E3-BB8C-A00DA993D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3526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40F54-64E1-D7C9-AAB0-71724BE4F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FFADDD-B12E-B860-0EA3-049D9E21B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F8EABCA-BD72-3CBB-4299-38748B07F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CEF54A-D4F5-41AD-F766-BD367148C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756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9799-662D-42E6-ABC9-D46897B23367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18C9-DA8D-4EB4-AF46-3DC5EF1AE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91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9799-662D-42E6-ABC9-D46897B23367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18C9-DA8D-4EB4-AF46-3DC5EF1AE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1743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9799-662D-42E6-ABC9-D46897B23367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18C9-DA8D-4EB4-AF46-3DC5EF1AE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58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9799-662D-42E6-ABC9-D46897B23367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18C9-DA8D-4EB4-AF46-3DC5EF1AE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31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9799-662D-42E6-ABC9-D46897B23367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18C9-DA8D-4EB4-AF46-3DC5EF1AE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6975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9799-662D-42E6-ABC9-D46897B23367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18C9-DA8D-4EB4-AF46-3DC5EF1AE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3716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9799-662D-42E6-ABC9-D46897B23367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18C9-DA8D-4EB4-AF46-3DC5EF1AE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8694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9799-662D-42E6-ABC9-D46897B23367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18C9-DA8D-4EB4-AF46-3DC5EF1AE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63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9799-662D-42E6-ABC9-D46897B23367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18C9-DA8D-4EB4-AF46-3DC5EF1AE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640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9799-662D-42E6-ABC9-D46897B23367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18C9-DA8D-4EB4-AF46-3DC5EF1AE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263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9799-662D-42E6-ABC9-D46897B23367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18C9-DA8D-4EB4-AF46-3DC5EF1AE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664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圖片版面配置區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91730" y="2960925"/>
            <a:ext cx="2400165" cy="7585721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2373376"/>
            <a:ext cx="3482149" cy="2097024"/>
          </a:xfrm>
        </p:spPr>
        <p:txBody>
          <a:bodyPr lIns="91440" tIns="45720" rIns="91440" bIns="45720" rtlCol="0" anchor="b"/>
          <a:lstStyle>
            <a:lvl1pPr>
              <a:defRPr sz="303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46" y="5023104"/>
            <a:ext cx="3482149" cy="5949696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1125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128602">
              <a:defRPr sz="1013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257203"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385805">
              <a:defRPr sz="787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787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1" y="1433725"/>
            <a:ext cx="4445844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468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>
          <p15:clr>
            <a:srgbClr val="FBAE40"/>
          </p15:clr>
        </p15:guide>
        <p15:guide id="2" pos="32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F9799-662D-42E6-ABC9-D46897B23367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918C9-DA8D-4EB4-AF46-3DC5EF1AE6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865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emf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B6BBE5-F19D-7B47-4943-1CA2CBD5D3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閩拼聲調與變調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356004B-DE2E-E4B3-B02F-CE30C813B3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78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7A1B0-BC19-B324-2E06-4FB7510C6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6E34D3-4C3A-1457-CAF5-3370DFE4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117FE28A-82BD-D130-66E9-C5538D842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閩南八音（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FC2891DD-F8A9-616E-D4B1-D50923531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73534"/>
            <a:ext cx="6858000" cy="3788732"/>
          </a:xfrm>
          <a:prstGeom prst="rect">
            <a:avLst/>
          </a:prstGeom>
        </p:spPr>
      </p:pic>
      <p:sp>
        <p:nvSpPr>
          <p:cNvPr id="45" name="矩形: 按鈕形 44">
            <a:extLst>
              <a:ext uri="{FF2B5EF4-FFF2-40B4-BE49-F238E27FC236}">
                <a16:creationId xmlns:a16="http://schemas.microsoft.com/office/drawing/2014/main" id="{214D7933-268F-A2A6-4319-1678F8FA6F42}"/>
              </a:ext>
            </a:extLst>
          </p:cNvPr>
          <p:cNvSpPr/>
          <p:nvPr/>
        </p:nvSpPr>
        <p:spPr>
          <a:xfrm>
            <a:off x="1494211" y="7424311"/>
            <a:ext cx="3869577" cy="740025"/>
          </a:xfrm>
          <a:prstGeom prst="beve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Black" panose="020B0200000000000000" pitchFamily="34" charset="-128"/>
                <a:ea typeface="Noto Sans TC Black" panose="020B0200000000000000" pitchFamily="34" charset="-128"/>
                <a:cs typeface="ADLaM Display" panose="020F0502020204030204" pitchFamily="2" charset="0"/>
              </a:rPr>
              <a:t>1 6 5 3 2 7 8</a:t>
            </a:r>
            <a:endParaRPr lang="zh-TW" altLang="en-US" sz="400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Black" panose="020B0200000000000000" pitchFamily="34" charset="-128"/>
              <a:ea typeface="Noto Sans TC Black" panose="020B0200000000000000" pitchFamily="34" charset="-128"/>
              <a:cs typeface="ADLaM Display" panose="020F0502020204030204" pitchFamily="2" charset="0"/>
            </a:endParaRP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D9821941-A228-04D2-0892-1822E4A8C2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18" y="1736725"/>
            <a:ext cx="6467964" cy="531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39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B7E5524-F8D6-AD76-5521-AED312A5A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312821"/>
            <a:ext cx="5915025" cy="647480"/>
          </a:xfrm>
        </p:spPr>
        <p:txBody>
          <a:bodyPr/>
          <a:lstStyle/>
          <a:p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八音速記圖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CC62B41-4279-DB49-2254-0591CEE95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45721"/>
            <a:ext cx="6858000" cy="378873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754E60E-F484-DA4B-1604-6548EAD3B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30" y="6019516"/>
            <a:ext cx="6558740" cy="396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04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C5864-D3E0-DF9A-8894-2D48F4809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AFA02A45-8098-9AA3-30C2-71A10E41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85193F2-664B-54AC-E195-F655C7A7E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280808" cy="509524"/>
          </a:xfrm>
        </p:spPr>
        <p:txBody>
          <a:bodyPr>
            <a:normAutofit fontScale="90000"/>
          </a:bodyPr>
          <a:lstStyle/>
          <a:p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八音變調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規則（台灣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D91E2F7-93C0-7651-1031-407F53CF5216}"/>
              </a:ext>
            </a:extLst>
          </p:cNvPr>
          <p:cNvSpPr txBox="1"/>
          <p:nvPr/>
        </p:nvSpPr>
        <p:spPr>
          <a:xfrm>
            <a:off x="167214" y="5510555"/>
            <a:ext cx="607163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.【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高變中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（陽去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6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聲調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Bef>
                <a:spcPts val="1200"/>
              </a:spcBef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2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.【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中變低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（陰去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 5 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聲調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Bef>
                <a:spcPts val="1200"/>
              </a:spcBef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3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.【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低變高降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（上声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 3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聲調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Bef>
                <a:spcPts val="1200"/>
              </a:spcBef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4.【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（陰平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 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聲調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Bef>
                <a:spcPts val="1200"/>
              </a:spcBef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（陽去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6 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聲調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chemeClr val="bg1"/>
                </a:solidFill>
                <a:highlight>
                  <a:srgbClr val="800080"/>
                </a:highligh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chemeClr val="bg1"/>
                </a:solidFill>
                <a:highlight>
                  <a:srgbClr val="800080"/>
                </a:highligh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 dirty="0">
                <a:solidFill>
                  <a:schemeClr val="bg1"/>
                </a:solidFill>
                <a:highlight>
                  <a:srgbClr val="800080"/>
                </a:highligh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p/t/k》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6.【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低促升高促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高促調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（陽入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 8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聲調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Bef>
                <a:spcPts val="1200"/>
              </a:spcBef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高促降低促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低促調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（陰入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 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聲調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chemeClr val="bg1"/>
                </a:solidFill>
                <a:highlight>
                  <a:srgbClr val="800080"/>
                </a:highligh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chemeClr val="bg1"/>
                </a:solidFill>
                <a:highlight>
                  <a:srgbClr val="800080"/>
                </a:highligh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 dirty="0">
                <a:solidFill>
                  <a:schemeClr val="bg1"/>
                </a:solidFill>
                <a:highlight>
                  <a:srgbClr val="800080"/>
                </a:highligh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h》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8.【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低促變高降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（上声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3 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聲調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Bef>
                <a:spcPts val="1200"/>
              </a:spcBef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9.【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高促變低音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（陰去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en-US" altLang="zh-TW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 </a:t>
            </a:r>
            <a:r>
              <a:rPr lang="zh-TW" altLang="en-US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聲調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）。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A592E28-7F66-9778-A696-7F3EF7531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645721"/>
            <a:ext cx="6858000" cy="378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78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67BEE-19A1-6F1F-3100-934A7F9F4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FD08DEE-E338-76C7-E961-2C2D593C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312821"/>
            <a:ext cx="5915025" cy="647480"/>
          </a:xfrm>
        </p:spPr>
        <p:txBody>
          <a:bodyPr/>
          <a:lstStyle/>
          <a:p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八音變調圖（台灣</a:t>
            </a:r>
            <a:r>
              <a:rPr lang="en-US" altLang="zh-TW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</a:p>
        </p:txBody>
      </p:sp>
      <p:sp>
        <p:nvSpPr>
          <p:cNvPr id="5" name="流程圖: 替代程序 4">
            <a:extLst>
              <a:ext uri="{FF2B5EF4-FFF2-40B4-BE49-F238E27FC236}">
                <a16:creationId xmlns:a16="http://schemas.microsoft.com/office/drawing/2014/main" id="{30D6E88B-576A-DFA8-2D79-A0745A9F80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3183" y="1290513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【1】</a:t>
            </a:r>
            <a:r>
              <a:rPr lang="zh-TW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骹底</a:t>
            </a: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 </a:t>
            </a:r>
            <a:b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</a:b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[ka¹⁻⁶ de³]</a:t>
            </a:r>
            <a:endParaRPr lang="zh-TW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6" name="流程圖: 替代程序 5">
            <a:extLst>
              <a:ext uri="{FF2B5EF4-FFF2-40B4-BE49-F238E27FC236}">
                <a16:creationId xmlns:a16="http://schemas.microsoft.com/office/drawing/2014/main" id="{ECD8560F-3EC6-ECC8-FA31-DF19BE8CF8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3180" y="2819332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【3】</a:t>
            </a:r>
            <a:r>
              <a:rPr lang="zh-TW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手心</a:t>
            </a: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 </a:t>
            </a:r>
            <a:b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</a:b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[ciu³⁻¹ sim¹]</a:t>
            </a:r>
            <a:endParaRPr lang="zh-TW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7" name="流程圖: 替代程序 6">
            <a:extLst>
              <a:ext uri="{FF2B5EF4-FFF2-40B4-BE49-F238E27FC236}">
                <a16:creationId xmlns:a16="http://schemas.microsoft.com/office/drawing/2014/main" id="{81060C4D-40F4-AA14-CB1C-DB7DBBC451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3181" y="4371643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【5】</a:t>
            </a:r>
            <a:r>
              <a:rPr lang="zh-TW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嘴齒</a:t>
            </a:r>
            <a:b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</a:b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[cui⁵⁻³ ki³]</a:t>
            </a:r>
            <a:endParaRPr lang="zh-TW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8" name="流程圖: 替代程序 7">
            <a:extLst>
              <a:ext uri="{FF2B5EF4-FFF2-40B4-BE49-F238E27FC236}">
                <a16:creationId xmlns:a16="http://schemas.microsoft.com/office/drawing/2014/main" id="{CF531656-7385-FA41-49E3-2B62D79C70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3182" y="6448259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【7】</a:t>
            </a:r>
            <a:r>
              <a:rPr lang="zh-TW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骨頭</a:t>
            </a: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 </a:t>
            </a:r>
            <a:b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</a:b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[gut⁷⁻⁸ tao²]</a:t>
            </a:r>
            <a:endParaRPr lang="zh-TW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9" name="流程圖: 替代程序 8">
            <a:extLst>
              <a:ext uri="{FF2B5EF4-FFF2-40B4-BE49-F238E27FC236}">
                <a16:creationId xmlns:a16="http://schemas.microsoft.com/office/drawing/2014/main" id="{9FA0335D-B031-0198-9D8D-3904B6B43D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22249" y="6448259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【8】</a:t>
            </a:r>
            <a:r>
              <a:rPr lang="zh-TW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目睭</a:t>
            </a:r>
            <a:b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</a:b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[bbak⁸⁻⁷ ziu¹]</a:t>
            </a:r>
            <a:endParaRPr lang="zh-TW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10" name="流程圖: 替代程序 9">
            <a:extLst>
              <a:ext uri="{FF2B5EF4-FFF2-40B4-BE49-F238E27FC236}">
                <a16:creationId xmlns:a16="http://schemas.microsoft.com/office/drawing/2014/main" id="{B56F0ADC-DE2B-63A0-3DFE-F5ACA278E9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22250" y="4374294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【6】</a:t>
            </a:r>
            <a:r>
              <a:rPr lang="zh-TW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鼻孔</a:t>
            </a: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 </a:t>
            </a:r>
            <a:b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</a:b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[pni⁶⁻⁵ kang¹]</a:t>
            </a:r>
            <a:endParaRPr lang="zh-TW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11" name="流程圖: 替代程序 10">
            <a:extLst>
              <a:ext uri="{FF2B5EF4-FFF2-40B4-BE49-F238E27FC236}">
                <a16:creationId xmlns:a16="http://schemas.microsoft.com/office/drawing/2014/main" id="{E847B6F9-01E4-BE37-0DFF-2D1F2BED4E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22250" y="1290513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【2】</a:t>
            </a:r>
            <a:r>
              <a:rPr lang="zh-TW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頭殼</a:t>
            </a:r>
            <a:b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</a:b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[tao²⁻⁶ kak⁷]</a:t>
            </a:r>
            <a:endParaRPr lang="zh-TW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C26424D9-1F0F-27AF-29AA-110DC9321F57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0"/>
            <a:endCxn id="7" idx="2"/>
          </p:cNvCxnSpPr>
          <p:nvPr/>
        </p:nvCxnSpPr>
        <p:spPr>
          <a:xfrm rot="16200000" flipV="1">
            <a:off x="3148715" y="4133104"/>
            <a:ext cx="1321242" cy="3309068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B58633B8-958C-7FE1-C32C-DE0E4705EA8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6200000" flipH="1">
            <a:off x="2822713" y="2049858"/>
            <a:ext cx="2325759" cy="2258174"/>
          </a:xfrm>
          <a:prstGeom prst="bentConnector3">
            <a:avLst>
              <a:gd name="adj1" fmla="val 168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D5BDFFBE-AFBE-A60E-D25C-55ABD9E689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764696" y="2045887"/>
            <a:ext cx="0" cy="2325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232A6B40-9CC9-E30A-5DF4-703E3071889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3196421" y="6916726"/>
            <a:ext cx="1225827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A73E0610-D5F4-517A-C94C-680E6CC10FF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196420" y="6706683"/>
            <a:ext cx="1225827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2A17D67A-7327-4DF7-5E0F-E3CB31DB1B9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3196420" y="4707587"/>
            <a:ext cx="12258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84728C71-BFAE-BAF6-F5F2-E8ECDFA168C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 flipV="1">
            <a:off x="2115046" y="3574706"/>
            <a:ext cx="1" cy="796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1446E769-8390-0499-1F71-DEC1F30C550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2115046" y="2045887"/>
            <a:ext cx="3" cy="773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左中括弧 71">
            <a:extLst>
              <a:ext uri="{FF2B5EF4-FFF2-40B4-BE49-F238E27FC236}">
                <a16:creationId xmlns:a16="http://schemas.microsoft.com/office/drawing/2014/main" id="{B8141D24-4E8E-40A0-AC32-3F06E1469F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1721" y="3226072"/>
            <a:ext cx="741455" cy="3599874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84D8B0CB-5482-506D-C920-A1024F0B826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29000" y="6375783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p/t/k</a:t>
            </a:r>
            <a:endParaRPr lang="zh-TW" altLang="en-US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6EC98127-2A2D-30FF-A000-D54654961A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29000" y="685013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p/t/k</a:t>
            </a:r>
            <a:endParaRPr lang="zh-TW" altLang="en-US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DEF4E0E1-4DDC-532F-0765-47DF821125D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69012" y="5296343"/>
            <a:ext cx="21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h</a:t>
            </a:r>
            <a:endParaRPr lang="zh-TW" altLang="en-US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3AA87C62-88C5-5EBC-1600-B0FBA5F0A38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5366" y="5953770"/>
            <a:ext cx="21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h</a:t>
            </a:r>
            <a:endParaRPr lang="zh-TW" altLang="en-US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79" name="矩形: 圓角 78">
            <a:extLst>
              <a:ext uri="{FF2B5EF4-FFF2-40B4-BE49-F238E27FC236}">
                <a16:creationId xmlns:a16="http://schemas.microsoft.com/office/drawing/2014/main" id="{7FA7A6BC-0628-F113-26A4-0B10BB8278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82653" y="5278705"/>
            <a:ext cx="2389371" cy="36933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白目 </a:t>
            </a: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[Beh⁸⁻⁵ bbak⁸]</a:t>
            </a:r>
            <a:endParaRPr lang="zh-TW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7439247A-3695-40FE-809D-0988F49877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3482" y="5946450"/>
            <a:ext cx="2187818" cy="36933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拍破</a:t>
            </a:r>
            <a:r>
              <a:rPr lang="en-US" altLang="zh-TW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emiBold" panose="02000500060000020004" pitchFamily="2" charset="0"/>
                <a:ea typeface="Noto Sans TC Medium" panose="020B0200000000000000" pitchFamily="34" charset="-128"/>
              </a:rPr>
              <a:t> [pah⁷⁻³ pua⁵]</a:t>
            </a:r>
            <a:endParaRPr lang="zh-TW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emiBold" panose="02000500060000020004" pitchFamily="2" charset="0"/>
              <a:ea typeface="Noto Sans TC Medium" panose="020B0200000000000000" pitchFamily="34" charset="-128"/>
            </a:endParaRPr>
          </a:p>
        </p:txBody>
      </p:sp>
      <p:sp>
        <p:nvSpPr>
          <p:cNvPr id="86" name="矩形: 按鈕形 85">
            <a:extLst>
              <a:ext uri="{FF2B5EF4-FFF2-40B4-BE49-F238E27FC236}">
                <a16:creationId xmlns:a16="http://schemas.microsoft.com/office/drawing/2014/main" id="{537E1D22-4C83-2848-626A-57DCD06FFBF7}"/>
              </a:ext>
            </a:extLst>
          </p:cNvPr>
          <p:cNvSpPr/>
          <p:nvPr/>
        </p:nvSpPr>
        <p:spPr>
          <a:xfrm>
            <a:off x="1494211" y="7776736"/>
            <a:ext cx="3869577" cy="740025"/>
          </a:xfrm>
          <a:prstGeom prst="bevel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Black" panose="020B0200000000000000" pitchFamily="34" charset="-128"/>
                <a:ea typeface="Noto Sans TC Black" panose="020B0200000000000000" pitchFamily="34" charset="-128"/>
                <a:cs typeface="ADLaM Display" panose="020F0502020204030204" pitchFamily="2" charset="0"/>
              </a:rPr>
              <a:t>1 6 5 3 2 7 8</a:t>
            </a:r>
            <a:endParaRPr lang="zh-TW" altLang="en-US" sz="280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Black" panose="020B0200000000000000" pitchFamily="34" charset="-128"/>
              <a:ea typeface="Noto Sans TC Black" panose="020B0200000000000000" pitchFamily="34" charset="-128"/>
              <a:cs typeface="ADLaM Display" panose="020F0502020204030204" pitchFamily="2" charset="0"/>
            </a:endParaRPr>
          </a:p>
        </p:txBody>
      </p:sp>
      <p:pic>
        <p:nvPicPr>
          <p:cNvPr id="88" name="圖片 87">
            <a:extLst>
              <a:ext uri="{FF2B5EF4-FFF2-40B4-BE49-F238E27FC236}">
                <a16:creationId xmlns:a16="http://schemas.microsoft.com/office/drawing/2014/main" id="{1074A399-2608-5DCD-2838-5E294BB9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73584"/>
            <a:ext cx="6858000" cy="378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9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E010FF-764B-225B-1CA8-AED051EC8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B28A89C-85E4-5C54-20D9-55615F1BA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312821"/>
            <a:ext cx="5915025" cy="647480"/>
          </a:xfrm>
        </p:spPr>
        <p:txBody>
          <a:bodyPr/>
          <a:lstStyle/>
          <a:p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八音變調圖（台灣</a:t>
            </a:r>
            <a:r>
              <a:rPr lang="en-US" altLang="zh-TW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</a:p>
        </p:txBody>
      </p:sp>
      <p:sp>
        <p:nvSpPr>
          <p:cNvPr id="5" name="流程圖: 替代程序 4">
            <a:extLst>
              <a:ext uri="{FF2B5EF4-FFF2-40B4-BE49-F238E27FC236}">
                <a16:creationId xmlns:a16="http://schemas.microsoft.com/office/drawing/2014/main" id="{F70ACDCF-4620-3F6A-E02D-11AFB8D27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3183" y="1290513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【1】</a:t>
            </a:r>
            <a:r>
              <a:rPr lang="zh-TW" altLang="en-US"/>
              <a:t>骹底</a:t>
            </a:r>
            <a:r>
              <a:rPr lang="en-US" altLang="zh-TW"/>
              <a:t> </a:t>
            </a:r>
            <a:br>
              <a:rPr lang="en-US" altLang="zh-TW"/>
            </a:br>
            <a:r>
              <a:rPr lang="en-US" altLang="zh-TW"/>
              <a:t>[ka¹⁻⁶ de³]</a:t>
            </a:r>
            <a:endParaRPr lang="zh-TW" altLang="en-US"/>
          </a:p>
        </p:txBody>
      </p:sp>
      <p:sp>
        <p:nvSpPr>
          <p:cNvPr id="6" name="流程圖: 替代程序 5">
            <a:extLst>
              <a:ext uri="{FF2B5EF4-FFF2-40B4-BE49-F238E27FC236}">
                <a16:creationId xmlns:a16="http://schemas.microsoft.com/office/drawing/2014/main" id="{AE9DD801-585C-E1C4-C795-123E9850C3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3180" y="2819332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【3】</a:t>
            </a:r>
            <a:r>
              <a:rPr lang="zh-TW" altLang="en-US"/>
              <a:t>手心</a:t>
            </a:r>
            <a:r>
              <a:rPr lang="en-US" altLang="zh-TW"/>
              <a:t> </a:t>
            </a:r>
            <a:br>
              <a:rPr lang="en-US" altLang="zh-TW"/>
            </a:br>
            <a:r>
              <a:rPr lang="en-US" altLang="zh-TW"/>
              <a:t>[ciu³⁻¹ sim¹]</a:t>
            </a:r>
            <a:endParaRPr lang="zh-TW" altLang="en-US"/>
          </a:p>
        </p:txBody>
      </p:sp>
      <p:sp>
        <p:nvSpPr>
          <p:cNvPr id="7" name="流程圖: 替代程序 6">
            <a:extLst>
              <a:ext uri="{FF2B5EF4-FFF2-40B4-BE49-F238E27FC236}">
                <a16:creationId xmlns:a16="http://schemas.microsoft.com/office/drawing/2014/main" id="{0388F498-E28A-BCBD-9590-BC188F38B3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3181" y="4371643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【5】</a:t>
            </a:r>
            <a:r>
              <a:rPr lang="zh-TW" altLang="en-US"/>
              <a:t>嘴齒</a:t>
            </a:r>
            <a:br>
              <a:rPr lang="en-US" altLang="zh-TW"/>
            </a:br>
            <a:r>
              <a:rPr lang="en-US" altLang="zh-TW"/>
              <a:t>[cui⁵⁻³ ki³]</a:t>
            </a:r>
            <a:endParaRPr lang="zh-TW" altLang="en-US"/>
          </a:p>
        </p:txBody>
      </p:sp>
      <p:sp>
        <p:nvSpPr>
          <p:cNvPr id="8" name="流程圖: 替代程序 7">
            <a:extLst>
              <a:ext uri="{FF2B5EF4-FFF2-40B4-BE49-F238E27FC236}">
                <a16:creationId xmlns:a16="http://schemas.microsoft.com/office/drawing/2014/main" id="{6CAEFE93-7760-B0C1-B587-614DFAE86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3182" y="6448259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【7】</a:t>
            </a:r>
            <a:r>
              <a:rPr lang="zh-TW" altLang="en-US"/>
              <a:t>骨頭</a:t>
            </a:r>
            <a:r>
              <a:rPr lang="en-US" altLang="zh-TW"/>
              <a:t> </a:t>
            </a:r>
            <a:br>
              <a:rPr lang="en-US" altLang="zh-TW"/>
            </a:br>
            <a:r>
              <a:rPr lang="en-US" altLang="zh-TW"/>
              <a:t>[gut⁷⁻⁸ tao²]</a:t>
            </a:r>
            <a:endParaRPr lang="zh-TW" altLang="en-US"/>
          </a:p>
        </p:txBody>
      </p:sp>
      <p:sp>
        <p:nvSpPr>
          <p:cNvPr id="9" name="流程圖: 替代程序 8">
            <a:extLst>
              <a:ext uri="{FF2B5EF4-FFF2-40B4-BE49-F238E27FC236}">
                <a16:creationId xmlns:a16="http://schemas.microsoft.com/office/drawing/2014/main" id="{C4CC8EA7-FA06-4E5F-BB1F-BD5F22A63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22249" y="6448259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【8】</a:t>
            </a:r>
            <a:r>
              <a:rPr lang="zh-TW" altLang="en-US"/>
              <a:t>目睭</a:t>
            </a:r>
            <a:br>
              <a:rPr lang="en-US" altLang="zh-TW"/>
            </a:br>
            <a:r>
              <a:rPr lang="en-US" altLang="zh-TW"/>
              <a:t>[bbak⁸⁻⁷ ziu¹]</a:t>
            </a:r>
            <a:endParaRPr lang="zh-TW" altLang="en-US"/>
          </a:p>
        </p:txBody>
      </p:sp>
      <p:sp>
        <p:nvSpPr>
          <p:cNvPr id="10" name="流程圖: 替代程序 9">
            <a:extLst>
              <a:ext uri="{FF2B5EF4-FFF2-40B4-BE49-F238E27FC236}">
                <a16:creationId xmlns:a16="http://schemas.microsoft.com/office/drawing/2014/main" id="{B84F14DE-F018-98EC-C9E6-F953DEA880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22250" y="4374294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【6】</a:t>
            </a:r>
            <a:r>
              <a:rPr lang="zh-TW" altLang="en-US"/>
              <a:t>鼻孔</a:t>
            </a:r>
            <a:r>
              <a:rPr lang="en-US" altLang="zh-TW"/>
              <a:t> </a:t>
            </a:r>
            <a:br>
              <a:rPr lang="en-US" altLang="zh-TW"/>
            </a:br>
            <a:r>
              <a:rPr lang="en-US" altLang="zh-TW"/>
              <a:t>[pni⁶⁻⁵ kang¹]</a:t>
            </a:r>
            <a:endParaRPr lang="zh-TW" altLang="en-US"/>
          </a:p>
        </p:txBody>
      </p:sp>
      <p:sp>
        <p:nvSpPr>
          <p:cNvPr id="11" name="流程圖: 替代程序 10">
            <a:extLst>
              <a:ext uri="{FF2B5EF4-FFF2-40B4-BE49-F238E27FC236}">
                <a16:creationId xmlns:a16="http://schemas.microsoft.com/office/drawing/2014/main" id="{642890ED-ED73-E289-4CC7-C5DE6830AF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22250" y="1290513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【2】</a:t>
            </a:r>
            <a:r>
              <a:rPr lang="zh-TW" altLang="en-US"/>
              <a:t>頭殼</a:t>
            </a:r>
            <a:br>
              <a:rPr lang="en-US" altLang="zh-TW"/>
            </a:br>
            <a:r>
              <a:rPr lang="en-US" altLang="zh-TW"/>
              <a:t>[tao²⁻⁶ kak⁷]</a:t>
            </a:r>
            <a:endParaRPr lang="zh-TW" altLang="en-US"/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04C5C01E-2460-11B4-FFA8-69E7AF5F7386}"/>
              </a:ext>
            </a:extLst>
          </p:cNvPr>
          <p:cNvCxnSpPr>
            <a:cxnSpLocks noGrp="1" noRot="1" noMove="1" noResize="1" noEditPoints="1" noAdjustHandles="1" noChangeArrowheads="1" noChangeShapeType="1"/>
            <a:stCxn id="9" idx="0"/>
            <a:endCxn id="7" idx="2"/>
          </p:cNvCxnSpPr>
          <p:nvPr/>
        </p:nvCxnSpPr>
        <p:spPr>
          <a:xfrm rot="16200000" flipV="1">
            <a:off x="3148715" y="4133104"/>
            <a:ext cx="1321242" cy="3309068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B973B922-DFE4-DFA4-366D-0D504F9B9FE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6200000" flipH="1">
            <a:off x="2822713" y="2049858"/>
            <a:ext cx="2325759" cy="2258174"/>
          </a:xfrm>
          <a:prstGeom prst="bentConnector3">
            <a:avLst>
              <a:gd name="adj1" fmla="val 168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8B9F96CE-FCC9-6D0D-6A8B-53D531E150F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764696" y="2045887"/>
            <a:ext cx="0" cy="2325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9458FA01-24F0-16D0-F9F8-D6A6C6EEC72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3196421" y="6916726"/>
            <a:ext cx="1225827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8B883DAF-E929-C328-0D63-B64F239A207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196420" y="6706683"/>
            <a:ext cx="1225827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A06D7326-74C8-7ADA-3E09-96CEA3A5539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3196420" y="4707587"/>
            <a:ext cx="12258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415C7050-0840-CD01-2C47-668E40B332C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 flipV="1">
            <a:off x="2115046" y="3574706"/>
            <a:ext cx="1" cy="796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BB8EF7D6-605B-5632-8A92-64B0B702662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2115046" y="2045887"/>
            <a:ext cx="3" cy="773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左中括弧 71">
            <a:extLst>
              <a:ext uri="{FF2B5EF4-FFF2-40B4-BE49-F238E27FC236}">
                <a16:creationId xmlns:a16="http://schemas.microsoft.com/office/drawing/2014/main" id="{07658648-9292-4DEE-DED5-88015A9454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1721" y="3226072"/>
            <a:ext cx="741455" cy="3599874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D8F9566A-4D7F-2A06-B15A-082ED48993B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29000" y="6375783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accent5"/>
                </a:solidFill>
              </a:rPr>
              <a:t>p/t/k</a:t>
            </a:r>
            <a:endParaRPr lang="zh-TW" altLang="en-US">
              <a:solidFill>
                <a:schemeClr val="accent5"/>
              </a:solidFill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101255CD-3871-7ED2-7B6E-BFA24AE84C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29000" y="685013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accent6"/>
                </a:solidFill>
              </a:rPr>
              <a:t>p/t/k</a:t>
            </a:r>
            <a:endParaRPr lang="zh-TW" altLang="en-US">
              <a:solidFill>
                <a:schemeClr val="accent6"/>
              </a:solidFill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966F5127-65E7-8C2B-45C3-953B525FA7B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02512" y="5296343"/>
            <a:ext cx="21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accent6"/>
                </a:solidFill>
              </a:rPr>
              <a:t>h</a:t>
            </a:r>
            <a:endParaRPr lang="zh-TW" altLang="en-US">
              <a:solidFill>
                <a:schemeClr val="accent6"/>
              </a:solidFill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5FA13A60-ADD2-987A-B313-211624685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5366" y="5953770"/>
            <a:ext cx="21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>
                <a:solidFill>
                  <a:schemeClr val="accent5"/>
                </a:solidFill>
              </a:rPr>
              <a:t>h</a:t>
            </a:r>
            <a:endParaRPr lang="zh-TW" altLang="en-US">
              <a:solidFill>
                <a:schemeClr val="accent5"/>
              </a:solidFill>
            </a:endParaRPr>
          </a:p>
        </p:txBody>
      </p:sp>
      <p:sp>
        <p:nvSpPr>
          <p:cNvPr id="79" name="矩形: 圓角 78">
            <a:extLst>
              <a:ext uri="{FF2B5EF4-FFF2-40B4-BE49-F238E27FC236}">
                <a16:creationId xmlns:a16="http://schemas.microsoft.com/office/drawing/2014/main" id="{DB4BD723-2833-4BEB-D6DC-E7BB149FED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16153" y="5278705"/>
            <a:ext cx="2389371" cy="36933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白目 </a:t>
            </a:r>
            <a:r>
              <a:rPr lang="en-US" altLang="zh-TW"/>
              <a:t>[Beh⁸⁻⁵ bbak⁸]</a:t>
            </a:r>
            <a:endParaRPr lang="zh-TW" altLang="en-US"/>
          </a:p>
        </p:txBody>
      </p: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83A7847E-C005-AAEC-8F5D-795598DBE2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3482" y="5946450"/>
            <a:ext cx="2187818" cy="36933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拍破</a:t>
            </a:r>
            <a:r>
              <a:rPr lang="en-US" altLang="zh-TW"/>
              <a:t> [pah⁷⁻³ pua⁵]</a:t>
            </a:r>
            <a:endParaRPr lang="zh-TW" altLang="en-US"/>
          </a:p>
        </p:txBody>
      </p:sp>
      <p:sp>
        <p:nvSpPr>
          <p:cNvPr id="86" name="矩形: 按鈕形 85">
            <a:extLst>
              <a:ext uri="{FF2B5EF4-FFF2-40B4-BE49-F238E27FC236}">
                <a16:creationId xmlns:a16="http://schemas.microsoft.com/office/drawing/2014/main" id="{8B95B49A-C4BE-83C5-B605-A2CFE1FECEF9}"/>
              </a:ext>
            </a:extLst>
          </p:cNvPr>
          <p:cNvSpPr/>
          <p:nvPr/>
        </p:nvSpPr>
        <p:spPr>
          <a:xfrm>
            <a:off x="1494211" y="7776736"/>
            <a:ext cx="3869577" cy="740025"/>
          </a:xfrm>
          <a:prstGeom prst="bevel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Black" panose="020B0200000000000000" pitchFamily="34" charset="-128"/>
                <a:ea typeface="Noto Sans TC Black" panose="020B0200000000000000" pitchFamily="34" charset="-128"/>
                <a:cs typeface="ADLaM Display" panose="020F0502020204030204" pitchFamily="2" charset="0"/>
              </a:rPr>
              <a:t>1 6 5 3 2 7 8</a:t>
            </a:r>
            <a:endParaRPr lang="zh-TW" altLang="en-US" sz="280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Black" panose="020B0200000000000000" pitchFamily="34" charset="-128"/>
              <a:ea typeface="Noto Sans TC Black" panose="020B0200000000000000" pitchFamily="34" charset="-128"/>
              <a:cs typeface="ADLaM Display" panose="020F0502020204030204" pitchFamily="2" charset="0"/>
            </a:endParaRPr>
          </a:p>
        </p:txBody>
      </p:sp>
      <p:pic>
        <p:nvPicPr>
          <p:cNvPr id="88" name="圖片 87">
            <a:extLst>
              <a:ext uri="{FF2B5EF4-FFF2-40B4-BE49-F238E27FC236}">
                <a16:creationId xmlns:a16="http://schemas.microsoft.com/office/drawing/2014/main" id="{84AB6647-AAF0-EE15-8FE3-49922EF19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73584"/>
            <a:ext cx="6858000" cy="378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3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B67BEE-19A1-6F1F-3100-934A7F9F4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FD08DEE-E338-76C7-E961-2C2D593C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312821"/>
            <a:ext cx="5915025" cy="647480"/>
          </a:xfrm>
        </p:spPr>
        <p:txBody>
          <a:bodyPr/>
          <a:lstStyle/>
          <a:p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八音變調圖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37A70BC-4614-0E78-8279-6151A4F11E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grayscl/>
            <a:alphaModFix amt="13000"/>
          </a:blip>
          <a:stretch>
            <a:fillRect/>
          </a:stretch>
        </p:blipFill>
        <p:spPr>
          <a:xfrm>
            <a:off x="0" y="1560709"/>
            <a:ext cx="6858000" cy="10064496"/>
          </a:xfrm>
          <a:prstGeom prst="rect">
            <a:avLst/>
          </a:prstGeom>
        </p:spPr>
      </p:pic>
      <p:sp>
        <p:nvSpPr>
          <p:cNvPr id="5" name="流程圖: 替代程序 4">
            <a:extLst>
              <a:ext uri="{FF2B5EF4-FFF2-40B4-BE49-F238E27FC236}">
                <a16:creationId xmlns:a16="http://schemas.microsoft.com/office/drawing/2014/main" id="{30D6E88B-576A-DFA8-2D79-A0745A9F8092}"/>
              </a:ext>
            </a:extLst>
          </p:cNvPr>
          <p:cNvSpPr/>
          <p:nvPr/>
        </p:nvSpPr>
        <p:spPr>
          <a:xfrm>
            <a:off x="1113183" y="1757238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流程圖: 替代程序 5">
            <a:extLst>
              <a:ext uri="{FF2B5EF4-FFF2-40B4-BE49-F238E27FC236}">
                <a16:creationId xmlns:a16="http://schemas.microsoft.com/office/drawing/2014/main" id="{ECD8560F-3EC6-ECC8-FA31-DF19BE8CF860}"/>
              </a:ext>
            </a:extLst>
          </p:cNvPr>
          <p:cNvSpPr/>
          <p:nvPr/>
        </p:nvSpPr>
        <p:spPr>
          <a:xfrm>
            <a:off x="1113180" y="3286057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流程圖: 替代程序 6">
            <a:extLst>
              <a:ext uri="{FF2B5EF4-FFF2-40B4-BE49-F238E27FC236}">
                <a16:creationId xmlns:a16="http://schemas.microsoft.com/office/drawing/2014/main" id="{81060C4D-40F4-AA14-CB1C-DB7DBBC4510E}"/>
              </a:ext>
            </a:extLst>
          </p:cNvPr>
          <p:cNvSpPr/>
          <p:nvPr/>
        </p:nvSpPr>
        <p:spPr>
          <a:xfrm>
            <a:off x="1113181" y="4838368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流程圖: 替代程序 7">
            <a:extLst>
              <a:ext uri="{FF2B5EF4-FFF2-40B4-BE49-F238E27FC236}">
                <a16:creationId xmlns:a16="http://schemas.microsoft.com/office/drawing/2014/main" id="{CF531656-7385-FA41-49E3-2B62D79C7048}"/>
              </a:ext>
            </a:extLst>
          </p:cNvPr>
          <p:cNvSpPr/>
          <p:nvPr/>
        </p:nvSpPr>
        <p:spPr>
          <a:xfrm>
            <a:off x="1113182" y="6914984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流程圖: 替代程序 8">
            <a:extLst>
              <a:ext uri="{FF2B5EF4-FFF2-40B4-BE49-F238E27FC236}">
                <a16:creationId xmlns:a16="http://schemas.microsoft.com/office/drawing/2014/main" id="{9FA0335D-B031-0198-9D8D-3904B6B43D31}"/>
              </a:ext>
            </a:extLst>
          </p:cNvPr>
          <p:cNvSpPr/>
          <p:nvPr/>
        </p:nvSpPr>
        <p:spPr>
          <a:xfrm>
            <a:off x="4422249" y="6914984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流程圖: 替代程序 9">
            <a:extLst>
              <a:ext uri="{FF2B5EF4-FFF2-40B4-BE49-F238E27FC236}">
                <a16:creationId xmlns:a16="http://schemas.microsoft.com/office/drawing/2014/main" id="{B56F0ADC-DE2B-63A0-3DFE-F5ACA278E98F}"/>
              </a:ext>
            </a:extLst>
          </p:cNvPr>
          <p:cNvSpPr/>
          <p:nvPr/>
        </p:nvSpPr>
        <p:spPr>
          <a:xfrm>
            <a:off x="4422250" y="4841019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流程圖: 替代程序 10">
            <a:extLst>
              <a:ext uri="{FF2B5EF4-FFF2-40B4-BE49-F238E27FC236}">
                <a16:creationId xmlns:a16="http://schemas.microsoft.com/office/drawing/2014/main" id="{E847B6F9-01E4-BE37-0DFF-2D1F2BED4E4A}"/>
              </a:ext>
            </a:extLst>
          </p:cNvPr>
          <p:cNvSpPr/>
          <p:nvPr/>
        </p:nvSpPr>
        <p:spPr>
          <a:xfrm>
            <a:off x="4422250" y="1757238"/>
            <a:ext cx="2083241" cy="7553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C26424D9-1F0F-27AF-29AA-110DC9321F57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rot="16200000" flipV="1">
            <a:off x="3148715" y="4599829"/>
            <a:ext cx="1321242" cy="3309068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B58633B8-958C-7FE1-C32C-DE0E4705EA8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6200000" flipH="1">
            <a:off x="2822713" y="2516583"/>
            <a:ext cx="2325759" cy="2258174"/>
          </a:xfrm>
          <a:prstGeom prst="bentConnector3">
            <a:avLst>
              <a:gd name="adj1" fmla="val 168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D5BDFFBE-AFBE-A60E-D25C-55ABD9E689F3}"/>
              </a:ext>
            </a:extLst>
          </p:cNvPr>
          <p:cNvCxnSpPr/>
          <p:nvPr/>
        </p:nvCxnSpPr>
        <p:spPr>
          <a:xfrm>
            <a:off x="5764696" y="2512612"/>
            <a:ext cx="0" cy="2325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232A6B40-9CC9-E30A-5DF4-703E30718897}"/>
              </a:ext>
            </a:extLst>
          </p:cNvPr>
          <p:cNvCxnSpPr>
            <a:cxnSpLocks/>
          </p:cNvCxnSpPr>
          <p:nvPr/>
        </p:nvCxnSpPr>
        <p:spPr>
          <a:xfrm flipH="1">
            <a:off x="3196421" y="7383451"/>
            <a:ext cx="1225827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A73E0610-D5F4-517A-C94C-680E6CC10FF2}"/>
              </a:ext>
            </a:extLst>
          </p:cNvPr>
          <p:cNvCxnSpPr>
            <a:cxnSpLocks/>
          </p:cNvCxnSpPr>
          <p:nvPr/>
        </p:nvCxnSpPr>
        <p:spPr>
          <a:xfrm>
            <a:off x="3196420" y="7173408"/>
            <a:ext cx="1225827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2A17D67A-7327-4DF7-5E0F-E3CB31DB1B9D}"/>
              </a:ext>
            </a:extLst>
          </p:cNvPr>
          <p:cNvCxnSpPr>
            <a:cxnSpLocks/>
          </p:cNvCxnSpPr>
          <p:nvPr/>
        </p:nvCxnSpPr>
        <p:spPr>
          <a:xfrm flipH="1">
            <a:off x="3196420" y="5174312"/>
            <a:ext cx="12258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84728C71-BFAE-BAF6-F5F2-E8ECDFA168CE}"/>
              </a:ext>
            </a:extLst>
          </p:cNvPr>
          <p:cNvCxnSpPr>
            <a:cxnSpLocks/>
          </p:cNvCxnSpPr>
          <p:nvPr/>
        </p:nvCxnSpPr>
        <p:spPr>
          <a:xfrm flipH="1" flipV="1">
            <a:off x="2115046" y="4041431"/>
            <a:ext cx="1" cy="796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1446E769-8390-0499-1F71-DEC1F30C550E}"/>
              </a:ext>
            </a:extLst>
          </p:cNvPr>
          <p:cNvCxnSpPr>
            <a:cxnSpLocks/>
          </p:cNvCxnSpPr>
          <p:nvPr/>
        </p:nvCxnSpPr>
        <p:spPr>
          <a:xfrm flipV="1">
            <a:off x="2115046" y="2512612"/>
            <a:ext cx="3" cy="773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左中括弧 71">
            <a:extLst>
              <a:ext uri="{FF2B5EF4-FFF2-40B4-BE49-F238E27FC236}">
                <a16:creationId xmlns:a16="http://schemas.microsoft.com/office/drawing/2014/main" id="{B8141D24-4E8E-40A0-AC32-3F06E1469F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1721" y="3692797"/>
            <a:ext cx="741455" cy="3599874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1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681</TotalTime>
  <Words>498</Words>
  <Application>Microsoft Office PowerPoint</Application>
  <PresentationFormat>寬螢幕</PresentationFormat>
  <Paragraphs>51</Paragraphs>
  <Slides>7</Slides>
  <Notes>2</Notes>
  <HiddenSlides>2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6" baseType="lpstr">
      <vt:lpstr>Microsoft JhengHei UI</vt:lpstr>
      <vt:lpstr>Noto Sans TC Black</vt:lpstr>
      <vt:lpstr>Noto Sans TC Medium</vt:lpstr>
      <vt:lpstr>Noto Serif TC Black</vt:lpstr>
      <vt:lpstr>Aptos</vt:lpstr>
      <vt:lpstr>Aptos Display</vt:lpstr>
      <vt:lpstr>Arial</vt:lpstr>
      <vt:lpstr>Charis SemiBold</vt:lpstr>
      <vt:lpstr>Office 佈景主題</vt:lpstr>
      <vt:lpstr>閩拼聲調與變調</vt:lpstr>
      <vt:lpstr>閩南八音（台灣/廈門腔）</vt:lpstr>
      <vt:lpstr>八音速記圖</vt:lpstr>
      <vt:lpstr>八音變調規則（台灣/廈門腔）</vt:lpstr>
      <vt:lpstr>八音變調圖（台灣/廈門腔）</vt:lpstr>
      <vt:lpstr>八音變調圖（台灣/廈門腔）</vt:lpstr>
      <vt:lpstr>八音變調圖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正中 居</dc:creator>
  <cp:lastModifiedBy>正中 居</cp:lastModifiedBy>
  <cp:revision>17</cp:revision>
  <dcterms:created xsi:type="dcterms:W3CDTF">2026-10-13T03:21:08Z</dcterms:created>
  <dcterms:modified xsi:type="dcterms:W3CDTF">2026-10-18T06:14:12Z</dcterms:modified>
</cp:coreProperties>
</file>