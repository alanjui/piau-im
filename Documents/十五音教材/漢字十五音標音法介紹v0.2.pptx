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63"/>
  </p:notesMasterIdLst>
  <p:handoutMasterIdLst>
    <p:handoutMasterId r:id="rId64"/>
  </p:handoutMasterIdLst>
  <p:sldIdLst>
    <p:sldId id="306" r:id="rId5"/>
    <p:sldId id="401" r:id="rId6"/>
    <p:sldId id="368" r:id="rId7"/>
    <p:sldId id="344" r:id="rId8"/>
    <p:sldId id="335" r:id="rId9"/>
    <p:sldId id="345" r:id="rId10"/>
    <p:sldId id="346" r:id="rId11"/>
    <p:sldId id="347" r:id="rId12"/>
    <p:sldId id="348" r:id="rId13"/>
    <p:sldId id="416" r:id="rId14"/>
    <p:sldId id="317" r:id="rId15"/>
    <p:sldId id="340" r:id="rId16"/>
    <p:sldId id="328" r:id="rId17"/>
    <p:sldId id="400" r:id="rId18"/>
    <p:sldId id="393" r:id="rId19"/>
    <p:sldId id="395" r:id="rId20"/>
    <p:sldId id="396" r:id="rId21"/>
    <p:sldId id="315" r:id="rId22"/>
    <p:sldId id="386" r:id="rId23"/>
    <p:sldId id="358" r:id="rId24"/>
    <p:sldId id="359" r:id="rId25"/>
    <p:sldId id="388" r:id="rId26"/>
    <p:sldId id="387" r:id="rId27"/>
    <p:sldId id="322" r:id="rId28"/>
    <p:sldId id="326" r:id="rId29"/>
    <p:sldId id="408" r:id="rId30"/>
    <p:sldId id="413" r:id="rId31"/>
    <p:sldId id="411" r:id="rId32"/>
    <p:sldId id="412" r:id="rId33"/>
    <p:sldId id="414" r:id="rId34"/>
    <p:sldId id="316" r:id="rId35"/>
    <p:sldId id="341" r:id="rId36"/>
    <p:sldId id="327" r:id="rId37"/>
    <p:sldId id="392" r:id="rId38"/>
    <p:sldId id="343" r:id="rId39"/>
    <p:sldId id="342" r:id="rId40"/>
    <p:sldId id="415" r:id="rId41"/>
    <p:sldId id="336" r:id="rId42"/>
    <p:sldId id="333" r:id="rId43"/>
    <p:sldId id="398" r:id="rId44"/>
    <p:sldId id="399" r:id="rId45"/>
    <p:sldId id="314" r:id="rId46"/>
    <p:sldId id="417" r:id="rId47"/>
    <p:sldId id="402" r:id="rId48"/>
    <p:sldId id="406" r:id="rId49"/>
    <p:sldId id="403" r:id="rId50"/>
    <p:sldId id="404" r:id="rId51"/>
    <p:sldId id="390" r:id="rId52"/>
    <p:sldId id="389" r:id="rId53"/>
    <p:sldId id="391" r:id="rId54"/>
    <p:sldId id="397" r:id="rId55"/>
    <p:sldId id="410" r:id="rId56"/>
    <p:sldId id="349" r:id="rId57"/>
    <p:sldId id="409" r:id="rId58"/>
    <p:sldId id="407" r:id="rId59"/>
    <p:sldId id="325" r:id="rId60"/>
    <p:sldId id="324" r:id="rId61"/>
    <p:sldId id="418" r:id="rId62"/>
  </p:sldIdLst>
  <p:sldSz cx="10287000" cy="1828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4" userDrawn="1">
          <p15:clr>
            <a:srgbClr val="A4A3A4"/>
          </p15:clr>
        </p15:guide>
        <p15:guide id="2" pos="314" userDrawn="1">
          <p15:clr>
            <a:srgbClr val="A4A3A4"/>
          </p15:clr>
        </p15:guide>
        <p15:guide id="3" orient="horz" pos="11339" userDrawn="1">
          <p15:clr>
            <a:srgbClr val="A4A3A4"/>
          </p15:clr>
        </p15:guide>
        <p15:guide id="4" pos="609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0020" autoAdjust="0"/>
    <p:restoredTop sz="95373" autoAdjust="0"/>
  </p:normalViewPr>
  <p:slideViewPr>
    <p:cSldViewPr snapToGrid="0">
      <p:cViewPr>
        <p:scale>
          <a:sx n="50" d="100"/>
          <a:sy n="50" d="100"/>
        </p:scale>
        <p:origin x="1038" y="-108"/>
      </p:cViewPr>
      <p:guideLst>
        <p:guide orient="horz" pos="1904"/>
        <p:guide pos="314"/>
        <p:guide orient="horz" pos="11339"/>
        <p:guide pos="609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35448"/>
    </p:cViewPr>
  </p:sorterViewPr>
  <p:notesViewPr>
    <p:cSldViewPr snapToGrid="0">
      <p:cViewPr varScale="1">
        <p:scale>
          <a:sx n="87" d="100"/>
          <a:sy n="87" d="100"/>
        </p:scale>
        <p:origin x="381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handoutMaster" Target="handoutMasters/handoutMaster1.xml"/><Relationship Id="rId69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1C7BD883-E570-4B0F-9E18-F89D060514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7825A8-A57B-43B0-BA2C-78F0335611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4DE4D-4E38-4D8C-8D32-A26C2FA8CED4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2026/9/5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2404714-211C-45BF-8164-268C01DCBD7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36E2E20-ED21-467B-ABCD-FF8842D9D1E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AB8736-D8EB-47F3-A4C4-7D5F34ACE922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44914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EB2F747-81C0-41F9-A53E-9239588F4D56}" type="datetime1">
              <a:rPr lang="zh-TW" altLang="en-US" smtClean="0"/>
              <a:pPr/>
              <a:t>2026/9/5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939589-3E79-4C82-AA4A-FE78234FAA59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6" Type="http://schemas.openxmlformats.org/officeDocument/2006/relationships/slide" Target="../slides/slide38.xml"/><Relationship Id="rId5" Type="http://schemas.openxmlformats.org/officeDocument/2006/relationships/slide" Target="../slides/slide36.xml"/><Relationship Id="rId4" Type="http://schemas.openxmlformats.org/officeDocument/2006/relationships/slide" Target="../slides/slide3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2652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420D-8D7C-50E4-A87A-0B909ED5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5442DE-CD47-ED48-98C6-50B5FE41D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B460EB-20D2-C00F-B52C-2D0DE8006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B48A9F-0F1C-7F72-9FDE-E5D2DBB01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4299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420D-8D7C-50E4-A87A-0B909ED5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F5442DE-CD47-ED48-98C6-50B5FE41D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B460EB-20D2-C00F-B52C-2D0DE8006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B48A9F-0F1C-7F72-9FDE-E5D2DBB017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4299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CDB33-7D12-ED9D-BCF5-F4422497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24593D-B456-1CE5-4327-BD8D851DE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8F4BBFF-0459-B82C-8980-B00A55472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B8DB45-5443-70F1-24A4-120FE23E9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4703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58D27-3A0F-FD08-D110-2CA9E8807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26BF6CA-BF95-DF55-2BD8-7E9AD7E57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E86B80-28BC-22EB-B104-3DD780FA1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644F63-F46B-FBA2-66A9-3E2F45D8A7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37020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70744-8702-4A08-776F-DC0E70222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BC0AE87-4315-FAD8-56C3-DE4E6E8372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53D3DE9-8059-2F7D-76B0-EE3D8C723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0D6B8B-31F0-33C3-78D3-B14E36A239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08354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8228-60DC-67BF-E834-2AC77F9F2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DF5423C-46F2-329D-AF4D-3818978B3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E9E8FC1-1562-06C9-785F-F183F4CC9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73E4B3F-0348-3F2C-05E3-9F8E51168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70703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77FB7-8AB8-6C05-33D7-C68D67214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A4A0069-02E5-FE31-35A1-F54170E008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D91EC6-27B9-25EA-E674-3AE0A3B19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9B3138-DFA2-A60A-4EF5-7EEB956CE6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0633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C2EE1-5949-10B9-9FD9-E34657189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6949397-8D0A-47C7-4668-1A8C64E9B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6A0401-9EC6-B1DF-8900-6E454AAC3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經過先前的介紹，在此先做一總結：欲熟悉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十五音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之使用，作為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漢字讀音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標注工具，首先需學習的四大目標為：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字母</a:t>
            </a: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 50 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字（韻母）</a:t>
            </a:r>
            <a:endParaRPr lang="en-US" altLang="zh-TW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50 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字母分八音（音調</a:t>
            </a: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/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聲調）</a:t>
            </a:r>
            <a:endParaRPr lang="en-US" altLang="zh-TW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切音 </a:t>
            </a:r>
            <a:r>
              <a:rPr lang="en-US" altLang="zh-TW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15 </a:t>
            </a: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字（聲母）</a:t>
            </a:r>
            <a:endParaRPr lang="en-US" altLang="zh-TW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sz="12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6" action="ppaction://hlinksldjump"/>
              </a:rPr>
              <a:t>呼十五音法</a:t>
            </a:r>
            <a:endParaRPr lang="zh-TW" altLang="en-US" sz="12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5D935E-F10B-BF89-2C43-65488248F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6729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9C67-0039-5EF7-6B95-3DDF7B94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D52B37-5039-8CD5-9E3B-3FA46F525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0B6E29-237E-6F91-4427-0EA31A7FA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6D5FB6-FB47-535B-BD2E-7D31409CF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11901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7E6D8-D5C7-8D92-FA7E-F27F6D4BD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1AFC80D-CFA7-C0CC-76FB-8593B46A2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443F3A9-B6AB-AE88-4A5B-F04E100DB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五十字母清單，熟練到：視字知韻。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分：舒聲韻、促聲韻。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】=【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】=【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-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嘉：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ee [ɛ]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-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稽：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-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伽：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 [e]</a:t>
            </a: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更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[ẽ]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ẽʔ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enn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/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ennh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更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[ɛ̃]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ɛ̃ʔ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檜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/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ueh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檜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uei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ueiʔ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[ɔ] 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oo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沽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ou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onn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</a:t>
            </a: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õu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</a:p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[ɔ̃]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ɔ̃ʔ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onnh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字韻棄用，併入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姑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</a:t>
            </a:r>
            <a:b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7.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今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經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ik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==&gt;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台羅拼音：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ing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/ 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ik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  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古音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》==&gt; 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經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ɛŋ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（舒聲）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[</a:t>
            </a:r>
            <a:r>
              <a:rPr lang="en-US" altLang="zh-TW" dirty="0" err="1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ɛk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]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（促聲）</a:t>
            </a: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222BEC-CC1B-E06C-E27C-7297884BA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0994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9C67-0039-5EF7-6B95-3DDF7B94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AD52B37-5039-8CD5-9E3B-3FA46F525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0B6E29-237E-6F91-4427-0EA31A7FA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列舉：每個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舒聲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促聲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韻；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現今優勢腔之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國際音標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雅俗通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國際音標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習慣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拼音字母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：屬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羅馬字母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習慣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拼音字母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漢語拼音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美語自然發音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閩拼方案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注音二式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習慣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注音符號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方音符號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6D5FB6-FB47-535B-BD2E-7D31409CF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52075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64A92-3B4F-FC59-A87C-864F05193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9A6BEE9-F459-5A48-20C7-AC7BE52CD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3D38C5E-B143-324E-FF48-82BA7F5D2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C83C70-6871-02E8-D889-C90C0A92D1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3506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8D7D8-5242-360B-12F8-C0F39DF65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310C39-6ED1-16BF-D954-23AEED270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83A3505-B917-3643-0BE5-6EDC7F699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2793E3-6601-6C4B-4EF4-CC26D6E57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0758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F43A-6717-595D-2001-E52937281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ACD0835-D375-3155-C752-8C188B807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8CFB9C2-679D-DCDF-DFFE-90075F3626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3DC88D-C231-90A1-CA40-EC0E30D1B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14660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F0E3-582F-DE81-A589-EF5A2D0E0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3412F-1E4C-ECB8-898D-2415A1DF4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3EFAF0-CB68-42C7-7F5A-2B85CB1D8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AB2369-DB4F-6AD9-C1E7-B5779EA7B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6478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7F6B5-A131-663B-2AD7-17BA48649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A1575B-CAA6-9F94-187F-47F513CB8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7B72D1-E118-DE17-6BD2-B01D36973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61C18D-87A8-0E4A-5559-BDF64087A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49106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8BDC-D1F5-0FB3-596D-8EE6E77B6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D8365EF-9703-9359-CB25-6FC70D051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655BEE-00E5-96A5-FB66-AD0C10437E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認識：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閩南語的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四聲八調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】;</a:t>
            </a:r>
          </a:p>
          <a:p>
            <a:pPr marL="228600" indent="-228600">
              <a:buFont typeface="+mj-lt"/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知曉：舒聲調、促聲調之定義。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60D7449-A4F3-B087-B3DA-283CBF8FC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5765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3ABFE-F17A-812A-4FC4-DD24695CF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D45A84D-665A-38CF-F8BD-2F64BBA5A0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144E3B-3E53-3B47-89C8-CF72990AE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閩南語的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八調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：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先分上、下兩部；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再分四聲：平、上、去、入。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雅俗通十五音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八調分：上、下部；在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則為：分陰、陽。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D86513-B865-97F6-806C-8BF389A14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39770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4F5E-2645-F827-37AC-3FB455B3E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2425DAA-8FCA-40AA-4337-E64D3272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A495CF3-4096-BD69-6C4F-B152A2523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聲調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之表示，以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調名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最為精準；為求便利，可改以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調號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。但需小心，自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《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雅俗通十五音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》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開始的傳統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八聲調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，與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閩拼方案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編號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順序不相同。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723A4C-6AF7-15CB-E4E1-F6D5606F2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632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D9EE-05EA-A43D-4E66-028EBC0B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A046A1-F800-7766-17DB-9A968F94E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D4F594-91D6-6734-334F-0BA81BA2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閩南語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屬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聲調語言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的每一個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字韻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，有八種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聲調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】/【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，發音時之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聲調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若有錯誤，將致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字義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改變，造成溝通誤解。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語言學的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五度標音法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，將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音高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從最低的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到最高的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，分五級。借助此法，將閩南語的八個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聲調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定義其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調值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，可助我們精準掌握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聲調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先參考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普通話四音調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再觀察閩南語的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八調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C8772B-74B4-DDED-D4B7-76FBC2777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7963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1A68-74A2-DA1C-290C-50E4FFE4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5AF29DF-5373-4F81-8FAA-CCF5F8BC4D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361BCBB-2128-F46D-3717-C98DDCDC0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670F3C-6D41-0323-36DB-7AD578E46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55769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D9EE-05EA-A43D-4E66-028EBC0B5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0A046A1-F800-7766-17DB-9A968F94E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D4F594-91D6-6734-334F-0BA81BA2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W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八調五度標記助記法：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1 7 3 2 5 4 8</a:t>
            </a: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陰平調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/1</a:t>
            </a: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中音調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陽去調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/7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低音調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陰去調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/3</a:t>
            </a:r>
            <a:b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高降調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上声調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/2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低升調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陽平調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/5</a:t>
            </a:r>
            <a:b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</a:b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低促調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陰入調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/4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高促調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陽入調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/8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C8772B-74B4-DDED-D4B7-76FBC2777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9796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DCBB9-AA15-63FB-86A1-C7EDE21BD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02BF14-8FEB-D359-A121-E711635225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DA3A8EE-AC09-A570-99CF-01B5196A5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字母八音反切練習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使用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方音符號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；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使用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台羅拼音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C12F105-5D70-D4A6-A2E6-41676C6CF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7547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17F14-2B55-CE37-0039-BAABECF71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B5EE91A-8841-F9E3-E037-4D6393BAE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704627C-3E6E-28A7-14A2-BFDBC8EAD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【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字母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】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八音反切列舉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5FBCA1-2031-3214-39A3-9C7F6B437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78501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B51F8-B336-9A95-8A2A-991842430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05138C0-FC79-1BCF-A88E-E5372D93A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546D4B0-5467-851D-58E0-9137CEB7F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23E14E-94D8-281C-7A14-C9E7E8064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466442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004A-3EE1-6A3F-47AD-221CC7EB4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37F5F0-668C-3C7F-63B5-9703604BF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37469B2-8E98-1329-5FFC-179E4A1DBF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429803-461D-00D3-2B3E-72EA13796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93524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EBA9-8A8C-8A4C-25ED-51E9692D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AD110E-4C03-D150-4A5B-D37E67F99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C761A2E-7CA3-3D39-DA9F-EA14A05BB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CBD645-4714-E057-7F24-0CC9E3535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863262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AFA33-A6DF-FC5F-8B6A-C1BFCE47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498FEB3-74ED-ADB2-7E5E-A740D75F3F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E4D68FF-99A6-1010-D5F5-69F3DD6CF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39EF3AB-56EB-D1DE-7EE0-9CF886F20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808775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3BD0C-6153-18D7-3C1D-09F9BB1E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EAE40E-990E-B4D8-ABCE-B100AEE40F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F07D187-229F-CDB6-E8CF-CCCC85CFBB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494E79D-7929-FC96-6D4C-5B636DF5D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72745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5309D-CCD9-3589-1397-98D0C30E6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16F4A6B-7171-3F20-26E9-04BDB13E6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88D876B-6ADF-FD7E-07AD-0EEAEC44A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06CF1D-0C4D-ED44-9935-91B0AF076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55090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AA496-0043-FF05-3273-676162EE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57F5233-344E-DD04-9B73-3488A77456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402C7D-92AF-5CF5-0FE3-06CD946F8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柳分：柳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(l)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、耐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(n)</a:t>
            </a:r>
          </a:p>
          <a:p>
            <a:pPr marL="228600" indent="-228600">
              <a:buAutoNum type="arabicPeriod"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門分：門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(b)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、毛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(m)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語分：語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(ng )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、雅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(g)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marL="228600" indent="-228600">
              <a:buAutoNum type="arabicPeriod"/>
            </a:pPr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6713A4-E91C-A842-B190-E5FA3856B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37470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B24AB-0236-7717-B79B-E1533F34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7CBE05-9916-95CD-D5B7-EBBD14ABA6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6BAD35-8229-8F7C-B572-F64554D7B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C5DB17-ADB6-824A-82CB-F8946F5A19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72635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56937-5ECA-BDB9-5540-BBA6A8678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124FE2-28F6-FB85-DB72-CF96AD15F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C30620-1C45-16D2-1477-80D1D8CE0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5522C9-006A-D2FB-8977-55F8B7709B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55808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B6E38-E4B6-BEF9-C61A-36AC06B00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73301CB-8EF5-1F47-7E05-7E3260658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412E439-D14D-BA47-47B2-EAC09EF18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4D1392-F0CD-8609-AC8D-405243FD75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79254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90C1-E537-FE6B-EC0A-73935A655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D844790-F1DE-0E68-C2FF-E303C9CF8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7E4F3D-57BE-0BF7-12C5-1BAE5FE0C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2B920E-CDC8-93A8-4EC8-F09A3DD6A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65616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6A77-DB83-D80A-6158-4778799EE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3D8308-DB22-5E2B-CFA2-4F2DDE2F5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43BE636-C03E-0F8A-9D77-142D93538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A65088-46C5-21E0-C744-BB05F9E04F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802378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53AAA-6895-FA9E-EAF4-2A56600A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C64B78-7C24-B5B6-2377-B3CDC58017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B9BDB02-DF11-F999-76CE-0103A396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6417D6-6D81-CA58-E608-F4D4290EE5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543078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BA0C-E957-5B02-C092-2C3C6959A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063AD1C-7BBE-AD9C-B08E-9D120E4CE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5DB2B40-D58E-1121-E318-C3E369027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1AAAC5-678F-254C-0A76-38A8CF8D0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893569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CAB5D-11B6-758E-A7F6-DE0843E4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2548CA7-38E8-B90B-F79F-B36F59DA9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562B85E-A95A-6FED-FA37-B6E415834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4EDC50-497D-89ED-618D-056E3C083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919912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4D69A-889D-F604-C710-5F25227BD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BE10DB3-9C75-5BC1-8F4B-4B3C2BF79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8F2B639-74FD-C197-FFCA-820696A7B8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EE204B-9436-7F56-C3B8-DA7DB53B6C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799356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97A3F-DDAC-667E-3610-AA2D5DB8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61D8F7-EE5C-B0C3-B494-25EFA2A26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82917ED-9975-A92F-F499-C0CD1BD77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DE20C0-92F9-E04F-E793-339FBF2FFC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776822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60A8C-1A1F-2887-1547-7830E59E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2D0B33-FA34-097A-A2DB-43501B951E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163AFF-52B0-6C90-5345-788C99656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508BA51-1B90-AC89-DD6C-7F73AFA10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333903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53737-640A-1205-5B58-5414FA865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DD64E0-50A5-56B0-1A3B-5062B712B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3B39E6B-226C-9FBB-0DE0-DF421DAC45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0239309-67D5-1BC9-3B3C-3CE0C689F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26382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F67F6-38C7-E24F-95E2-54600E888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E04ABD1-EBD4-8B1E-8476-3326FADDE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BABEF60-C8B0-FE47-30DE-91FF2E953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CE85346-74A2-57EC-29B7-B60138212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153943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0F860-2529-F7AE-5AB8-7EA87E038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B64FEEC-DCA4-329C-8D15-47371A98A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AC2BBE-C8DD-4924-088A-48A5292B4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DED75-840E-04B1-AA96-E143154EF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54104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32FEB-4F80-8EF7-FB40-6A8FA90C4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7928F57-8089-D12A-758F-E602884BD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F14239B-2450-8CEF-4A54-D43B814FD9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AC591D-965D-C227-59B4-A573688EA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32474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6BFCA-AEBE-5CE9-E6D8-6936D0BFA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6E86BF5-C82A-62FC-C8F4-0A86884C4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B0ECE38-FDD4-087F-E11C-30E07D408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0965BF-7A00-4358-EE05-9296FEF84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49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946673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9A584-6D39-E4B7-3B19-4B0F1C1E7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3305888-26D9-CA66-6B5B-EA08F8063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8B232F-E4D3-B1E8-B2D9-FC7B0D66B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62D498-5E31-A63B-C5F3-69BD1BA0A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50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57262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9F41F-42A7-B9F4-101B-03950332E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72EF9DD-178A-79C5-A282-0593AA8F6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3BA3042-517E-FD04-E767-695BCEE321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F06C02-B731-9C4C-3A8A-C1FC98E99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939589-3E79-4C82-AA4A-FE78234FAA59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56124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C216-3FAB-0993-7A76-A6E2D96B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ED478D9-36F3-9FCD-4DD0-F9065CAE3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68A4E1-F3CC-05B4-F2C9-C518907D4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99915D-9E67-AA08-0964-87F630339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54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91937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C2C42-57C3-7722-EB2B-5BE3D15F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5799754-FD3F-2720-7A88-7F12E296DF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3DE8A9-5225-1F3B-8AA7-5F8DBA8CE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3160ECE-C6C7-BA3A-AE12-DF2D7B6B78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55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754377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BBB98-27A3-3FCC-47BE-4027654BF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420C2C-3A61-0F39-34F3-550BB744F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4FDF1E3-6FBE-E29F-8D9C-9B27AB5C5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CD7E52-53DC-5495-0FAC-00CF2D9084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56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35215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61B5E-F896-67F4-0C5A-CE2019701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50BC194-8AB0-56DA-614E-10574DD06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A003E07-CEC5-7F07-BBDC-96EC736BB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73FD73-EA1B-4024-06E5-2F40534EE9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57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752722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7F5BF-539D-3892-E382-B7248656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38A7D0-62DC-AD29-C77E-BA76C0AE9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60638" y="1143000"/>
            <a:ext cx="1736725" cy="30861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BD83743-3CF0-9E2F-7628-CB2B0DEFF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BAE711-1675-FC35-3060-C379FFDA1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58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849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875" y="2992968"/>
            <a:ext cx="7715250" cy="6366933"/>
          </a:xfrm>
        </p:spPr>
        <p:txBody>
          <a:bodyPr rtlCol="0" anchor="b"/>
          <a:lstStyle>
            <a:lvl1pPr algn="l">
              <a:defRPr sz="5063" b="1" i="0" cap="all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5875" y="9605435"/>
            <a:ext cx="7715250" cy="4415365"/>
          </a:xfrm>
        </p:spPr>
        <p:txBody>
          <a:bodyPr rtlCol="0"/>
          <a:lstStyle>
            <a:lvl1pPr marL="0" indent="0" algn="l">
              <a:buNone/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cxnSp>
        <p:nvCxnSpPr>
          <p:cNvPr id="11" name="直線接點​​(S)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604032" y="2970801"/>
            <a:ext cx="0" cy="1529503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 2 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5565" y="1584960"/>
            <a:ext cx="5292662" cy="7583424"/>
          </a:xfrm>
        </p:spPr>
        <p:txBody>
          <a:bodyPr rtlCol="0" anchor="b"/>
          <a:lstStyle>
            <a:lvl1pPr algn="l">
              <a:defRPr sz="4557" b="1" i="0" cap="all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0309" y="12533376"/>
            <a:ext cx="4297394" cy="3194304"/>
          </a:xfrm>
        </p:spPr>
        <p:txBody>
          <a:bodyPr rtlCol="0">
            <a:normAutofit/>
          </a:bodyPr>
          <a:lstStyle>
            <a:lvl1pPr marL="0" indent="0" algn="r">
              <a:buNone/>
              <a:defRPr sz="1688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097940" y="9323525"/>
            <a:ext cx="0" cy="8940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圖形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6933752" y="7930240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圖形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6631033" y="7318789"/>
            <a:ext cx="117313" cy="37076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圖形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6617921" y="8528708"/>
            <a:ext cx="107758" cy="340568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圖片版面配置區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52927" y="6746823"/>
            <a:ext cx="3128601" cy="9887923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35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977" y="1560576"/>
            <a:ext cx="4922330" cy="6071616"/>
          </a:xfrm>
        </p:spPr>
        <p:txBody>
          <a:bodyPr rtlCol="0" anchor="b"/>
          <a:lstStyle>
            <a:lvl1pPr algn="r">
              <a:defRPr sz="5063" b="1" cap="all" spc="338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5498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004899" y="5502206"/>
            <a:ext cx="7437120" cy="30807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5194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722346" y="9341419"/>
            <a:ext cx="0" cy="892290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977" y="8339328"/>
            <a:ext cx="4922330" cy="8314944"/>
          </a:xfrm>
        </p:spPr>
        <p:txBody>
          <a:bodyPr rtlCol="0"/>
          <a:lstStyle>
            <a:lvl1pPr marL="0" indent="0" algn="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1" name="圖形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003926" y="7360739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形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3701206" y="6749287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圖形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409051" y="16084192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圖片版面配置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87595" y="4441387"/>
            <a:ext cx="3600248" cy="11378581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942" y="3560064"/>
            <a:ext cx="5223224" cy="3145536"/>
          </a:xfrm>
        </p:spPr>
        <p:txBody>
          <a:bodyPr lIns="91440" tIns="45720" rIns="91440" bIns="45720" rtlCol="0" anchor="b"/>
          <a:lstStyle>
            <a:lvl1pPr>
              <a:defRPr sz="455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518" y="7534656"/>
            <a:ext cx="5223224" cy="892454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192893"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385785"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578678"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19983" y="1658113"/>
            <a:ext cx="3471863" cy="973667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1" y="2150587"/>
            <a:ext cx="6668766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875" y="3901440"/>
            <a:ext cx="7715250" cy="6242304"/>
          </a:xfrm>
        </p:spPr>
        <p:txBody>
          <a:bodyPr rtlCol="0" anchor="b">
            <a:normAutofit/>
          </a:bodyPr>
          <a:lstStyle>
            <a:lvl1pPr algn="ctr">
              <a:defRPr sz="5063" b="1" i="0" cap="all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8447" y="10290048"/>
            <a:ext cx="7715250" cy="3535680"/>
          </a:xfrm>
        </p:spPr>
        <p:txBody>
          <a:bodyPr rtlCol="0">
            <a:normAutofit/>
          </a:bodyPr>
          <a:lstStyle>
            <a:lvl1pPr marL="0" indent="0" algn="ctr">
              <a:buNone/>
              <a:defRPr sz="1688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圖形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9089099" y="8144957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圖形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9048683" y="6708903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圖形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9302204" y="7433525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圖形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064702" y="7022528"/>
            <a:ext cx="127859" cy="40409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圖形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897795" y="8222236"/>
            <a:ext cx="80797" cy="255357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形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192561" y="9314321"/>
            <a:ext cx="91652" cy="289667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4557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7" name="直線接點​​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960" y="2243328"/>
            <a:ext cx="3741896" cy="863193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844"/>
              </a:spcBef>
              <a:defRPr sz="3038" b="0" i="0" cap="none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2959" y="11996928"/>
            <a:ext cx="3741892" cy="136126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5044726" y="4575614"/>
            <a:ext cx="9460992" cy="308074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7" name="直線接點​​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9775824" y="9651392"/>
            <a:ext cx="0" cy="863660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4876800" cy="1828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9173" y="804672"/>
            <a:ext cx="4405408" cy="167030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標題與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61" y="973668"/>
            <a:ext cx="9088565" cy="3534835"/>
          </a:xfrm>
        </p:spPr>
        <p:txBody>
          <a:bodyPr rtlCol="0"/>
          <a:lstStyle>
            <a:lvl1pPr>
              <a:defRPr sz="4557" b="1" cap="all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61" y="4868333"/>
            <a:ext cx="9088565" cy="1160356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5498" y="16950268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75183" y="2243329"/>
            <a:ext cx="3062954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圖形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9451910" y="917555"/>
            <a:ext cx="127859" cy="40409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圖形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9756401" y="1575761"/>
            <a:ext cx="91652" cy="289667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009" y="4868333"/>
            <a:ext cx="3842195" cy="11603568"/>
          </a:xfrm>
        </p:spPr>
        <p:txBody>
          <a:bodyPr rtlCol="0">
            <a:normAutofit/>
          </a:bodyPr>
          <a:lstStyle>
            <a:lvl1pPr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24715" y="4868333"/>
            <a:ext cx="3842195" cy="11603568"/>
          </a:xfrm>
        </p:spPr>
        <p:txBody>
          <a:bodyPr rtlCol="0">
            <a:normAutofit/>
          </a:bodyPr>
          <a:lstStyle>
            <a:lvl1pPr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圖形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8866393" y="1312551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圖形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9684515" y="2814883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圖形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9485062" y="1191032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1" y="973668"/>
            <a:ext cx="8872538" cy="353483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009" y="4483101"/>
            <a:ext cx="3842195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009" y="6680200"/>
            <a:ext cx="3842195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4715" y="4483101"/>
            <a:ext cx="3842195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預留位置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715" y="6680200"/>
            <a:ext cx="3842195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18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圖形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8866393" y="1312551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圖形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9684515" y="2814883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圖形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9485062" y="1191032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1" y="973668"/>
            <a:ext cx="8872538" cy="353483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009" y="4483101"/>
            <a:ext cx="2391728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內容預留位置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009" y="6680200"/>
            <a:ext cx="2391728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/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04811" y="4483101"/>
            <a:ext cx="2391728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04811" y="6680200"/>
            <a:ext cx="2391728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/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圖形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8866393" y="1312551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圖形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9684515" y="2814883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6" name="圖形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9485062" y="1191032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文字預留位置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98328" y="4718051"/>
            <a:ext cx="2391728" cy="2197099"/>
          </a:xfrm>
        </p:spPr>
        <p:txBody>
          <a:bodyPr rtlCol="0" anchor="b"/>
          <a:lstStyle>
            <a:lvl1pPr marL="0" indent="0">
              <a:buNone/>
              <a:defRPr sz="2025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688" b="1"/>
            </a:lvl2pPr>
            <a:lvl3pPr marL="771571" indent="0">
              <a:buNone/>
              <a:defRPr sz="1519" b="1"/>
            </a:lvl3pPr>
            <a:lvl4pPr marL="1157356" indent="0">
              <a:buNone/>
              <a:defRPr sz="1350" b="1"/>
            </a:lvl4pPr>
            <a:lvl5pPr marL="1543141" indent="0">
              <a:buNone/>
              <a:defRPr sz="1350" b="1"/>
            </a:lvl5pPr>
            <a:lvl6pPr marL="1928927" indent="0">
              <a:buNone/>
              <a:defRPr sz="1350" b="1"/>
            </a:lvl6pPr>
            <a:lvl7pPr marL="2314712" indent="0">
              <a:buNone/>
              <a:defRPr sz="1350" b="1"/>
            </a:lvl7pPr>
            <a:lvl8pPr marL="2700498" indent="0">
              <a:buNone/>
              <a:defRPr sz="1350" b="1"/>
            </a:lvl8pPr>
            <a:lvl9pPr marL="3086283" indent="0">
              <a:buNone/>
              <a:defRPr sz="1350" b="1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17" name="內容版面配置區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8328" y="6915149"/>
            <a:ext cx="2391728" cy="9825568"/>
          </a:xfrm>
        </p:spPr>
        <p:txBody>
          <a:bodyPr rtlCol="0">
            <a:normAutofit/>
          </a:bodyPr>
          <a:lstStyle>
            <a:lvl1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519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181"/>
            </a:lvl4pPr>
            <a:lvl5pPr>
              <a:defRPr sz="1181"/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2960" y="2145792"/>
            <a:ext cx="3741896" cy="2365248"/>
          </a:xfrm>
        </p:spPr>
        <p:txBody>
          <a:bodyPr rtlCol="0" anchor="b"/>
          <a:lstStyle>
            <a:lvl1pPr algn="l">
              <a:defRPr sz="4557" b="0" i="0" cap="none" baseline="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職稱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2958" y="4803648"/>
            <a:ext cx="3741896" cy="126796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 algn="ctr">
              <a:buNone/>
              <a:defRPr sz="1688"/>
            </a:lvl2pPr>
            <a:lvl3pPr marL="771571" indent="0" algn="ctr">
              <a:buNone/>
              <a:defRPr sz="1519"/>
            </a:lvl3pPr>
            <a:lvl4pPr marL="1157356" indent="0" algn="ctr">
              <a:buNone/>
              <a:defRPr sz="1350"/>
            </a:lvl4pPr>
            <a:lvl5pPr marL="1543141" indent="0" algn="ctr">
              <a:buNone/>
              <a:defRPr sz="1350"/>
            </a:lvl5pPr>
            <a:lvl6pPr marL="1928927" indent="0" algn="ctr">
              <a:buNone/>
              <a:defRPr sz="1350"/>
            </a:lvl6pPr>
            <a:lvl7pPr marL="2314712" indent="0" algn="ctr">
              <a:buNone/>
              <a:defRPr sz="1350"/>
            </a:lvl7pPr>
            <a:lvl8pPr marL="2700498" indent="0" algn="ctr">
              <a:buNone/>
              <a:defRPr sz="1350"/>
            </a:lvl8pPr>
            <a:lvl9pPr marL="3086283" indent="0" algn="ctr">
              <a:buNone/>
              <a:defRPr sz="135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5044726" y="4575614"/>
            <a:ext cx="9460992" cy="308074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7" name="直線接點​​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9775824" y="9651392"/>
            <a:ext cx="0" cy="863660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4876800" cy="1828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圖片版面配置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9173" y="8290560"/>
            <a:ext cx="4405408" cy="919276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0" name="圖片版面配置區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39173" y="804672"/>
            <a:ext cx="2075402" cy="668121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1" name="圖片版面配置區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69178" y="804672"/>
            <a:ext cx="2075402" cy="668121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圖片版面配置區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99438" y="1086666"/>
            <a:ext cx="1647235" cy="5206077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2" name="圖片版面配置區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77042" y="5260216"/>
            <a:ext cx="1932242" cy="606267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1" name="圖片版面配置區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07737" y="11696832"/>
            <a:ext cx="2631903" cy="6567493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0" name="圖片版面配置區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2139" y="10717285"/>
            <a:ext cx="3251948" cy="7570715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0608" y="1560576"/>
            <a:ext cx="4451699" cy="6071616"/>
          </a:xfrm>
        </p:spPr>
        <p:txBody>
          <a:bodyPr rtlCol="0" anchor="b"/>
          <a:lstStyle>
            <a:lvl1pPr algn="r">
              <a:defRPr sz="4050" b="1" cap="all" spc="338" baseline="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5498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3004899" y="5502206"/>
            <a:ext cx="7437120" cy="308074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5194" y="536449"/>
            <a:ext cx="2314575" cy="973667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圖形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242309" y="4958759"/>
            <a:ext cx="117314" cy="370771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圖形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1699754" y="8391645"/>
            <a:ext cx="107759" cy="340571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圖形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4560401" y="12022120"/>
            <a:ext cx="76898" cy="243035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zh-TW" altLang="en-US" sz="1519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14" name="直線接點​​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722346" y="9341419"/>
            <a:ext cx="0" cy="892290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版面配置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0608" y="8339328"/>
            <a:ext cx="4451699" cy="2999232"/>
          </a:xfrm>
        </p:spPr>
        <p:txBody>
          <a:bodyPr rtlCol="0"/>
          <a:lstStyle>
            <a:lvl1pPr marL="0" indent="0" algn="r">
              <a:buNone/>
              <a:defRPr sz="1519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5" name="直線接點​​(S)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2" y="1219200"/>
            <a:ext cx="3317825" cy="4267200"/>
          </a:xfrm>
        </p:spPr>
        <p:txBody>
          <a:bodyPr rtlCol="0" anchor="b"/>
          <a:lstStyle>
            <a:lvl1pPr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預留位置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315" y="2633135"/>
            <a:ext cx="5207794" cy="12996333"/>
          </a:xfrm>
        </p:spPr>
        <p:txBody>
          <a:bodyPr rtlCol="0"/>
          <a:lstStyle>
            <a:lvl1pPr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2363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2025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688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72" y="5486400"/>
            <a:ext cx="3317825" cy="10164235"/>
          </a:xfrm>
        </p:spPr>
        <p:txBody>
          <a:bodyPr rtlCol="0"/>
          <a:lstStyle>
            <a:lvl1pPr marL="0" indent="0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572" y="1219200"/>
            <a:ext cx="3317825" cy="4267200"/>
          </a:xfrm>
        </p:spPr>
        <p:txBody>
          <a:bodyPr rtlCol="0" anchor="b"/>
          <a:lstStyle>
            <a:lvl1pPr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預留位置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3315" y="2633135"/>
            <a:ext cx="5207794" cy="12996333"/>
          </a:xfrm>
        </p:spPr>
        <p:txBody>
          <a:bodyPr rtlCol="0"/>
          <a:lstStyle>
            <a:lvl1pPr marL="0" indent="0">
              <a:buNone/>
              <a:defRPr sz="27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2363"/>
            </a:lvl2pPr>
            <a:lvl3pPr marL="771571" indent="0">
              <a:buNone/>
              <a:defRPr sz="2025"/>
            </a:lvl3pPr>
            <a:lvl4pPr marL="1157356" indent="0">
              <a:buNone/>
              <a:defRPr sz="1688"/>
            </a:lvl4pPr>
            <a:lvl5pPr marL="1543141" indent="0">
              <a:buNone/>
              <a:defRPr sz="1688"/>
            </a:lvl5pPr>
            <a:lvl6pPr marL="1928927" indent="0">
              <a:buNone/>
              <a:defRPr sz="1688"/>
            </a:lvl6pPr>
            <a:lvl7pPr marL="2314712" indent="0">
              <a:buNone/>
              <a:defRPr sz="1688"/>
            </a:lvl7pPr>
            <a:lvl8pPr marL="2700498" indent="0">
              <a:buNone/>
              <a:defRPr sz="1688"/>
            </a:lvl8pPr>
            <a:lvl9pPr marL="3086283" indent="0">
              <a:buNone/>
              <a:defRPr sz="1688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預留位置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572" y="5486400"/>
            <a:ext cx="3317825" cy="10164235"/>
          </a:xfrm>
        </p:spPr>
        <p:txBody>
          <a:bodyPr rtlCol="0"/>
          <a:lstStyle>
            <a:lvl1pPr marL="0" indent="0">
              <a:buNone/>
              <a:defRPr sz="135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385785" indent="0">
              <a:buNone/>
              <a:defRPr sz="1181"/>
            </a:lvl2pPr>
            <a:lvl3pPr marL="771571" indent="0">
              <a:buNone/>
              <a:defRPr sz="1013"/>
            </a:lvl3pPr>
            <a:lvl4pPr marL="1157356" indent="0">
              <a:buNone/>
              <a:defRPr sz="844"/>
            </a:lvl4pPr>
            <a:lvl5pPr marL="1543141" indent="0">
              <a:buNone/>
              <a:defRPr sz="844"/>
            </a:lvl5pPr>
            <a:lvl6pPr marL="1928927" indent="0">
              <a:buNone/>
              <a:defRPr sz="844"/>
            </a:lvl6pPr>
            <a:lvl7pPr marL="2314712" indent="0">
              <a:buNone/>
              <a:defRPr sz="844"/>
            </a:lvl7pPr>
            <a:lvl8pPr marL="2700498" indent="0">
              <a:buNone/>
              <a:defRPr sz="844"/>
            </a:lvl8pPr>
            <a:lvl9pPr marL="3086283" indent="0">
              <a:buNone/>
              <a:defRPr sz="844"/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cxnSp>
        <p:nvCxnSpPr>
          <p:cNvPr id="8" name="直線接點​​(S)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604032" y="951500"/>
            <a:ext cx="0" cy="1731433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60" userDrawn="1">
          <p15:clr>
            <a:srgbClr val="FBAE40"/>
          </p15:clr>
        </p15:guide>
        <p15:guide id="2" pos="32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231" y="973668"/>
            <a:ext cx="8872538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預留位置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231" y="4868333"/>
            <a:ext cx="8872538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07231" y="16950268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3" b="1" i="0" cap="all" spc="84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en-US" altLang="zh-TW" noProof="0"/>
              <a:t>20XX/9/3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7569" y="16950268"/>
            <a:ext cx="3471863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3" b="1" i="0" cap="all" spc="84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194" y="16950268"/>
            <a:ext cx="2314575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3" b="1" i="0" cap="all" spc="84" baseline="0">
                <a:solidFill>
                  <a:schemeClr val="tx1">
                    <a:tint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8DA9DAA-006C-4F4B-980E-E3DF019B24E2}" type="slidenum">
              <a:rPr lang="en-US" altLang="zh-TW" noProof="0" smtClean="0"/>
              <a:pPr/>
              <a:t>‹#›</a:t>
            </a:fld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771571" rtl="0" eaLnBrk="1" latinLnBrk="0" hangingPunct="1">
        <a:lnSpc>
          <a:spcPct val="90000"/>
        </a:lnSpc>
        <a:spcBef>
          <a:spcPct val="0"/>
        </a:spcBef>
        <a:buNone/>
        <a:defRPr sz="3713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192893" indent="-192893" algn="l" defTabSz="771571" rtl="0" eaLnBrk="1" latinLnBrk="0" hangingPunct="1">
        <a:lnSpc>
          <a:spcPct val="90000"/>
        </a:lnSpc>
        <a:spcBef>
          <a:spcPts val="844"/>
        </a:spcBef>
        <a:buFont typeface="Arial" panose="020B0604020202020204" pitchFamily="34" charset="0"/>
        <a:buChar char="•"/>
        <a:defRPr sz="2363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578678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64463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688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35024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736034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121819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507605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893390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279176" indent="-192893" algn="l" defTabSz="77157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85785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2pPr>
      <a:lvl3pPr marL="77157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3pPr>
      <a:lvl4pPr marL="1157356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4pPr>
      <a:lvl5pPr marL="1543141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5pPr>
      <a:lvl6pPr marL="1928927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6pPr>
      <a:lvl7pPr marL="2314712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7pPr>
      <a:lvl8pPr marL="2700498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8pPr>
      <a:lvl9pPr marL="3086283" algn="l" defTabSz="771571" rtl="0" eaLnBrk="1" latinLnBrk="0" hangingPunct="1">
        <a:defRPr sz="15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microsoft.com/office/2017/06/relationships/model3d" Target="../media/model3d1.glb"/><Relationship Id="rId4" Type="http://schemas.openxmlformats.org/officeDocument/2006/relationships/slide" Target="slide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microsoft.com/office/2017/06/relationships/model3d" Target="../media/model3d1.glb"/><Relationship Id="rId4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7.xml"/><Relationship Id="rId5" Type="http://schemas.openxmlformats.org/officeDocument/2006/relationships/slide" Target="slide32.xml"/><Relationship Id="rId4" Type="http://schemas.openxmlformats.org/officeDocument/2006/relationships/slide" Target="slide2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十五音漢字標音法 </a:t>
            </a:r>
            <a:r>
              <a:rPr lang="en-US" altLang="zh-TW" sz="2400" dirty="0" err="1">
                <a:solidFill>
                  <a:schemeClr val="accent5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v0.2</a:t>
            </a:r>
            <a:endParaRPr lang="zh-TW" altLang="en-US" dirty="0">
              <a:solidFill>
                <a:schemeClr val="accent5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8CDEFA4C-2C00-3A0D-5222-7FFC2952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7999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B3598B3-2460-72D4-D7E5-981552A2CBE9}"/>
              </a:ext>
            </a:extLst>
          </p:cNvPr>
          <p:cNvSpPr txBox="1"/>
          <p:nvPr/>
        </p:nvSpPr>
        <p:spPr>
          <a:xfrm>
            <a:off x="1231106" y="8231624"/>
            <a:ext cx="7824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7200" dirty="0">
                <a:solidFill>
                  <a:schemeClr val="accent3">
                    <a:lumMod val="20000"/>
                    <a:lumOff val="80000"/>
                  </a:schemeClr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十五音漢字標音法 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0B03982-2E3F-AE2B-364F-ADE49729AAC8}"/>
              </a:ext>
            </a:extLst>
          </p:cNvPr>
          <p:cNvSpPr txBox="1"/>
          <p:nvPr/>
        </p:nvSpPr>
        <p:spPr>
          <a:xfrm>
            <a:off x="2570843" y="15183339"/>
            <a:ext cx="5145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solidFill>
                  <a:srgbClr val="FFFF00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V 0.2</a:t>
            </a:r>
            <a:endParaRPr lang="zh-TW" altLang="en-US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905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E677-309A-15E1-6359-B7FD01BD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90B4DA8-FDE8-201F-361E-84D9C0D0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AAAB036-A6D1-C811-22C0-BCA29211CE47}"/>
              </a:ext>
            </a:extLst>
          </p:cNvPr>
          <p:cNvSpPr txBox="1"/>
          <p:nvPr/>
        </p:nvSpPr>
        <p:spPr>
          <a:xfrm>
            <a:off x="4084446" y="7843676"/>
            <a:ext cx="2044161" cy="2062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1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洞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8FA5F53-AB84-6D04-29CB-F3B218927BE2}"/>
              </a:ext>
            </a:extLst>
          </p:cNvPr>
          <p:cNvSpPr txBox="1"/>
          <p:nvPr/>
        </p:nvSpPr>
        <p:spPr>
          <a:xfrm>
            <a:off x="928688" y="14769465"/>
            <a:ext cx="9202239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29" indent="-5715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en-US" altLang="zh-TW" sz="3600" b="1" dirty="0">
                <a:solidFill>
                  <a:srgbClr val="7030A0"/>
                </a:solidFill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t</a:t>
            </a:r>
            <a:r>
              <a:rPr lang="en-US" altLang="zh-TW" sz="3600" dirty="0">
                <a:solidFill>
                  <a:schemeClr val="accent2"/>
                </a:solidFill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ōng</a:t>
            </a:r>
            <a:r>
              <a:rPr lang="zh-TW" altLang="en-US" sz="3600" b="1" dirty="0">
                <a:solidFill>
                  <a:srgbClr val="4D4E51"/>
                </a:solidFill>
                <a:latin typeface="Arial" panose="020B0604020202020204" pitchFamily="34" charset="0"/>
              </a:rPr>
              <a:t>（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tong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 </a:t>
            </a:r>
            <a:r>
              <a:rPr lang="zh-TW" altLang="en-US" sz="3600" b="1" dirty="0">
                <a:solidFill>
                  <a:srgbClr val="4D4E51"/>
                </a:solidFill>
                <a:latin typeface="Arial" panose="020B0604020202020204" pitchFamily="34" charset="0"/>
              </a:rPr>
              <a:t>）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29" indent="-5715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寬式國際音標：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t</a:t>
            </a:r>
            <a:r>
              <a:rPr lang="en-US" altLang="zh-TW" sz="3600" dirty="0">
                <a:solidFill>
                  <a:schemeClr val="accent2"/>
                </a:solidFill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ɔŋ</a:t>
            </a:r>
            <a:r>
              <a:rPr lang="en-US" altLang="zh-TW" sz="3600" baseline="300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</a:t>
            </a:r>
            <a:endParaRPr lang="en-US" altLang="zh-TW" sz="3600" baseline="300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29" indent="-5715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十五音反切：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公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地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29" indent="-571529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	</a:t>
            </a:r>
            <a:r>
              <a:rPr lang="zh-CN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ㄉ</a:t>
            </a:r>
            <a:r>
              <a:rPr lang="zh-CN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ㆲ</a:t>
            </a:r>
            <a:r>
              <a:rPr lang="zh-TW" altLang="zh-TW" sz="3600" b="1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˫</a:t>
            </a:r>
            <a:endParaRPr lang="zh-TW" altLang="en-US" sz="3600" b="1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F6E5F4-2F16-2BE9-1D2B-9DD8F87A327F}"/>
              </a:ext>
            </a:extLst>
          </p:cNvPr>
          <p:cNvSpPr txBox="1"/>
          <p:nvPr/>
        </p:nvSpPr>
        <p:spPr>
          <a:xfrm>
            <a:off x="5849799" y="8328031"/>
            <a:ext cx="830997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ㄉ</a:t>
            </a:r>
            <a:r>
              <a:rPr lang="zh-CN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ㆲ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AE414BE-0CD8-A70D-DB23-9783ACC00679}"/>
              </a:ext>
            </a:extLst>
          </p:cNvPr>
          <p:cNvSpPr txBox="1"/>
          <p:nvPr/>
        </p:nvSpPr>
        <p:spPr>
          <a:xfrm>
            <a:off x="3918806" y="98631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t</a:t>
            </a:r>
            <a:r>
              <a:rPr lang="en-US" altLang="zh-TW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ɔŋ</a:t>
            </a:r>
            <a:r>
              <a:rPr lang="en-US" altLang="zh-TW" sz="3600" baseline="300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</a:t>
            </a:r>
            <a:endParaRPr lang="zh-TW" altLang="en-US" sz="3600" baseline="300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B52540-4E74-18A7-8883-C81AEE98B044}"/>
              </a:ext>
            </a:extLst>
          </p:cNvPr>
          <p:cNvSpPr txBox="1"/>
          <p:nvPr/>
        </p:nvSpPr>
        <p:spPr>
          <a:xfrm>
            <a:off x="661988" y="2970485"/>
            <a:ext cx="8684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 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9A6B4A1-546A-08C3-98FE-F99123CDB9B2}"/>
              </a:ext>
            </a:extLst>
          </p:cNvPr>
          <p:cNvSpPr txBox="1"/>
          <p:nvPr/>
        </p:nvSpPr>
        <p:spPr>
          <a:xfrm>
            <a:off x="3918806" y="714328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dirty="0">
                <a:solidFill>
                  <a:schemeClr val="accent5"/>
                </a:solidFill>
                <a:latin typeface="Arial" panose="020B0604020202020204" pitchFamily="34" charset="0"/>
              </a:rPr>
              <a:t> </a:t>
            </a:r>
            <a:r>
              <a:rPr lang="en-US" altLang="zh-TW" sz="36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t</a:t>
            </a:r>
            <a:r>
              <a:rPr lang="en-US" altLang="zh-TW" sz="3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ōng</a:t>
            </a:r>
            <a:r>
              <a:rPr lang="en-US" altLang="zh-TW" sz="36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haris SIL" panose="02000500060000020004" pitchFamily="2" charset="0"/>
                <a:ea typeface="Charis SIL" panose="02000500060000020004" pitchFamily="2" charset="0"/>
                <a:cs typeface="Charis SIL" panose="02000500060000020004" pitchFamily="2" charset="0"/>
              </a:rPr>
              <a:t> </a:t>
            </a:r>
            <a:endParaRPr lang="zh-TW" altLang="en-US" sz="36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haris SIL" panose="02000500060000020004" pitchFamily="2" charset="0"/>
              <a:ea typeface="Noto Sans TC Medium" panose="020B0200000000000000" pitchFamily="34" charset="-128"/>
              <a:cs typeface="Charis SIL" panose="02000500060000020004" pitchFamily="2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171564A-D963-48D2-4ABD-491C152439F9}"/>
              </a:ext>
            </a:extLst>
          </p:cNvPr>
          <p:cNvSpPr txBox="1"/>
          <p:nvPr/>
        </p:nvSpPr>
        <p:spPr>
          <a:xfrm>
            <a:off x="6140022" y="8605028"/>
            <a:ext cx="830997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├</a:t>
            </a:r>
            <a:endParaRPr lang="zh-TW" altLang="en-US" sz="3600" b="1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7AAE250-B75E-0959-110B-492296173F04}"/>
              </a:ext>
            </a:extLst>
          </p:cNvPr>
          <p:cNvSpPr txBox="1"/>
          <p:nvPr/>
        </p:nvSpPr>
        <p:spPr>
          <a:xfrm>
            <a:off x="3315980" y="7940168"/>
            <a:ext cx="830997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公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地</a:t>
            </a:r>
          </a:p>
        </p:txBody>
      </p:sp>
      <p:sp>
        <p:nvSpPr>
          <p:cNvPr id="6" name="圖說文字: 折線 5">
            <a:extLst>
              <a:ext uri="{FF2B5EF4-FFF2-40B4-BE49-F238E27FC236}">
                <a16:creationId xmlns:a16="http://schemas.microsoft.com/office/drawing/2014/main" id="{375B8A2B-1CF7-47EA-A074-5130CF6F8596}"/>
              </a:ext>
            </a:extLst>
          </p:cNvPr>
          <p:cNvSpPr/>
          <p:nvPr/>
        </p:nvSpPr>
        <p:spPr>
          <a:xfrm>
            <a:off x="2085975" y="4563576"/>
            <a:ext cx="6115050" cy="973665"/>
          </a:xfrm>
          <a:prstGeom prst="borderCallout2">
            <a:avLst>
              <a:gd name="adj1" fmla="val 102392"/>
              <a:gd name="adj2" fmla="val 44134"/>
              <a:gd name="adj3" fmla="val 127337"/>
              <a:gd name="adj4" fmla="val 50320"/>
              <a:gd name="adj5" fmla="val 221087"/>
              <a:gd name="adj6" fmla="val 502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台羅拼音（音調符號）</a:t>
            </a:r>
          </a:p>
        </p:txBody>
      </p:sp>
      <p:sp>
        <p:nvSpPr>
          <p:cNvPr id="8" name="圖說文字: 折線 7">
            <a:extLst>
              <a:ext uri="{FF2B5EF4-FFF2-40B4-BE49-F238E27FC236}">
                <a16:creationId xmlns:a16="http://schemas.microsoft.com/office/drawing/2014/main" id="{880373AA-7FDD-63D8-3F68-D7EF7BEE7A7C}"/>
              </a:ext>
            </a:extLst>
          </p:cNvPr>
          <p:cNvSpPr/>
          <p:nvPr/>
        </p:nvSpPr>
        <p:spPr>
          <a:xfrm>
            <a:off x="2085975" y="12699987"/>
            <a:ext cx="6115050" cy="973665"/>
          </a:xfrm>
          <a:prstGeom prst="borderCallout2">
            <a:avLst>
              <a:gd name="adj1" fmla="val -326"/>
              <a:gd name="adj2" fmla="val 44368"/>
              <a:gd name="adj3" fmla="val -25272"/>
              <a:gd name="adj4" fmla="val 50553"/>
              <a:gd name="adj5" fmla="val -128153"/>
              <a:gd name="adj6" fmla="val 5048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寬式國際音標（</a:t>
            </a:r>
            <a:r>
              <a:rPr lang="en-US" altLang="zh-TW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IPA</a:t>
            </a:r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）</a:t>
            </a:r>
          </a:p>
        </p:txBody>
      </p:sp>
      <p:sp>
        <p:nvSpPr>
          <p:cNvPr id="9" name="圖說文字: 折線 8">
            <a:extLst>
              <a:ext uri="{FF2B5EF4-FFF2-40B4-BE49-F238E27FC236}">
                <a16:creationId xmlns:a16="http://schemas.microsoft.com/office/drawing/2014/main" id="{8558CDC0-907B-87C0-C0B7-D40DF81263C4}"/>
              </a:ext>
            </a:extLst>
          </p:cNvPr>
          <p:cNvSpPr/>
          <p:nvPr/>
        </p:nvSpPr>
        <p:spPr>
          <a:xfrm>
            <a:off x="8620507" y="5772149"/>
            <a:ext cx="737807" cy="6743700"/>
          </a:xfrm>
          <a:prstGeom prst="borderCallout2">
            <a:avLst>
              <a:gd name="adj1" fmla="val 55358"/>
              <a:gd name="adj2" fmla="val -2342"/>
              <a:gd name="adj3" fmla="val 50218"/>
              <a:gd name="adj4" fmla="val -61996"/>
              <a:gd name="adj5" fmla="val 50324"/>
              <a:gd name="adj6" fmla="val -1453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方音符號</a:t>
            </a:r>
          </a:p>
        </p:txBody>
      </p:sp>
      <p:sp>
        <p:nvSpPr>
          <p:cNvPr id="11" name="圖說文字: 折線 10">
            <a:extLst>
              <a:ext uri="{FF2B5EF4-FFF2-40B4-BE49-F238E27FC236}">
                <a16:creationId xmlns:a16="http://schemas.microsoft.com/office/drawing/2014/main" id="{60A27480-03E9-6431-8520-C86DE5D90A36}"/>
              </a:ext>
            </a:extLst>
          </p:cNvPr>
          <p:cNvSpPr/>
          <p:nvPr/>
        </p:nvSpPr>
        <p:spPr>
          <a:xfrm>
            <a:off x="928688" y="5772150"/>
            <a:ext cx="737807" cy="6743700"/>
          </a:xfrm>
          <a:prstGeom prst="borderCallout2">
            <a:avLst>
              <a:gd name="adj1" fmla="val 43917"/>
              <a:gd name="adj2" fmla="val 92546"/>
              <a:gd name="adj3" fmla="val 50642"/>
              <a:gd name="adj4" fmla="val 158764"/>
              <a:gd name="adj5" fmla="val 50536"/>
              <a:gd name="adj6" fmla="val 2380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TW" altLang="en-US" sz="2700" dirty="0">
                <a:latin typeface="Noto Sans TC Black" panose="020B0200000000000000" pitchFamily="34" charset="-128"/>
                <a:ea typeface="Noto Sans TC Black" panose="020B0200000000000000" pitchFamily="34" charset="-128"/>
              </a:rPr>
              <a:t>十五音反切</a:t>
            </a:r>
          </a:p>
        </p:txBody>
      </p:sp>
    </p:spTree>
    <p:extLst>
      <p:ext uri="{BB962C8B-B14F-4D97-AF65-F5344CB8AC3E}">
        <p14:creationId xmlns:p14="http://schemas.microsoft.com/office/powerpoint/2010/main" val="271252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E677-309A-15E1-6359-B7FD01BD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90B4DA8-FDE8-201F-361E-84D9C0D0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AAAB036-A6D1-C811-22C0-BCA29211CE47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花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58FA5F53-AB84-6D04-29CB-F3B218927BE2}"/>
              </a:ext>
            </a:extLst>
          </p:cNvPr>
          <p:cNvSpPr txBox="1"/>
          <p:nvPr/>
        </p:nvSpPr>
        <p:spPr>
          <a:xfrm>
            <a:off x="895349" y="8570672"/>
            <a:ext cx="868441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注音符號：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CN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ㄏ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</a:t>
            </a:r>
            <a:r>
              <a:rPr lang="zh-CN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ㄚ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）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漢語拼音：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b="1" i="0" dirty="0">
                <a:solidFill>
                  <a:srgbClr val="4D4E51"/>
                </a:solidFill>
                <a:effectLst/>
                <a:latin typeface="Arial" panose="020B0604020202020204" pitchFamily="34" charset="0"/>
              </a:rPr>
              <a:t>huā</a:t>
            </a:r>
            <a:r>
              <a:rPr lang="zh-TW" altLang="en-US" sz="3600" b="1" i="0" dirty="0">
                <a:solidFill>
                  <a:srgbClr val="4D4E51"/>
                </a:solidFill>
                <a:effectLst/>
                <a:latin typeface="Arial" panose="020B0604020202020204" pitchFamily="34" charset="0"/>
              </a:rPr>
              <a:t>（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h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ua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 </a:t>
            </a:r>
            <a:r>
              <a:rPr lang="zh-TW" altLang="en-US" sz="3600" b="1" i="0" dirty="0">
                <a:solidFill>
                  <a:srgbClr val="4D4E51"/>
                </a:solidFill>
                <a:effectLst/>
                <a:latin typeface="Arial" panose="020B0604020202020204" pitchFamily="34" charset="0"/>
              </a:rPr>
              <a:t>）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ua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（閩南語文讀音）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ue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（閩南語白話音）</a:t>
            </a: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F6E5F4-2F16-2BE9-1D2B-9DD8F87A327F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ㄏ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</a:t>
            </a:r>
            <a:r>
              <a:rPr lang="zh-CN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ㄚ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AE414BE-0CD8-A70D-DB23-9783ACC00679}"/>
              </a:ext>
            </a:extLst>
          </p:cNvPr>
          <p:cNvSpPr txBox="1"/>
          <p:nvPr/>
        </p:nvSpPr>
        <p:spPr>
          <a:xfrm>
            <a:off x="3926681" y="5497438"/>
            <a:ext cx="2209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b="1" i="0" dirty="0">
                <a:solidFill>
                  <a:srgbClr val="4D4E51"/>
                </a:solidFill>
                <a:effectLst/>
                <a:latin typeface="Arial" panose="020B0604020202020204" pitchFamily="34" charset="0"/>
              </a:rPr>
              <a:t>huā (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h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ua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endParaRPr lang="zh-TW" altLang="en-US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7B52540-4E74-18A7-8883-C81AEE98B044}"/>
              </a:ext>
            </a:extLst>
          </p:cNvPr>
          <p:cNvSpPr txBox="1"/>
          <p:nvPr/>
        </p:nvSpPr>
        <p:spPr>
          <a:xfrm>
            <a:off x="689371" y="7865228"/>
            <a:ext cx="868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 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3380F26-4716-5946-B9D9-EF097795DE2E}"/>
              </a:ext>
            </a:extLst>
          </p:cNvPr>
          <p:cNvSpPr txBox="1"/>
          <p:nvPr/>
        </p:nvSpPr>
        <p:spPr>
          <a:xfrm>
            <a:off x="1785864" y="13138077"/>
            <a:ext cx="284791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900" dirty="0">
                <a:solidFill>
                  <a:srgbClr val="0070C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花車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0DFCE2-3293-E035-627A-4B05BD0619FA}"/>
              </a:ext>
            </a:extLst>
          </p:cNvPr>
          <p:cNvSpPr txBox="1"/>
          <p:nvPr/>
        </p:nvSpPr>
        <p:spPr>
          <a:xfrm>
            <a:off x="1848447" y="14753904"/>
            <a:ext cx="2847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rPr>
              <a:t>hue1-tshia1</a:t>
            </a:r>
            <a:endParaRPr lang="zh-TW" altLang="en-US" sz="3600" dirty="0">
              <a:solidFill>
                <a:srgbClr val="7030A0"/>
              </a:solidFill>
              <a:latin typeface="Chiron Sung HK ExtraLight" pitchFamily="2" charset="-128"/>
              <a:ea typeface="Chiron Sung HK ExtraLight" pitchFamily="2" charset="-128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57E45CC-549F-455A-3A40-0C98029356B1}"/>
              </a:ext>
            </a:extLst>
          </p:cNvPr>
          <p:cNvSpPr txBox="1"/>
          <p:nvPr/>
        </p:nvSpPr>
        <p:spPr>
          <a:xfrm>
            <a:off x="5590643" y="13138077"/>
            <a:ext cx="32256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9900" dirty="0">
                <a:solidFill>
                  <a:srgbClr val="0070C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貨車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13CDB26-0AD0-6019-6123-83DB157D1BE5}"/>
              </a:ext>
            </a:extLst>
          </p:cNvPr>
          <p:cNvSpPr txBox="1"/>
          <p:nvPr/>
        </p:nvSpPr>
        <p:spPr>
          <a:xfrm>
            <a:off x="5707850" y="14724135"/>
            <a:ext cx="2847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dirty="0">
                <a:solidFill>
                  <a:srgbClr val="7030A0"/>
                </a:solidFill>
                <a:latin typeface="Chiron Sung HK ExtraLight" pitchFamily="2" charset="-128"/>
                <a:ea typeface="Chiron Sung HK ExtraLight" pitchFamily="2" charset="-128"/>
              </a:rPr>
              <a:t>hue3-tshia1</a:t>
            </a:r>
            <a:endParaRPr lang="zh-TW" altLang="en-US" sz="3600" dirty="0">
              <a:solidFill>
                <a:srgbClr val="7030A0"/>
              </a:solidFill>
              <a:latin typeface="Chiron Sung HK ExtraLight" pitchFamily="2" charset="-128"/>
              <a:ea typeface="Chiron Sung HK ExtraLight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8846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993B-4DE8-CE46-17B7-39073F293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C38EB78-E7F3-A9F9-BEAE-40DF95D82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505C6E7-1738-074C-F529-87D459A3481B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倫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5592B9F-D5C5-7049-5970-7152CF9D1717}"/>
              </a:ext>
            </a:extLst>
          </p:cNvPr>
          <p:cNvSpPr txBox="1"/>
          <p:nvPr/>
        </p:nvSpPr>
        <p:spPr>
          <a:xfrm>
            <a:off x="3926681" y="267787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D81C192-CFFA-38F1-F35C-D90886C57F18}"/>
              </a:ext>
            </a:extLst>
          </p:cNvPr>
          <p:cNvSpPr txBox="1"/>
          <p:nvPr/>
        </p:nvSpPr>
        <p:spPr>
          <a:xfrm>
            <a:off x="689370" y="12671602"/>
            <a:ext cx="868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 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2A70910-74C4-883C-9805-6868A32B0CDD}"/>
              </a:ext>
            </a:extLst>
          </p:cNvPr>
          <p:cNvSpPr txBox="1"/>
          <p:nvPr/>
        </p:nvSpPr>
        <p:spPr>
          <a:xfrm>
            <a:off x="895349" y="8570672"/>
            <a:ext cx="868441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B3D1762-63DF-685B-4DBF-5F5B5D18074C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91040CA-2F27-CDC9-98BF-484B0C079E6D}"/>
              </a:ext>
            </a:extLst>
          </p:cNvPr>
          <p:cNvSpPr txBox="1"/>
          <p:nvPr/>
        </p:nvSpPr>
        <p:spPr>
          <a:xfrm>
            <a:off x="3926681" y="54974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662A52E-CB0C-07A0-2957-80B263B2F58B}"/>
              </a:ext>
            </a:extLst>
          </p:cNvPr>
          <p:cNvSpPr txBox="1"/>
          <p:nvPr/>
        </p:nvSpPr>
        <p:spPr>
          <a:xfrm>
            <a:off x="6494764" y="4232893"/>
            <a:ext cx="45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 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28BBDBF-B28F-8610-9415-3BE5EF91BA3A}"/>
              </a:ext>
            </a:extLst>
          </p:cNvPr>
          <p:cNvSpPr txBox="1"/>
          <p:nvPr/>
        </p:nvSpPr>
        <p:spPr>
          <a:xfrm>
            <a:off x="689371" y="7865228"/>
            <a:ext cx="868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 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4D5E112-E69B-6D76-D648-32BB68E086E1}"/>
              </a:ext>
            </a:extLst>
          </p:cNvPr>
          <p:cNvSpPr txBox="1"/>
          <p:nvPr/>
        </p:nvSpPr>
        <p:spPr>
          <a:xfrm>
            <a:off x="895349" y="13368221"/>
            <a:ext cx="868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99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0CC6-DDE5-16C8-F2C0-86F3C0943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C513815-CF5A-AF62-BF1F-8317E3D90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82FE015-1A09-C97E-48CE-D635CE77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2817217"/>
            <a:ext cx="8744744" cy="1379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09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42E19-65FE-815D-9CD8-889537ADF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091164E-924A-515F-6BBA-D9451A261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A6E33AC-D9DA-0053-BDF5-D9D4E4554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58" y="3076009"/>
            <a:ext cx="8801217" cy="1387425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3D 模型 1" descr="Laptop Computer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B03A0D0-E87D-F0FD-60EC-3AAFE6B2BE5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10546529"/>
                  </p:ext>
                </p:extLst>
              </p:nvPr>
            </p:nvGraphicFramePr>
            <p:xfrm>
              <a:off x="6923314" y="16220980"/>
              <a:ext cx="1846402" cy="1351815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846402" cy="1351815"/>
                    </a:xfrm>
                    <a:prstGeom prst="rect">
                      <a:avLst/>
                    </a:prstGeom>
                  </am3d:spPr>
                  <am3d:camera>
                    <am3d:pos x="0" y="0" z="654225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145800" d="1000000"/>
                    <am3d:preTrans dx="-543" dy="-12469323" dz="2456953"/>
                    <am3d:scale>
                      <am3d:sx n="1000000" d="1000000"/>
                      <am3d:sy n="1000000" d="1000000"/>
                      <am3d:sz n="1000000" d="1000000"/>
                    </am3d:scale>
                    <am3d:rot ax="-121027" ay="1491528" az="-50888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19527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3D 模型 1" descr="Laptop Computer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B03A0D0-E87D-F0FD-60EC-3AAFE6B2BE5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23314" y="16220980"/>
                <a:ext cx="1846402" cy="135181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348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968DB-E5E8-E93A-E187-C5322C25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E4A39140-BCF0-E02A-113B-727839B73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5F2EA96-9BFC-D123-FD33-B59AF9FBC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5" y="3095625"/>
            <a:ext cx="8917778" cy="1393348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3D 模型 3" descr="Laptop Computer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87A3E913-0BDD-36CC-0965-E24C7DE1DFE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63064588"/>
                  </p:ext>
                </p:extLst>
              </p:nvPr>
            </p:nvGraphicFramePr>
            <p:xfrm>
              <a:off x="6923313" y="16220980"/>
              <a:ext cx="1846403" cy="1351814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846403" cy="1351814"/>
                    </a:xfrm>
                    <a:prstGeom prst="rect">
                      <a:avLst/>
                    </a:prstGeom>
                  </am3d:spPr>
                  <am3d:camera>
                    <am3d:pos x="0" y="0" z="6542252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145800" d="1000000"/>
                    <am3d:preTrans dx="-543" dy="-12469323" dz="2456953"/>
                    <am3d:scale>
                      <am3d:sx n="1000000" d="1000000"/>
                      <am3d:sy n="1000000" d="1000000"/>
                      <am3d:sz n="1000000" d="1000000"/>
                    </am3d:scale>
                    <am3d:rot ax="-121027" ay="1491528" az="-50888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19527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3D 模型 3" descr="Laptop Computer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87A3E913-0BDD-36CC-0965-E24C7DE1DFE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23313" y="16220980"/>
                <a:ext cx="1846403" cy="13518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1816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8B985-DD95-D6E4-56D8-AD8B9961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FADA3A2-613F-B89A-520D-66939CC49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142E5B-5B2A-B76C-637E-11C20CEA6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24" y="3095625"/>
            <a:ext cx="9011709" cy="1393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62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BD0E5-79C5-2F82-CA47-C19F355B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E335AEE4-1430-68F9-D9A3-86D34F1BA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EB2F7F2-F45D-2866-448F-B748FA1A2FD2}"/>
              </a:ext>
            </a:extLst>
          </p:cNvPr>
          <p:cNvSpPr txBox="1"/>
          <p:nvPr/>
        </p:nvSpPr>
        <p:spPr>
          <a:xfrm>
            <a:off x="498475" y="2376269"/>
            <a:ext cx="9217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初學入門四大主題：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BB6F02-AA7D-8BAD-7C58-3E45522CD468}"/>
              </a:ext>
            </a:extLst>
          </p:cNvPr>
          <p:cNvSpPr txBox="1"/>
          <p:nvPr/>
        </p:nvSpPr>
        <p:spPr>
          <a:xfrm>
            <a:off x="498475" y="3182723"/>
            <a:ext cx="9217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字母</a:t>
            </a: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 50 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3" action="ppaction://hlinksldjump"/>
              </a:rPr>
              <a:t>字（韻母）</a:t>
            </a:r>
            <a:endParaRPr lang="en-US" altLang="zh-TW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50 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字母分八音（音調</a:t>
            </a: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/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4" action="ppaction://hlinksldjump"/>
              </a:rPr>
              <a:t>聲調）</a:t>
            </a:r>
            <a:endParaRPr lang="en-US" altLang="zh-TW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切音 </a:t>
            </a:r>
            <a:r>
              <a:rPr lang="en-US" altLang="zh-TW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15 </a:t>
            </a: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5" action="ppaction://hlinksldjump"/>
              </a:rPr>
              <a:t>字（聲母）</a:t>
            </a:r>
            <a:endParaRPr lang="en-US" altLang="zh-TW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742950" indent="-742950">
              <a:buFont typeface="+mj-lt"/>
              <a:buAutoNum type="arabicPeriod"/>
            </a:pPr>
            <a:r>
              <a:rPr lang="zh-TW" altLang="en-US" sz="3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  <a:hlinkClick r:id="rId6" action="ppaction://hlinksldjump"/>
              </a:rPr>
              <a:t>呼十五音法</a:t>
            </a:r>
            <a:endParaRPr lang="zh-TW" altLang="en-US" sz="3600" dirty="0">
              <a:solidFill>
                <a:schemeClr val="tx2">
                  <a:lumMod val="75000"/>
                  <a:lumOff val="25000"/>
                </a:schemeClr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CA7BB30-2E59-0C51-189A-10441ED7F1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316"/>
          <a:stretch>
            <a:fillRect/>
          </a:stretch>
        </p:blipFill>
        <p:spPr>
          <a:xfrm>
            <a:off x="974138" y="5651170"/>
            <a:ext cx="8265697" cy="121288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83428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F1BF-84F4-B437-C892-B4B31C12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0C872BB7-494C-1210-E55B-B301847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0E20F76-C039-91D9-CE92-09BC2A744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1" y="5613083"/>
            <a:ext cx="8872778" cy="548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94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73471-A215-9D77-1F5D-4D66EF2C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6F4E95D-D102-6E97-FAD8-C89631B27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DE0EC8F-1B16-A2EB-7255-44FFE4C58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80" y="2412762"/>
            <a:ext cx="7237639" cy="1527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90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F1BF-84F4-B437-C892-B4B31C12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0C872BB7-494C-1210-E55B-B30184728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BDEA6D1-5557-75C0-3B00-E3D3716D2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87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8EA55-7AED-8567-2507-DBB0DB81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56885B2B-FDFC-5DF1-482D-745C8F1C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B4D3B1-23AF-D874-7896-032E017D3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914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6555-8706-AFCA-780F-25224663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EF777CF-70D1-997A-0D8C-D05621D6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52450219-2090-0487-7112-74C50FAC4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831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A44F-64B3-FF79-7265-E64E3FD26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69861CF-3364-A068-6FC7-130962CE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F27CD03-49B3-641E-0C9E-E95FB723A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418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067E-E354-B488-32D8-8D623A4E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13EFD75-76D5-78BD-576B-6DBF2138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639726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50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字（韻母）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9AEE81E-A6FD-49E0-3A5C-1EC0A162C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38" y="3244000"/>
            <a:ext cx="8609524" cy="1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48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D42F5-A4C3-898D-2986-D8DE8DE02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90ACF7D-F394-5583-B038-163569EA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8735515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 音（韻母 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8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聲調）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4A07153-FEE3-5152-DF06-2393F2A99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33" y="5944000"/>
            <a:ext cx="10133333" cy="6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213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40B51-8872-F473-F37D-2EE308BA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8394C4B-5C4E-3632-A00C-95970641A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6" y="1327707"/>
            <a:ext cx="8865395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6" name="左大括弧 5">
            <a:extLst>
              <a:ext uri="{FF2B5EF4-FFF2-40B4-BE49-F238E27FC236}">
                <a16:creationId xmlns:a16="http://schemas.microsoft.com/office/drawing/2014/main" id="{73E3276D-91EA-5D9B-2E7F-E59E4DE0B7B6}"/>
              </a:ext>
            </a:extLst>
          </p:cNvPr>
          <p:cNvSpPr/>
          <p:nvPr/>
        </p:nvSpPr>
        <p:spPr>
          <a:xfrm rot="5400000">
            <a:off x="8276980" y="3223659"/>
            <a:ext cx="333695" cy="172404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sp>
        <p:nvSpPr>
          <p:cNvPr id="9" name="左大括弧 8">
            <a:extLst>
              <a:ext uri="{FF2B5EF4-FFF2-40B4-BE49-F238E27FC236}">
                <a16:creationId xmlns:a16="http://schemas.microsoft.com/office/drawing/2014/main" id="{403204D7-BE8A-AFDD-1601-5508D7FA3637}"/>
              </a:ext>
            </a:extLst>
          </p:cNvPr>
          <p:cNvSpPr/>
          <p:nvPr/>
        </p:nvSpPr>
        <p:spPr>
          <a:xfrm rot="5400000">
            <a:off x="4735548" y="1403051"/>
            <a:ext cx="341673" cy="5350838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sp>
        <p:nvSpPr>
          <p:cNvPr id="10" name="左大括弧 9">
            <a:extLst>
              <a:ext uri="{FF2B5EF4-FFF2-40B4-BE49-F238E27FC236}">
                <a16:creationId xmlns:a16="http://schemas.microsoft.com/office/drawing/2014/main" id="{9F52719A-6085-A688-F50B-6831BD0D98B8}"/>
              </a:ext>
            </a:extLst>
          </p:cNvPr>
          <p:cNvSpPr/>
          <p:nvPr/>
        </p:nvSpPr>
        <p:spPr>
          <a:xfrm rot="16200000" flipV="1">
            <a:off x="2926141" y="4703622"/>
            <a:ext cx="333695" cy="1724040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sp>
        <p:nvSpPr>
          <p:cNvPr id="12" name="左大括弧 11">
            <a:extLst>
              <a:ext uri="{FF2B5EF4-FFF2-40B4-BE49-F238E27FC236}">
                <a16:creationId xmlns:a16="http://schemas.microsoft.com/office/drawing/2014/main" id="{1B0B417B-011E-4BD1-F341-38F9599F35D7}"/>
              </a:ext>
            </a:extLst>
          </p:cNvPr>
          <p:cNvSpPr/>
          <p:nvPr/>
        </p:nvSpPr>
        <p:spPr>
          <a:xfrm rot="16200000" flipV="1">
            <a:off x="6515411" y="2886238"/>
            <a:ext cx="341673" cy="5350838"/>
          </a:xfrm>
          <a:prstGeom prst="leftBrace">
            <a:avLst>
              <a:gd name="adj1" fmla="val 0"/>
              <a:gd name="adj2" fmla="val 50000"/>
            </a:avLst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27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199FA93-AA6D-DEA7-EDC8-4FA66085A673}"/>
              </a:ext>
            </a:extLst>
          </p:cNvPr>
          <p:cNvSpPr txBox="1"/>
          <p:nvPr/>
        </p:nvSpPr>
        <p:spPr>
          <a:xfrm>
            <a:off x="3606683" y="3265562"/>
            <a:ext cx="25994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舒聲調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47653B0-7923-F02A-C9A0-88A41BA7EDF9}"/>
              </a:ext>
            </a:extLst>
          </p:cNvPr>
          <p:cNvSpPr txBox="1"/>
          <p:nvPr/>
        </p:nvSpPr>
        <p:spPr>
          <a:xfrm>
            <a:off x="7144124" y="3265562"/>
            <a:ext cx="25994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dirty="0">
                <a:solidFill>
                  <a:srgbClr val="00206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促聲調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275175F-71E7-53A2-512A-47E4B263C59F}"/>
              </a:ext>
            </a:extLst>
          </p:cNvPr>
          <p:cNvSpPr txBox="1"/>
          <p:nvPr/>
        </p:nvSpPr>
        <p:spPr>
          <a:xfrm>
            <a:off x="1793285" y="5767021"/>
            <a:ext cx="25994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平音調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7BB219A2-84B5-B876-0AB5-0202BB637F11}"/>
              </a:ext>
            </a:extLst>
          </p:cNvPr>
          <p:cNvSpPr txBox="1"/>
          <p:nvPr/>
        </p:nvSpPr>
        <p:spPr>
          <a:xfrm>
            <a:off x="5386545" y="5767021"/>
            <a:ext cx="25994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200" dirty="0">
                <a:solidFill>
                  <a:schemeClr val="accent4">
                    <a:lumMod val="75000"/>
                  </a:schemeClr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仄音調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D8D4F9D4-6902-55E0-91CF-DEF320F6D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93" y="4306797"/>
            <a:ext cx="8934675" cy="1064088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AC48D669-D5C0-D95C-2BB4-CE738705A757}"/>
              </a:ext>
            </a:extLst>
          </p:cNvPr>
          <p:cNvSpPr txBox="1"/>
          <p:nvPr/>
        </p:nvSpPr>
        <p:spPr>
          <a:xfrm>
            <a:off x="696919" y="7711454"/>
            <a:ext cx="88828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舒聲調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是漢語音韻學和漢語方言學術語，指不以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塞音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為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韻尾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的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，與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促聲調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相反，簡稱舒聲。 分析唐詩等古典詩詞時，</a:t>
            </a:r>
            <a:r>
              <a:rPr lang="en-US" altLang="zh-TW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《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廣韻</a:t>
            </a:r>
            <a:r>
              <a:rPr lang="en-US" altLang="zh-TW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》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等韻書分漢字讀音為：平、上、去、入四類音調，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上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、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去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舒聲調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，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入聲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皆配</a:t>
            </a: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促聲調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。</a:t>
            </a:r>
            <a:br>
              <a:rPr lang="en-US" altLang="zh-TW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</a:br>
            <a:endParaRPr lang="en-US" altLang="zh-TW" sz="27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zh-TW" altLang="en-US" sz="2700" dirty="0">
                <a:solidFill>
                  <a:srgbClr val="7030A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平仄</a:t>
            </a:r>
            <a:r>
              <a:rPr lang="zh-TW" altLang="en-US" sz="27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是中文詩詞中用字的音調，用以區分字的陰平、陽平和上、去、入聲。 「平」指平聲，而「仄」則指上聲、去聲和入聲。 在詩詞創作中，平仄的運用有著嚴格的格律要求，用以營造詩歌的音韻美感。</a:t>
            </a:r>
          </a:p>
        </p:txBody>
      </p:sp>
    </p:spTree>
    <p:extLst>
      <p:ext uri="{BB962C8B-B14F-4D97-AF65-F5344CB8AC3E}">
        <p14:creationId xmlns:p14="http://schemas.microsoft.com/office/powerpoint/2010/main" val="16776703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0FC2-CCA2-73C1-AB23-8FB3B822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8210DB8-2E96-3C06-C01E-B41B80D5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6" y="1327707"/>
            <a:ext cx="9223535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</a:t>
            </a:r>
            <a:r>
              <a:rPr lang="en-US" altLang="zh-TW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調名</a:t>
            </a:r>
            <a:r>
              <a:rPr lang="en-US" altLang="zh-TW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定義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43E60D-E52B-4E90-09AE-A0E539D13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32" y="3716392"/>
            <a:ext cx="8665536" cy="542760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6B8DE23-45D8-A9D4-95DE-879C7B72B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32" y="11321961"/>
            <a:ext cx="8665536" cy="5427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518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DD506-8162-C3AE-18B3-4F9D82330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70AC146E-0FF6-2C2A-64E9-59B56084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9455423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</a:t>
            </a:r>
            <a:r>
              <a:rPr lang="en-US" altLang="zh-TW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調號</a:t>
            </a:r>
            <a:r>
              <a:rPr lang="en-US" altLang="zh-TW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編號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1DE571B-F85B-3A9C-715B-81827994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8" y="2919303"/>
            <a:ext cx="8748438" cy="610773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09D8288-F301-7287-43A1-6D2B33054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10541534"/>
            <a:ext cx="8748438" cy="6107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45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48BA-75D8-AA5F-6508-32AA409D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9691ADE-383F-A959-1BAD-580E6646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475" y="1356439"/>
            <a:ext cx="914328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四聲八調</a:t>
            </a:r>
            <a:r>
              <a:rPr lang="en-US" altLang="zh-TW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調值</a:t>
            </a:r>
            <a:r>
              <a:rPr lang="en-US" altLang="zh-TW" dirty="0">
                <a:solidFill>
                  <a:srgbClr val="FF000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D4BC57F-0D43-E3EC-EEAE-9EC9A6403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13" y="11958637"/>
            <a:ext cx="8715375" cy="6329363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86CFA333-8F79-D188-9641-785103D1CE00}"/>
              </a:ext>
            </a:extLst>
          </p:cNvPr>
          <p:cNvGrpSpPr/>
          <p:nvPr/>
        </p:nvGrpSpPr>
        <p:grpSpPr>
          <a:xfrm>
            <a:off x="780731" y="8724320"/>
            <a:ext cx="8899844" cy="2485715"/>
            <a:chOff x="453284" y="7347647"/>
            <a:chExt cx="5933229" cy="1657143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7876EC0-F9E5-03C1-F90D-4BF6E6093954}"/>
                </a:ext>
              </a:extLst>
            </p:cNvPr>
            <p:cNvGrpSpPr/>
            <p:nvPr/>
          </p:nvGrpSpPr>
          <p:grpSpPr>
            <a:xfrm>
              <a:off x="453284" y="7347647"/>
              <a:ext cx="203835" cy="1070858"/>
              <a:chOff x="453284" y="7347647"/>
              <a:chExt cx="203835" cy="1070858"/>
            </a:xfrm>
          </p:grpSpPr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AA7574F-2D59-38E0-8AB0-B9F6D18DB8B5}"/>
                  </a:ext>
                </a:extLst>
              </p:cNvPr>
              <p:cNvSpPr txBox="1"/>
              <p:nvPr/>
            </p:nvSpPr>
            <p:spPr>
              <a:xfrm>
                <a:off x="453284" y="7347647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5</a:t>
                </a:r>
                <a:endParaRPr lang="zh-TW" altLang="en-US" sz="2400" dirty="0"/>
              </a:p>
            </p:txBody>
          </p:sp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526BD331-F6A9-84D9-D241-D22E9FB59CFD}"/>
                  </a:ext>
                </a:extLst>
              </p:cNvPr>
              <p:cNvSpPr txBox="1"/>
              <p:nvPr/>
            </p:nvSpPr>
            <p:spPr>
              <a:xfrm>
                <a:off x="453284" y="7553806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4</a:t>
                </a:r>
                <a:endParaRPr lang="zh-TW" altLang="en-US" sz="2400" dirty="0"/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3007C983-F8E8-F7D9-6C8C-E080231E793B}"/>
                  </a:ext>
                </a:extLst>
              </p:cNvPr>
              <p:cNvSpPr txBox="1"/>
              <p:nvPr/>
            </p:nvSpPr>
            <p:spPr>
              <a:xfrm>
                <a:off x="453284" y="796612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2</a:t>
                </a:r>
                <a:endParaRPr lang="zh-TW" altLang="en-US" sz="2400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9E7795D3-BB4F-A026-3ED1-7D5D6E22402F}"/>
                  </a:ext>
                </a:extLst>
              </p:cNvPr>
              <p:cNvSpPr txBox="1"/>
              <p:nvPr/>
            </p:nvSpPr>
            <p:spPr>
              <a:xfrm>
                <a:off x="453284" y="7759965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3</a:t>
                </a:r>
                <a:endParaRPr lang="zh-TW" altLang="en-US" sz="2400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B34DF4F-CB9C-6F69-7F29-69CC9DFFF8CA}"/>
                  </a:ext>
                </a:extLst>
              </p:cNvPr>
              <p:cNvSpPr txBox="1"/>
              <p:nvPr/>
            </p:nvSpPr>
            <p:spPr>
              <a:xfrm>
                <a:off x="453284" y="817228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1</a:t>
                </a:r>
                <a:endParaRPr lang="zh-TW" altLang="en-US" sz="2400" dirty="0"/>
              </a:p>
            </p:txBody>
          </p:sp>
        </p:grpSp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C3F22DFE-3711-C8DB-14A1-3479CE2FE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084" y="7347647"/>
              <a:ext cx="5771429" cy="1657143"/>
            </a:xfrm>
            <a:prstGeom prst="rect">
              <a:avLst/>
            </a:prstGeom>
          </p:spPr>
        </p:pic>
      </p:grpSp>
      <p:sp>
        <p:nvSpPr>
          <p:cNvPr id="3" name="標題 6">
            <a:extLst>
              <a:ext uri="{FF2B5EF4-FFF2-40B4-BE49-F238E27FC236}">
                <a16:creationId xmlns:a16="http://schemas.microsoft.com/office/drawing/2014/main" id="{711ADEFA-C9E3-3D88-5A6B-800B38FA29E7}"/>
              </a:ext>
            </a:extLst>
          </p:cNvPr>
          <p:cNvSpPr txBox="1">
            <a:spLocks/>
          </p:cNvSpPr>
          <p:nvPr/>
        </p:nvSpPr>
        <p:spPr>
          <a:xfrm>
            <a:off x="710929" y="7844893"/>
            <a:ext cx="8877113" cy="764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771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57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五度標記法（五度制調值標記法）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E26FBA63-7080-D140-1247-0BB69B62C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113" y="3375666"/>
            <a:ext cx="2316342" cy="372062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AB699C2D-183C-9150-1E0E-0D3532967DBC}"/>
              </a:ext>
            </a:extLst>
          </p:cNvPr>
          <p:cNvSpPr txBox="1"/>
          <p:nvPr/>
        </p:nvSpPr>
        <p:spPr>
          <a:xfrm>
            <a:off x="498475" y="2462995"/>
            <a:ext cx="9182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spc="200" dirty="0"/>
              <a:t>普通話四音調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54FA5F3-FB5A-D3E9-7F4B-7CD1EB9BB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583143"/>
              </p:ext>
            </p:extLst>
          </p:nvPr>
        </p:nvGraphicFramePr>
        <p:xfrm>
          <a:off x="3473421" y="3426891"/>
          <a:ext cx="5965711" cy="344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853">
                  <a:extLst>
                    <a:ext uri="{9D8B030D-6E8A-4147-A177-3AD203B41FA5}">
                      <a16:colId xmlns:a16="http://schemas.microsoft.com/office/drawing/2014/main" val="3584992653"/>
                    </a:ext>
                  </a:extLst>
                </a:gridCol>
                <a:gridCol w="957755">
                  <a:extLst>
                    <a:ext uri="{9D8B030D-6E8A-4147-A177-3AD203B41FA5}">
                      <a16:colId xmlns:a16="http://schemas.microsoft.com/office/drawing/2014/main" val="1487378780"/>
                    </a:ext>
                  </a:extLst>
                </a:gridCol>
                <a:gridCol w="1709226">
                  <a:extLst>
                    <a:ext uri="{9D8B030D-6E8A-4147-A177-3AD203B41FA5}">
                      <a16:colId xmlns:a16="http://schemas.microsoft.com/office/drawing/2014/main" val="4177101764"/>
                    </a:ext>
                  </a:extLst>
                </a:gridCol>
                <a:gridCol w="1075632">
                  <a:extLst>
                    <a:ext uri="{9D8B030D-6E8A-4147-A177-3AD203B41FA5}">
                      <a16:colId xmlns:a16="http://schemas.microsoft.com/office/drawing/2014/main" val="256044242"/>
                    </a:ext>
                  </a:extLst>
                </a:gridCol>
                <a:gridCol w="1208245">
                  <a:extLst>
                    <a:ext uri="{9D8B030D-6E8A-4147-A177-3AD203B41FA5}">
                      <a16:colId xmlns:a16="http://schemas.microsoft.com/office/drawing/2014/main" val="2118651839"/>
                    </a:ext>
                  </a:extLst>
                </a:gridCol>
              </a:tblGrid>
              <a:tr h="688084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音調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調名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發音特點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調值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例字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9262595"/>
                  </a:ext>
                </a:extLst>
              </a:tr>
              <a:tr h="688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陰平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高平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494520"/>
                  </a:ext>
                </a:extLst>
              </a:tr>
              <a:tr h="688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陽平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中昇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麻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3394153"/>
                  </a:ext>
                </a:extLst>
              </a:tr>
              <a:tr h="688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上聲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降昇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214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馬</a:t>
                      </a:r>
                      <a:endParaRPr lang="en-US" altLang="zh-TW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9046572"/>
                  </a:ext>
                </a:extLst>
              </a:tr>
              <a:tr h="68808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去聲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急降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51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/>
                        <a:t>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7561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653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A33D-8EE4-B0B6-D893-FB02FF9A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E76039A-D5B8-7818-1519-2F088E04F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38" y="1324927"/>
            <a:ext cx="8917782" cy="820961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泉州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漳州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廈門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/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台灣腔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調值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比較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172C7A1-6701-A132-C14C-B1FAB6E46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8" y="3181067"/>
            <a:ext cx="8647809" cy="9139961"/>
          </a:xfrm>
          <a:prstGeom prst="rect">
            <a:avLst/>
          </a:prstGeom>
        </p:spPr>
      </p:pic>
      <p:grpSp>
        <p:nvGrpSpPr>
          <p:cNvPr id="4" name="群組 3">
            <a:extLst>
              <a:ext uri="{FF2B5EF4-FFF2-40B4-BE49-F238E27FC236}">
                <a16:creationId xmlns:a16="http://schemas.microsoft.com/office/drawing/2014/main" id="{A4482111-6D27-7520-D096-69EA4B242804}"/>
              </a:ext>
            </a:extLst>
          </p:cNvPr>
          <p:cNvGrpSpPr/>
          <p:nvPr/>
        </p:nvGrpSpPr>
        <p:grpSpPr>
          <a:xfrm>
            <a:off x="661988" y="13046968"/>
            <a:ext cx="8899844" cy="2485715"/>
            <a:chOff x="453284" y="7347647"/>
            <a:chExt cx="5933229" cy="165714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53C63EFF-02AA-3320-EE0D-5D9413050B6D}"/>
                </a:ext>
              </a:extLst>
            </p:cNvPr>
            <p:cNvGrpSpPr/>
            <p:nvPr/>
          </p:nvGrpSpPr>
          <p:grpSpPr>
            <a:xfrm>
              <a:off x="453284" y="7347647"/>
              <a:ext cx="203835" cy="1070858"/>
              <a:chOff x="453284" y="7347647"/>
              <a:chExt cx="203835" cy="1070858"/>
            </a:xfrm>
          </p:grpSpPr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C3DEEF2-56CA-A618-BC13-155C6E62F8FD}"/>
                  </a:ext>
                </a:extLst>
              </p:cNvPr>
              <p:cNvSpPr txBox="1"/>
              <p:nvPr/>
            </p:nvSpPr>
            <p:spPr>
              <a:xfrm>
                <a:off x="453284" y="7347647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5</a:t>
                </a:r>
                <a:endParaRPr lang="zh-TW" altLang="en-US" sz="2400" dirty="0"/>
              </a:p>
            </p:txBody>
          </p:sp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0AF65B51-81D0-05CC-D92A-52DEE36831E6}"/>
                  </a:ext>
                </a:extLst>
              </p:cNvPr>
              <p:cNvSpPr txBox="1"/>
              <p:nvPr/>
            </p:nvSpPr>
            <p:spPr>
              <a:xfrm>
                <a:off x="453284" y="7553806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4</a:t>
                </a:r>
                <a:endParaRPr lang="zh-TW" altLang="en-US" sz="2400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44E23D85-6487-CB21-F655-34EA0A85E89F}"/>
                  </a:ext>
                </a:extLst>
              </p:cNvPr>
              <p:cNvSpPr txBox="1"/>
              <p:nvPr/>
            </p:nvSpPr>
            <p:spPr>
              <a:xfrm>
                <a:off x="453284" y="796612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2</a:t>
                </a:r>
                <a:endParaRPr lang="zh-TW" altLang="en-US" sz="2400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779A124C-85A6-43EB-9BA0-CD97CD0AE197}"/>
                  </a:ext>
                </a:extLst>
              </p:cNvPr>
              <p:cNvSpPr txBox="1"/>
              <p:nvPr/>
            </p:nvSpPr>
            <p:spPr>
              <a:xfrm>
                <a:off x="453284" y="7759965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3</a:t>
                </a:r>
                <a:endParaRPr lang="zh-TW" altLang="en-US" sz="2400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EAD05D2F-949B-5B78-EF96-DC93CB2204A8}"/>
                  </a:ext>
                </a:extLst>
              </p:cNvPr>
              <p:cNvSpPr txBox="1"/>
              <p:nvPr/>
            </p:nvSpPr>
            <p:spPr>
              <a:xfrm>
                <a:off x="453284" y="817228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1</a:t>
                </a:r>
                <a:endParaRPr lang="zh-TW" altLang="en-US" sz="2400" dirty="0"/>
              </a:p>
            </p:txBody>
          </p:sp>
        </p:grpSp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0B78C010-5764-F5D5-6F26-1CA49C4AE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084" y="7347647"/>
              <a:ext cx="5771429" cy="16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879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948BA-75D8-AA5F-6508-32AA409D7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9AEA8E2-4B4E-6AC9-14AF-FF4D68489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318" y="2179077"/>
            <a:ext cx="8877113" cy="7939845"/>
          </a:xfrm>
          <a:prstGeom prst="rect">
            <a:avLst/>
          </a:prstGeom>
        </p:spPr>
      </p:pic>
      <p:sp>
        <p:nvSpPr>
          <p:cNvPr id="7" name="標題 6">
            <a:extLst>
              <a:ext uri="{FF2B5EF4-FFF2-40B4-BE49-F238E27FC236}">
                <a16:creationId xmlns:a16="http://schemas.microsoft.com/office/drawing/2014/main" id="{B9691ADE-383F-A959-1BAD-580E6646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8877113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八調五度標記助記法：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W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AEB23DF7-59F3-EB5D-7B89-961F5A285BEE}"/>
              </a:ext>
            </a:extLst>
          </p:cNvPr>
          <p:cNvGrpSpPr/>
          <p:nvPr/>
        </p:nvGrpSpPr>
        <p:grpSpPr>
          <a:xfrm>
            <a:off x="531318" y="10275178"/>
            <a:ext cx="8899844" cy="2485715"/>
            <a:chOff x="453284" y="7347647"/>
            <a:chExt cx="5933229" cy="1657143"/>
          </a:xfrm>
        </p:grpSpPr>
        <p:grpSp>
          <p:nvGrpSpPr>
            <p:cNvPr id="5" name="群組 4">
              <a:extLst>
                <a:ext uri="{FF2B5EF4-FFF2-40B4-BE49-F238E27FC236}">
                  <a16:creationId xmlns:a16="http://schemas.microsoft.com/office/drawing/2014/main" id="{566658C5-9C0B-3606-6ACD-D6B79D1F2092}"/>
                </a:ext>
              </a:extLst>
            </p:cNvPr>
            <p:cNvGrpSpPr/>
            <p:nvPr/>
          </p:nvGrpSpPr>
          <p:grpSpPr>
            <a:xfrm>
              <a:off x="453284" y="7347647"/>
              <a:ext cx="203835" cy="1070858"/>
              <a:chOff x="453284" y="7347647"/>
              <a:chExt cx="203835" cy="1070858"/>
            </a:xfrm>
          </p:grpSpPr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47D10B8E-4A77-0830-F14D-BDD580BCD7ED}"/>
                  </a:ext>
                </a:extLst>
              </p:cNvPr>
              <p:cNvSpPr txBox="1"/>
              <p:nvPr/>
            </p:nvSpPr>
            <p:spPr>
              <a:xfrm>
                <a:off x="453284" y="7347647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5</a:t>
                </a:r>
                <a:endParaRPr lang="zh-TW" altLang="en-US" sz="2400" dirty="0"/>
              </a:p>
            </p:txBody>
          </p:sp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9920E4AF-EB1F-1020-0E35-BC6AD16F20B2}"/>
                  </a:ext>
                </a:extLst>
              </p:cNvPr>
              <p:cNvSpPr txBox="1"/>
              <p:nvPr/>
            </p:nvSpPr>
            <p:spPr>
              <a:xfrm>
                <a:off x="453284" y="7553806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4</a:t>
                </a:r>
                <a:endParaRPr lang="zh-TW" altLang="en-US" sz="2400" dirty="0"/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5DF00B8C-E84E-CB5A-7417-47F11473EB83}"/>
                  </a:ext>
                </a:extLst>
              </p:cNvPr>
              <p:cNvSpPr txBox="1"/>
              <p:nvPr/>
            </p:nvSpPr>
            <p:spPr>
              <a:xfrm>
                <a:off x="453284" y="796612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2</a:t>
                </a:r>
                <a:endParaRPr lang="zh-TW" altLang="en-US" sz="2400" dirty="0"/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036F9EE9-096E-5F8B-F511-AD0AF4AD86B9}"/>
                  </a:ext>
                </a:extLst>
              </p:cNvPr>
              <p:cNvSpPr txBox="1"/>
              <p:nvPr/>
            </p:nvSpPr>
            <p:spPr>
              <a:xfrm>
                <a:off x="453284" y="7759965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3</a:t>
                </a:r>
                <a:endParaRPr lang="zh-TW" altLang="en-US" sz="2400" dirty="0"/>
              </a:p>
            </p:txBody>
          </p: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B62F54A3-562C-BA92-E77C-7061A8644BCF}"/>
                  </a:ext>
                </a:extLst>
              </p:cNvPr>
              <p:cNvSpPr txBox="1"/>
              <p:nvPr/>
            </p:nvSpPr>
            <p:spPr>
              <a:xfrm>
                <a:off x="453284" y="8172284"/>
                <a:ext cx="203835" cy="246221"/>
              </a:xfrm>
              <a:prstGeom prst="rect">
                <a:avLst/>
              </a:prstGeom>
              <a:noFill/>
            </p:spPr>
            <p:txBody>
              <a:bodyPr wrap="square" lIns="54000" tIns="0" rIns="54000" bIns="0" rtlCol="0">
                <a:spAutoFit/>
              </a:bodyPr>
              <a:lstStyle/>
              <a:p>
                <a:pPr algn="ctr"/>
                <a:r>
                  <a:rPr lang="en-US" altLang="zh-TW" sz="2400" dirty="0"/>
                  <a:t>1</a:t>
                </a:r>
                <a:endParaRPr lang="zh-TW" altLang="en-US" sz="2400" dirty="0"/>
              </a:p>
            </p:txBody>
          </p:sp>
        </p:grpSp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25BC4770-F164-CD6C-F506-40E9ACDAA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084" y="7347647"/>
              <a:ext cx="5771429" cy="1657143"/>
            </a:xfrm>
            <a:prstGeom prst="rect">
              <a:avLst/>
            </a:prstGeom>
          </p:spPr>
        </p:pic>
      </p:grpSp>
      <p:pic>
        <p:nvPicPr>
          <p:cNvPr id="11" name="圖片 10" descr="一張含有 文字, 行, 螢幕擷取畫面, 圖表 的圖片&#10;&#10;AI 產生的內容可能不正確。">
            <a:extLst>
              <a:ext uri="{FF2B5EF4-FFF2-40B4-BE49-F238E27FC236}">
                <a16:creationId xmlns:a16="http://schemas.microsoft.com/office/drawing/2014/main" id="{C3439606-897C-C37B-DADE-47E082C84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5" y="12993299"/>
            <a:ext cx="9182100" cy="516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9342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26CC-78BA-AA3F-30E8-CFC3664D4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CB8F36C-9191-59C0-AC34-EB53572CE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5E111B1-D423-30E8-7623-D0A6FB5C9DF1}"/>
              </a:ext>
            </a:extLst>
          </p:cNvPr>
          <p:cNvSpPr txBox="1"/>
          <p:nvPr/>
        </p:nvSpPr>
        <p:spPr>
          <a:xfrm>
            <a:off x="2764404" y="1294351"/>
            <a:ext cx="5400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dirty="0">
                <a:solidFill>
                  <a:srgbClr val="0070C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sz="4800" dirty="0">
                <a:solidFill>
                  <a:srgbClr val="0070C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君</a:t>
            </a:r>
            <a:r>
              <a:rPr lang="en-US" altLang="zh-TW" sz="4800" dirty="0">
                <a:solidFill>
                  <a:srgbClr val="0070C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r>
              <a:rPr lang="zh-TW" altLang="en-US" sz="4800" dirty="0">
                <a:solidFill>
                  <a:srgbClr val="0070C0"/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字韻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647D915-0D3A-4564-583E-56E7C8B1B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20" y="10354963"/>
            <a:ext cx="9192559" cy="7358362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86A21734-B2BF-2DBA-BBFD-D6B7AA815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19" y="2571969"/>
            <a:ext cx="9192559" cy="736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191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211C8-3C30-CBCA-5211-D42AEADC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E5AD9D2-5866-1E7B-AD72-8A944939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9359266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字母八音反切列舉：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1 - 10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B8BF1D0-75D6-2444-AC9B-750F99B39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6" y="3032077"/>
            <a:ext cx="9217024" cy="1261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158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BCFE-23F8-8392-6A64-C55EEA51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1F9FD2A-0D6A-41A5-5495-ADCB3E682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6" y="3022600"/>
            <a:ext cx="9217024" cy="12619426"/>
          </a:xfrm>
          <a:prstGeom prst="rect">
            <a:avLst/>
          </a:prstGeom>
        </p:spPr>
      </p:pic>
      <p:sp>
        <p:nvSpPr>
          <p:cNvPr id="6" name="標題 6">
            <a:extLst>
              <a:ext uri="{FF2B5EF4-FFF2-40B4-BE49-F238E27FC236}">
                <a16:creationId xmlns:a16="http://schemas.microsoft.com/office/drawing/2014/main" id="{7563CEDC-6003-648B-1D9D-E29A1E162223}"/>
              </a:ext>
            </a:extLst>
          </p:cNvPr>
          <p:cNvSpPr txBox="1">
            <a:spLocks/>
          </p:cNvSpPr>
          <p:nvPr/>
        </p:nvSpPr>
        <p:spPr>
          <a:xfrm>
            <a:off x="356234" y="1327707"/>
            <a:ext cx="9359266" cy="764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771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57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字母八音反切列舉：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11 - 20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22108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C2475-4FAB-6795-6EA8-215EA5EDF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3895BF28-F354-883E-6DD4-E1BDF846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3022599"/>
            <a:ext cx="9241423" cy="12652829"/>
          </a:xfrm>
          <a:prstGeom prst="rect">
            <a:avLst/>
          </a:prstGeom>
        </p:spPr>
      </p:pic>
      <p:sp>
        <p:nvSpPr>
          <p:cNvPr id="8" name="標題 6">
            <a:extLst>
              <a:ext uri="{FF2B5EF4-FFF2-40B4-BE49-F238E27FC236}">
                <a16:creationId xmlns:a16="http://schemas.microsoft.com/office/drawing/2014/main" id="{5474C776-011A-1FAF-F515-F780EDFEF973}"/>
              </a:ext>
            </a:extLst>
          </p:cNvPr>
          <p:cNvSpPr txBox="1">
            <a:spLocks/>
          </p:cNvSpPr>
          <p:nvPr/>
        </p:nvSpPr>
        <p:spPr>
          <a:xfrm>
            <a:off x="356234" y="1327707"/>
            <a:ext cx="9359266" cy="764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771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57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字母八音反切列舉：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21 - 30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40673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D564A-F80D-C34F-CF9A-4EB1071C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DB3F22B-084F-69EB-BFBC-AAF0A94FB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59" y="3022600"/>
            <a:ext cx="9350082" cy="12801600"/>
          </a:xfrm>
          <a:prstGeom prst="rect">
            <a:avLst/>
          </a:prstGeom>
        </p:spPr>
      </p:pic>
      <p:sp>
        <p:nvSpPr>
          <p:cNvPr id="8" name="標題 6">
            <a:extLst>
              <a:ext uri="{FF2B5EF4-FFF2-40B4-BE49-F238E27FC236}">
                <a16:creationId xmlns:a16="http://schemas.microsoft.com/office/drawing/2014/main" id="{C3B0AFEA-BC59-A993-274F-4F9922A4D7DD}"/>
              </a:ext>
            </a:extLst>
          </p:cNvPr>
          <p:cNvSpPr txBox="1">
            <a:spLocks/>
          </p:cNvSpPr>
          <p:nvPr/>
        </p:nvSpPr>
        <p:spPr>
          <a:xfrm>
            <a:off x="356234" y="1327707"/>
            <a:ext cx="9359266" cy="764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771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57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字母八音反切列舉：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31 - 40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23175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8F9D3-A35B-EB4F-FAB7-F7F8226C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F886B20-D499-4570-AB63-F3FB3D97B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3022600"/>
            <a:ext cx="9252023" cy="12667343"/>
          </a:xfrm>
          <a:prstGeom prst="rect">
            <a:avLst/>
          </a:prstGeom>
        </p:spPr>
      </p:pic>
      <p:sp>
        <p:nvSpPr>
          <p:cNvPr id="8" name="標題 6">
            <a:extLst>
              <a:ext uri="{FF2B5EF4-FFF2-40B4-BE49-F238E27FC236}">
                <a16:creationId xmlns:a16="http://schemas.microsoft.com/office/drawing/2014/main" id="{0934A040-1285-C10A-928F-E4FF6C5BAE34}"/>
              </a:ext>
            </a:extLst>
          </p:cNvPr>
          <p:cNvSpPr txBox="1">
            <a:spLocks/>
          </p:cNvSpPr>
          <p:nvPr/>
        </p:nvSpPr>
        <p:spPr>
          <a:xfrm>
            <a:off x="356234" y="1327707"/>
            <a:ext cx="9359266" cy="7642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77157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57" kern="12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j-cs"/>
              </a:defRPr>
            </a:lvl1pPr>
          </a:lstStyle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字母八音反切列舉：</a:t>
            </a:r>
            <a:r>
              <a:rPr lang="en-US" altLang="zh-TW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41 - 50</a:t>
            </a:r>
            <a:endParaRPr lang="zh-TW" altLang="en-US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29859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BBF5-9F9F-7352-D60A-FA963C6AF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CF11C9C-6771-6E02-9305-124673653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7781926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endParaRPr lang="zh-TW" altLang="en-US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92C21AC-35EE-C392-47DC-AE33019C5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68"/>
          <a:stretch/>
        </p:blipFill>
        <p:spPr>
          <a:xfrm>
            <a:off x="62547" y="6597748"/>
            <a:ext cx="10161905" cy="567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0038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EEB4B-AECC-F4C6-AFF2-06C2923E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3D26B34-8F13-7FC1-47F3-7F1CA73E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9FCE829-A14C-41F1-0137-59BE9F27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3022600"/>
            <a:ext cx="9264010" cy="1062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819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B431B-8A54-F040-DDC0-22957762C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94D10230-CB79-169D-D61A-44A0291E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034E897-A796-5F26-9E63-E7F6C6788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4" y="2377819"/>
            <a:ext cx="9574532" cy="1502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085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A3C98-26C2-15FC-1120-9270307F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A73AE65-BB7B-D731-0896-BE113CC29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9695635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r>
              <a:rPr lang="zh-TW" altLang="en-US" dirty="0"/>
              <a:t>（發音部位）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B1417F2-815C-BE4C-47EB-801207A15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131" y="2436469"/>
            <a:ext cx="9816738" cy="1278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664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AC87-02D0-E024-4BEE-A889BB82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885A49F-AE10-2688-0701-EF300D8D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996772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切音 </a:t>
            </a:r>
            <a:r>
              <a:rPr lang="en-US" altLang="zh-TW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15 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字（聲母）</a:t>
            </a:r>
            <a:r>
              <a:rPr lang="zh-TW" altLang="en-US" dirty="0"/>
              <a:t>（發音部位）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FDD4C65-16CD-0221-8AD4-BF761185F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37" y="2495007"/>
            <a:ext cx="9873926" cy="87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4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54F5B-C833-EBDF-7D08-BAA15722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7068CA7-65A8-C809-9F85-BB24FCAE2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7113711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呼十五音法（反切併音）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E24743D-267A-0C20-0174-E4E0D6362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2" y="2094200"/>
            <a:ext cx="8872536" cy="10760744"/>
          </a:xfrm>
          <a:prstGeom prst="rect">
            <a:avLst/>
          </a:prstGeom>
        </p:spPr>
      </p:pic>
      <p:grpSp>
        <p:nvGrpSpPr>
          <p:cNvPr id="8" name="群組 7">
            <a:extLst>
              <a:ext uri="{FF2B5EF4-FFF2-40B4-BE49-F238E27FC236}">
                <a16:creationId xmlns:a16="http://schemas.microsoft.com/office/drawing/2014/main" id="{F6F6C508-1B06-8B45-7797-B35DF68A7F6A}"/>
              </a:ext>
            </a:extLst>
          </p:cNvPr>
          <p:cNvGrpSpPr/>
          <p:nvPr/>
        </p:nvGrpSpPr>
        <p:grpSpPr>
          <a:xfrm>
            <a:off x="2042790" y="12954335"/>
            <a:ext cx="6201420" cy="4842872"/>
            <a:chOff x="2042790" y="12954335"/>
            <a:chExt cx="6201420" cy="4842872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369B7F79-E736-79E4-D167-4880B0E4E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3500" y="12954335"/>
              <a:ext cx="3100710" cy="4842872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2ACCC7D-933B-3CF8-3A92-984FEE461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42790" y="12958749"/>
              <a:ext cx="3131763" cy="48384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11604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0BE0-F639-7B07-FB9E-DD7D3E6FD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658C148-4141-7999-1663-9397220A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7113711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呼十五音法（反切併音）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EB7674A-6D26-8A5B-F4CC-D8690E694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62" y="3022600"/>
            <a:ext cx="9196562" cy="1325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707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CB17A-1AC8-E2C2-1092-70F74BB52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2FB42B1-67E1-77B1-311F-4FA53DBA6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7113711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呼十五音法（反切併音）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CD3DC5-97BC-661B-1F43-42D713674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66"/>
          <a:stretch/>
        </p:blipFill>
        <p:spPr>
          <a:xfrm>
            <a:off x="62547" y="2928200"/>
            <a:ext cx="10161905" cy="5623315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9808623-BCC4-DC3C-797D-47187368524D}"/>
              </a:ext>
            </a:extLst>
          </p:cNvPr>
          <p:cNvSpPr txBox="1"/>
          <p:nvPr/>
        </p:nvSpPr>
        <p:spPr>
          <a:xfrm>
            <a:off x="945106" y="9736486"/>
            <a:ext cx="92793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唸字母（韻母）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思字韻（方音符號</a:t>
            </a:r>
            <a:r>
              <a:rPr lang="en-US" altLang="zh-TW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/</a:t>
            </a: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拼音字母）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唸聲調（音調）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取八音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唸切音（聲母）</a:t>
            </a:r>
            <a:endParaRPr lang="en-US" altLang="zh-TW" sz="48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48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呼讀音</a:t>
            </a:r>
          </a:p>
        </p:txBody>
      </p:sp>
    </p:spTree>
    <p:extLst>
      <p:ext uri="{BB962C8B-B14F-4D97-AF65-F5344CB8AC3E}">
        <p14:creationId xmlns:p14="http://schemas.microsoft.com/office/powerpoint/2010/main" val="1037650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EC336-2101-1707-2761-FA6E4089B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545BCEC-546B-072B-87DB-652E6E90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AEE6F91-79AC-7897-89C5-1BED9A7BC697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倫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EADFBDD3-4DB5-72AA-4F01-1CB2EFEEB358}"/>
              </a:ext>
            </a:extLst>
          </p:cNvPr>
          <p:cNvSpPr txBox="1"/>
          <p:nvPr/>
        </p:nvSpPr>
        <p:spPr>
          <a:xfrm>
            <a:off x="3926681" y="267787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043B3CE0-5A5B-CF5B-E33A-FF035627C47B}"/>
              </a:ext>
            </a:extLst>
          </p:cNvPr>
          <p:cNvSpPr txBox="1"/>
          <p:nvPr/>
        </p:nvSpPr>
        <p:spPr>
          <a:xfrm>
            <a:off x="981554" y="8163231"/>
            <a:ext cx="8684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 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 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endParaRPr lang="zh-TW" altLang="en-US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5B14D185-E06E-8FD8-A68C-F9407CDEEB75}"/>
              </a:ext>
            </a:extLst>
          </p:cNvPr>
          <p:cNvSpPr/>
          <p:nvPr/>
        </p:nvSpPr>
        <p:spPr>
          <a:xfrm>
            <a:off x="4509373" y="9809687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A690200-CD8C-535E-491A-B3675FD3AA1D}"/>
              </a:ext>
            </a:extLst>
          </p:cNvPr>
          <p:cNvSpPr txBox="1"/>
          <p:nvPr/>
        </p:nvSpPr>
        <p:spPr>
          <a:xfrm>
            <a:off x="981554" y="15269356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字母（韻母）：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】[un]</a:t>
            </a: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八音（音調）：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 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】〔5〕</a:t>
            </a: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切音（聲母）：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 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】[l]</a:t>
            </a:r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0E16AC72-F7F9-D99A-82CD-10DA73A7A791}"/>
              </a:ext>
            </a:extLst>
          </p:cNvPr>
          <p:cNvSpPr/>
          <p:nvPr/>
        </p:nvSpPr>
        <p:spPr>
          <a:xfrm>
            <a:off x="4509373" y="13748988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BD838F3B-94F6-FD7F-5B14-35237CE517B9}"/>
              </a:ext>
            </a:extLst>
          </p:cNvPr>
          <p:cNvSpPr txBox="1"/>
          <p:nvPr/>
        </p:nvSpPr>
        <p:spPr>
          <a:xfrm>
            <a:off x="981554" y="11330055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57DF58-0919-B37F-C7BC-1F86F0C2F291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44C3579-255D-C21E-2640-2C31910C2860}"/>
              </a:ext>
            </a:extLst>
          </p:cNvPr>
          <p:cNvSpPr txBox="1"/>
          <p:nvPr/>
        </p:nvSpPr>
        <p:spPr>
          <a:xfrm>
            <a:off x="3926681" y="54974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946DB28-625D-FC2D-554D-3EF7C4B462AB}"/>
              </a:ext>
            </a:extLst>
          </p:cNvPr>
          <p:cNvSpPr txBox="1"/>
          <p:nvPr/>
        </p:nvSpPr>
        <p:spPr>
          <a:xfrm>
            <a:off x="6494764" y="4232893"/>
            <a:ext cx="45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 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B41A16CC-C509-C942-A4C2-2088F9A2E75B}"/>
              </a:ext>
            </a:extLst>
          </p:cNvPr>
          <p:cNvSpPr/>
          <p:nvPr/>
        </p:nvSpPr>
        <p:spPr>
          <a:xfrm>
            <a:off x="4509373" y="6648675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66002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F4CD6-3C84-0C70-FE2A-61676AA87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A8BDD089-8E95-D63B-399C-F6C83E717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ACC3C1C-7474-8CD0-43E2-F8557EAA20AA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倫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919E56-7104-AB6A-243E-E85B01E88EC2}"/>
              </a:ext>
            </a:extLst>
          </p:cNvPr>
          <p:cNvSpPr txBox="1"/>
          <p:nvPr/>
        </p:nvSpPr>
        <p:spPr>
          <a:xfrm>
            <a:off x="3926681" y="267787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BC4C8186-D9CB-1F0B-19CF-46F9F6F4C553}"/>
              </a:ext>
            </a:extLst>
          </p:cNvPr>
          <p:cNvSpPr/>
          <p:nvPr/>
        </p:nvSpPr>
        <p:spPr>
          <a:xfrm>
            <a:off x="4585572" y="8405864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DA7CD66-FDC3-F286-634E-288485EC8814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A096FA0-41C2-8F6B-FA70-596463412549}"/>
              </a:ext>
            </a:extLst>
          </p:cNvPr>
          <p:cNvSpPr txBox="1"/>
          <p:nvPr/>
        </p:nvSpPr>
        <p:spPr>
          <a:xfrm>
            <a:off x="3926681" y="54974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4D3331-7DC0-E9FF-4F65-CDF61A32DA1F}"/>
              </a:ext>
            </a:extLst>
          </p:cNvPr>
          <p:cNvSpPr txBox="1"/>
          <p:nvPr/>
        </p:nvSpPr>
        <p:spPr>
          <a:xfrm>
            <a:off x="6494764" y="4232893"/>
            <a:ext cx="45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 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4BE5F9-820D-1535-7902-622257EB99D3}"/>
              </a:ext>
            </a:extLst>
          </p:cNvPr>
          <p:cNvSpPr txBox="1"/>
          <p:nvPr/>
        </p:nvSpPr>
        <p:spPr>
          <a:xfrm>
            <a:off x="707231" y="11989100"/>
            <a:ext cx="93036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E18A199-DE75-A550-ECA4-CDE6198ED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814906"/>
              </p:ext>
            </p:extLst>
          </p:nvPr>
        </p:nvGraphicFramePr>
        <p:xfrm>
          <a:off x="966789" y="12073607"/>
          <a:ext cx="8316912" cy="57458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05234">
                  <a:extLst>
                    <a:ext uri="{9D8B030D-6E8A-4147-A177-3AD203B41FA5}">
                      <a16:colId xmlns:a16="http://schemas.microsoft.com/office/drawing/2014/main" val="3135380535"/>
                    </a:ext>
                  </a:extLst>
                </a:gridCol>
                <a:gridCol w="3511678">
                  <a:extLst>
                    <a:ext uri="{9D8B030D-6E8A-4147-A177-3AD203B41FA5}">
                      <a16:colId xmlns:a16="http://schemas.microsoft.com/office/drawing/2014/main" val="3145122307"/>
                    </a:ext>
                  </a:extLst>
                </a:gridCol>
              </a:tblGrid>
              <a:tr h="848498"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1.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唸字母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（韻母）</a:t>
                      </a:r>
                      <a:endParaRPr lang="en-US" altLang="zh-TW" sz="1800" dirty="0">
                        <a:latin typeface="Noto Sans TC Medium" panose="020B0200000000000000" pitchFamily="34" charset="-128"/>
                        <a:ea typeface="Noto Sans TC Medium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077980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2.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思字韻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（方音符號</a:t>
                      </a:r>
                      <a:r>
                        <a:rPr lang="en-US" altLang="zh-TW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/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拼音字母）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ㄨㄣ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b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〔 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un 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126203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唸聲調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（音調）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680579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4.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取八音</a:t>
                      </a:r>
                      <a:endParaRPr lang="en-US" altLang="zh-TW" sz="3200" dirty="0">
                        <a:latin typeface="Noto Sans TC Medium" panose="020B0200000000000000" pitchFamily="34" charset="-128"/>
                        <a:ea typeface="Noto Sans TC Medium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ㄨㄣ</a:t>
                      </a:r>
                      <a:r>
                        <a:rPr lang="zh-TW" altLang="en-US" sz="32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ˊ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】〔 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un</a:t>
                      </a:r>
                      <a:r>
                        <a:rPr lang="en-US" altLang="zh-TW" sz="3200" dirty="0">
                          <a:solidFill>
                            <a:schemeClr val="accent6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5 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180966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5.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唸切音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（聲母）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770205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6.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呼讀音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2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ㄌ</a:t>
                      </a:r>
                      <a:r>
                        <a:rPr lang="zh-TW" altLang="en-US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ㄨㄣ</a:t>
                      </a:r>
                      <a:r>
                        <a:rPr lang="zh-TW" altLang="en-US" sz="32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ˊ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】〔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 </a:t>
                      </a:r>
                      <a:r>
                        <a:rPr lang="en-US" altLang="zh-TW" sz="32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l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un</a:t>
                      </a:r>
                      <a:r>
                        <a:rPr lang="en-US" altLang="zh-TW" sz="3200" dirty="0">
                          <a:solidFill>
                            <a:schemeClr val="accent6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5 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〕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556159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DD8876D3-D43A-C9B7-8CE4-F8C95A5E3C7E}"/>
              </a:ext>
            </a:extLst>
          </p:cNvPr>
          <p:cNvSpPr txBox="1"/>
          <p:nvPr/>
        </p:nvSpPr>
        <p:spPr>
          <a:xfrm>
            <a:off x="689371" y="6436671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E875D14-59AE-0276-19A3-38A298E26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37939"/>
              </p:ext>
            </p:extLst>
          </p:nvPr>
        </p:nvGraphicFramePr>
        <p:xfrm>
          <a:off x="955944" y="9528327"/>
          <a:ext cx="8316911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9799">
                  <a:extLst>
                    <a:ext uri="{9D8B030D-6E8A-4147-A177-3AD203B41FA5}">
                      <a16:colId xmlns:a16="http://schemas.microsoft.com/office/drawing/2014/main" val="3755896459"/>
                    </a:ext>
                  </a:extLst>
                </a:gridCol>
                <a:gridCol w="1285512">
                  <a:extLst>
                    <a:ext uri="{9D8B030D-6E8A-4147-A177-3AD203B41FA5}">
                      <a16:colId xmlns:a16="http://schemas.microsoft.com/office/drawing/2014/main" val="734000788"/>
                    </a:ext>
                  </a:extLst>
                </a:gridCol>
                <a:gridCol w="2043100">
                  <a:extLst>
                    <a:ext uri="{9D8B030D-6E8A-4147-A177-3AD203B41FA5}">
                      <a16:colId xmlns:a16="http://schemas.microsoft.com/office/drawing/2014/main" val="1826051819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3412216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字母（韻母）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君</a:t>
                      </a:r>
                      <a:endParaRPr lang="zh-TW" altLang="en-US" sz="3600" dirty="0"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6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ㄨㄣ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[ </a:t>
                      </a:r>
                      <a:r>
                        <a:rPr lang="en-US" altLang="zh-TW" sz="36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un 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]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88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八音（音調）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五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6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ˊ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[ </a:t>
                      </a:r>
                      <a:r>
                        <a:rPr lang="en-US" altLang="zh-TW" sz="36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5 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]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019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切音（聲母）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柳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6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ㄌ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[ </a:t>
                      </a:r>
                      <a:r>
                        <a:rPr lang="en-US" altLang="zh-TW" sz="36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l 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]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157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18028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D3054-C17F-C748-FF0F-95DF0A3D7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78BE923-DAEA-77E0-63A6-338623AB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FEEE88A-4B8B-214D-F71C-2CF2FF7A05CC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律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9EA76D8-C574-79BD-C983-8EBCC6B08C7B}"/>
              </a:ext>
            </a:extLst>
          </p:cNvPr>
          <p:cNvSpPr txBox="1"/>
          <p:nvPr/>
        </p:nvSpPr>
        <p:spPr>
          <a:xfrm>
            <a:off x="3926681" y="267787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2DEBB3E8-7313-E0F0-27E5-5A0B1F20572F}"/>
              </a:ext>
            </a:extLst>
          </p:cNvPr>
          <p:cNvSpPr/>
          <p:nvPr/>
        </p:nvSpPr>
        <p:spPr>
          <a:xfrm>
            <a:off x="4585572" y="8405864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EAD0097-041A-4059-D1B2-C87FAB59CE76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C910CEE-FED4-D134-8BA2-4606E1729516}"/>
              </a:ext>
            </a:extLst>
          </p:cNvPr>
          <p:cNvSpPr txBox="1"/>
          <p:nvPr/>
        </p:nvSpPr>
        <p:spPr>
          <a:xfrm>
            <a:off x="3926681" y="54974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ut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B5DFF0A-4827-AEB3-1F6A-8AA3F4400EA2}"/>
              </a:ext>
            </a:extLst>
          </p:cNvPr>
          <p:cNvSpPr txBox="1"/>
          <p:nvPr/>
        </p:nvSpPr>
        <p:spPr>
          <a:xfrm>
            <a:off x="6494763" y="4172750"/>
            <a:ext cx="45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˙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23830FF-BB89-0215-EAF4-7E99CD928770}"/>
              </a:ext>
            </a:extLst>
          </p:cNvPr>
          <p:cNvSpPr txBox="1"/>
          <p:nvPr/>
        </p:nvSpPr>
        <p:spPr>
          <a:xfrm>
            <a:off x="707231" y="11989100"/>
            <a:ext cx="93036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sz="3600" dirty="0"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C2B8C64-18E5-9425-68F1-8C4EBBF734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211977"/>
              </p:ext>
            </p:extLst>
          </p:nvPr>
        </p:nvGraphicFramePr>
        <p:xfrm>
          <a:off x="966789" y="12073607"/>
          <a:ext cx="8316912" cy="574589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805234">
                  <a:extLst>
                    <a:ext uri="{9D8B030D-6E8A-4147-A177-3AD203B41FA5}">
                      <a16:colId xmlns:a16="http://schemas.microsoft.com/office/drawing/2014/main" val="3135380535"/>
                    </a:ext>
                  </a:extLst>
                </a:gridCol>
                <a:gridCol w="3511678">
                  <a:extLst>
                    <a:ext uri="{9D8B030D-6E8A-4147-A177-3AD203B41FA5}">
                      <a16:colId xmlns:a16="http://schemas.microsoft.com/office/drawing/2014/main" val="3145122307"/>
                    </a:ext>
                  </a:extLst>
                </a:gridCol>
              </a:tblGrid>
              <a:tr h="848498"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1.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唸字母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（韻母）</a:t>
                      </a:r>
                      <a:endParaRPr lang="en-US" altLang="zh-TW" sz="1800" dirty="0">
                        <a:latin typeface="Noto Sans TC Medium" panose="020B0200000000000000" pitchFamily="34" charset="-128"/>
                        <a:ea typeface="Noto Sans TC Medium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君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8077980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2.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思字韻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（方音符號</a:t>
                      </a:r>
                      <a:r>
                        <a:rPr lang="en-US" altLang="zh-TW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/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拼音字母）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ㄨㄣ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b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〔 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un 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126203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3.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唸聲調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（音調）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八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3680579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4.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取八音</a:t>
                      </a:r>
                      <a:endParaRPr lang="en-US" altLang="zh-TW" sz="3200" dirty="0">
                        <a:latin typeface="Noto Sans TC Medium" panose="020B0200000000000000" pitchFamily="34" charset="-128"/>
                        <a:ea typeface="Noto Sans TC Medium" panose="020B02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ㄨㆵ</a:t>
                      </a:r>
                      <a:r>
                        <a:rPr lang="zh-TW" altLang="en-US" sz="32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˙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b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</a:b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〔 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ut</a:t>
                      </a:r>
                      <a:r>
                        <a:rPr lang="en-US" altLang="zh-TW" sz="3200" dirty="0">
                          <a:solidFill>
                            <a:schemeClr val="accent6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8 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180966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5.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唸切音</a:t>
                      </a:r>
                      <a:r>
                        <a:rPr lang="zh-TW" altLang="en-US" sz="18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（聲母）</a:t>
                      </a:r>
                      <a:endParaRPr lang="zh-TW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3200" dirty="0"/>
                        <a:t>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6770205"/>
                  </a:ext>
                </a:extLst>
              </a:tr>
              <a:tr h="848498">
                <a:tc>
                  <a:txBody>
                    <a:bodyPr/>
                    <a:lstStyle/>
                    <a:p>
                      <a:pPr marL="0" marR="0" lvl="0" indent="0" algn="l" defTabSz="77157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6.</a:t>
                      </a:r>
                      <a:r>
                        <a:rPr lang="zh-TW" altLang="en-US" sz="32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呼讀音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2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ㄌ</a:t>
                      </a:r>
                      <a:r>
                        <a:rPr lang="zh-TW" altLang="en-US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ㄨㆵ</a:t>
                      </a:r>
                      <a:r>
                        <a:rPr lang="zh-TW" altLang="en-US" sz="32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˙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】〔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 </a:t>
                      </a:r>
                      <a:r>
                        <a:rPr lang="en-US" altLang="zh-TW" sz="32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l</a:t>
                      </a:r>
                      <a:r>
                        <a:rPr lang="en-US" altLang="zh-TW" sz="32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ut</a:t>
                      </a:r>
                      <a:r>
                        <a:rPr lang="en-US" altLang="zh-TW" sz="3200" dirty="0">
                          <a:solidFill>
                            <a:schemeClr val="accent6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8 </a:t>
                      </a:r>
                      <a:r>
                        <a:rPr lang="en-US" altLang="zh-TW" sz="32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〕</a:t>
                      </a:r>
                      <a:endParaRPr lang="zh-TW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556159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6CE053F0-D1A6-DC31-ED73-F4D22DF73AA0}"/>
              </a:ext>
            </a:extLst>
          </p:cNvPr>
          <p:cNvSpPr txBox="1"/>
          <p:nvPr/>
        </p:nvSpPr>
        <p:spPr>
          <a:xfrm>
            <a:off x="689371" y="6436671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ㄨㆵ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˙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ut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8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B4B27839-35FB-3F7D-D0E1-B1F48C2D25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1846"/>
              </p:ext>
            </p:extLst>
          </p:nvPr>
        </p:nvGraphicFramePr>
        <p:xfrm>
          <a:off x="955944" y="9528327"/>
          <a:ext cx="8316911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9799">
                  <a:extLst>
                    <a:ext uri="{9D8B030D-6E8A-4147-A177-3AD203B41FA5}">
                      <a16:colId xmlns:a16="http://schemas.microsoft.com/office/drawing/2014/main" val="3755896459"/>
                    </a:ext>
                  </a:extLst>
                </a:gridCol>
                <a:gridCol w="1285512">
                  <a:extLst>
                    <a:ext uri="{9D8B030D-6E8A-4147-A177-3AD203B41FA5}">
                      <a16:colId xmlns:a16="http://schemas.microsoft.com/office/drawing/2014/main" val="734000788"/>
                    </a:ext>
                  </a:extLst>
                </a:gridCol>
                <a:gridCol w="2043100">
                  <a:extLst>
                    <a:ext uri="{9D8B030D-6E8A-4147-A177-3AD203B41FA5}">
                      <a16:colId xmlns:a16="http://schemas.microsoft.com/office/drawing/2014/main" val="1826051819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34122164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字母（韻母）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君</a:t>
                      </a:r>
                      <a:endParaRPr lang="zh-TW" altLang="en-US" sz="3600" dirty="0">
                        <a:noFill/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6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ㄨㆵ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[ </a:t>
                      </a:r>
                      <a:r>
                        <a:rPr lang="en-US" altLang="zh-TW" sz="3600" dirty="0">
                          <a:solidFill>
                            <a:schemeClr val="accent2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ut 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]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88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八音（音調）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八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6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˙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[ </a:t>
                      </a:r>
                      <a:r>
                        <a:rPr lang="en-US" altLang="zh-TW" sz="3600" dirty="0">
                          <a:solidFill>
                            <a:srgbClr val="00B050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8 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]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019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sz="3600" dirty="0"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切音（聲母）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36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柳</a:t>
                      </a:r>
                      <a:endParaRPr lang="zh-TW" altLang="en-US" sz="3600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【</a:t>
                      </a:r>
                      <a:r>
                        <a:rPr lang="zh-TW" altLang="en-US" sz="36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ㄌ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】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[ </a:t>
                      </a:r>
                      <a:r>
                        <a:rPr lang="en-US" altLang="zh-TW" sz="3600" dirty="0">
                          <a:solidFill>
                            <a:schemeClr val="accent5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l </a:t>
                      </a:r>
                      <a:r>
                        <a:rPr lang="en-US" altLang="zh-TW" sz="3600" dirty="0">
                          <a:solidFill>
                            <a:schemeClr val="tx1"/>
                          </a:solidFill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]</a:t>
                      </a:r>
                      <a:endParaRPr lang="zh-TW" altLang="en-US" sz="3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157645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3921C7F3-93C9-813F-8BA8-E8CE96B3DA2F}"/>
              </a:ext>
            </a:extLst>
          </p:cNvPr>
          <p:cNvSpPr txBox="1"/>
          <p:nvPr/>
        </p:nvSpPr>
        <p:spPr>
          <a:xfrm>
            <a:off x="6494763" y="4374939"/>
            <a:ext cx="45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ㆵ</a:t>
            </a:r>
          </a:p>
        </p:txBody>
      </p:sp>
    </p:spTree>
    <p:extLst>
      <p:ext uri="{BB962C8B-B14F-4D97-AF65-F5344CB8AC3E}">
        <p14:creationId xmlns:p14="http://schemas.microsoft.com/office/powerpoint/2010/main" val="21789249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322F-8B0C-EE07-5AE4-6E1F2E778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8168735-1CDE-045C-A1DE-AFC84A52F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B676420-8A62-6740-BC55-D3DD6F86E8F3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論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D4C7B94-1ADC-981C-626A-70A592515770}"/>
              </a:ext>
            </a:extLst>
          </p:cNvPr>
          <p:cNvSpPr txBox="1"/>
          <p:nvPr/>
        </p:nvSpPr>
        <p:spPr>
          <a:xfrm>
            <a:off x="3926681" y="267787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F878A86-6DDC-979A-FC42-98D15BBD6591}"/>
              </a:ext>
            </a:extLst>
          </p:cNvPr>
          <p:cNvSpPr txBox="1"/>
          <p:nvPr/>
        </p:nvSpPr>
        <p:spPr>
          <a:xfrm>
            <a:off x="707231" y="6278326"/>
            <a:ext cx="8684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 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 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endParaRPr lang="zh-TW" altLang="en-US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1E44FAA7-5282-8B84-DB14-4ACD64FDC9B0}"/>
              </a:ext>
            </a:extLst>
          </p:cNvPr>
          <p:cNvSpPr/>
          <p:nvPr/>
        </p:nvSpPr>
        <p:spPr>
          <a:xfrm>
            <a:off x="4509373" y="7924782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484E707-A6D5-C5C8-D76C-D43010DBECB0}"/>
              </a:ext>
            </a:extLst>
          </p:cNvPr>
          <p:cNvSpPr txBox="1"/>
          <p:nvPr/>
        </p:nvSpPr>
        <p:spPr>
          <a:xfrm>
            <a:off x="801290" y="13657501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字母（韻母）：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】[un]</a:t>
            </a: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八音（音調）：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 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˫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 〔7〕</a:t>
            </a: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切音（聲母）：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 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】[l]</a:t>
            </a:r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272C726D-B046-0808-C143-0B57ABF3910B}"/>
              </a:ext>
            </a:extLst>
          </p:cNvPr>
          <p:cNvSpPr/>
          <p:nvPr/>
        </p:nvSpPr>
        <p:spPr>
          <a:xfrm>
            <a:off x="4509373" y="11864083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D9C3AD4-3774-A045-546F-10F3BDA0BE67}"/>
              </a:ext>
            </a:extLst>
          </p:cNvPr>
          <p:cNvSpPr txBox="1"/>
          <p:nvPr/>
        </p:nvSpPr>
        <p:spPr>
          <a:xfrm>
            <a:off x="746521" y="9172100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七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  <a:endParaRPr lang="en-US" altLang="zh-TW" sz="3600" dirty="0">
              <a:solidFill>
                <a:schemeClr val="accent2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˫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9841960-CE27-A727-0925-59C2032A3DAE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F01414-82B4-7B1F-5111-2BB045F4A2CC}"/>
              </a:ext>
            </a:extLst>
          </p:cNvPr>
          <p:cNvSpPr txBox="1"/>
          <p:nvPr/>
        </p:nvSpPr>
        <p:spPr>
          <a:xfrm>
            <a:off x="3926681" y="54974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7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77FB8D-D1EF-3EE3-7C03-2A2A07287AE9}"/>
              </a:ext>
            </a:extLst>
          </p:cNvPr>
          <p:cNvSpPr txBox="1"/>
          <p:nvPr/>
        </p:nvSpPr>
        <p:spPr>
          <a:xfrm>
            <a:off x="6494764" y="4232893"/>
            <a:ext cx="45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˫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12989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0C616-B47E-50A9-2E0B-23A6060AF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23EE6CA-0764-5F83-AC8A-6FBD15D0F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F552132-46FE-0A7D-D2F3-E33B26623754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坤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F15E04E-A29F-0161-0E14-105C91D92EFE}"/>
              </a:ext>
            </a:extLst>
          </p:cNvPr>
          <p:cNvSpPr txBox="1"/>
          <p:nvPr/>
        </p:nvSpPr>
        <p:spPr>
          <a:xfrm>
            <a:off x="3926681" y="267787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一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去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46C04E0-61E3-CCDE-E052-E0FE4006933F}"/>
              </a:ext>
            </a:extLst>
          </p:cNvPr>
          <p:cNvSpPr txBox="1"/>
          <p:nvPr/>
        </p:nvSpPr>
        <p:spPr>
          <a:xfrm>
            <a:off x="707231" y="6278326"/>
            <a:ext cx="86844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 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切音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　　　　　 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endParaRPr lang="zh-TW" altLang="en-US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1AB59C28-EDB6-DBD6-50D5-3180F1BB5830}"/>
              </a:ext>
            </a:extLst>
          </p:cNvPr>
          <p:cNvSpPr/>
          <p:nvPr/>
        </p:nvSpPr>
        <p:spPr>
          <a:xfrm>
            <a:off x="4509373" y="7924782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1EFB952-17B5-369E-D3D7-BE63315EF4BD}"/>
              </a:ext>
            </a:extLst>
          </p:cNvPr>
          <p:cNvSpPr txBox="1"/>
          <p:nvPr/>
        </p:nvSpPr>
        <p:spPr>
          <a:xfrm>
            <a:off x="801290" y="13657501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字母（韻母）：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】[un]</a:t>
            </a: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八音（音調）：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一 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省略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 〔1〕</a:t>
            </a: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切音（聲母）：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去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【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ㄎ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】[kh]</a:t>
            </a:r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6C1BDBF6-D61F-919A-2D11-4A1577F4828E}"/>
              </a:ext>
            </a:extLst>
          </p:cNvPr>
          <p:cNvSpPr/>
          <p:nvPr/>
        </p:nvSpPr>
        <p:spPr>
          <a:xfrm>
            <a:off x="4509373" y="11864083"/>
            <a:ext cx="892016" cy="1009650"/>
          </a:xfrm>
          <a:prstGeom prst="down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44512CA-6AFD-0CE9-42E0-A1528735A279}"/>
              </a:ext>
            </a:extLst>
          </p:cNvPr>
          <p:cNvSpPr txBox="1"/>
          <p:nvPr/>
        </p:nvSpPr>
        <p:spPr>
          <a:xfrm>
            <a:off x="746521" y="9172100"/>
            <a:ext cx="86844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一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去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ㄎ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kh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B2C4BCF-79CD-6AC6-F903-B4CB05A4697A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ㄎ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6E6C1B2-B0CD-5728-CC6C-7C98C3FD539B}"/>
              </a:ext>
            </a:extLst>
          </p:cNvPr>
          <p:cNvSpPr txBox="1"/>
          <p:nvPr/>
        </p:nvSpPr>
        <p:spPr>
          <a:xfrm>
            <a:off x="3926681" y="54974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kh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1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89193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9298-1295-376C-9AB9-43AF602AE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E6E15EC7-F425-4D8B-5691-D25FE5439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A57E3F9-8500-F425-A3EC-079C95674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47" y="2379505"/>
            <a:ext cx="9961905" cy="1561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976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94FBB-3D91-C79F-B6C0-604754EBA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761E4EC-CD60-ECC1-94D9-32E577335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7016530-53CC-B5C9-2870-C25939776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25" y="2411413"/>
            <a:ext cx="9990476" cy="15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8320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FCE22-4AE4-6C51-01E0-22270D33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0FBB098F-9301-8D77-BC85-74DDA654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D8385C2-E8B8-96FA-4768-9327930BF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66" y="2442483"/>
            <a:ext cx="9923809" cy="1561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0857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6B62-D2E2-C784-1E02-F39C9B81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874CD877-A0E4-1B62-95B3-29E7964A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彙集雅俗通十五音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EEE138F-7578-35A6-A84A-3198E3170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0" y="2411413"/>
            <a:ext cx="10000000" cy="15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399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EAA2-409C-A924-3B27-F3162F74F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A9BE2B79-6BBF-8F4C-E515-3A5DBBA2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9401721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呼十五音法演練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方音符號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C598EBF-772C-B3AE-99DE-1AAEBCCFF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3" y="2479595"/>
            <a:ext cx="9574534" cy="14480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8692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91F32-5E3C-8655-FB2A-F01AA1DDC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44485D44-DD9D-AE5A-205D-AB3439BD2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7113711" cy="764286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呼十五音法演練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台羅拼音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6EC43F1-A24C-0103-A2AD-D0FB29043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3" y="2326562"/>
            <a:ext cx="9574534" cy="1463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9809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43BB4-670B-7614-9A28-AEB9BD0B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63C5BCE8-4897-7E5A-D737-F8FF6095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3" y="1327707"/>
            <a:ext cx="9513480" cy="764286"/>
          </a:xfrm>
        </p:spPr>
        <p:txBody>
          <a:bodyPr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呼十五音法演練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【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台語注音二式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】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E1C9DC8-6051-A5CA-1C83-D910C001C7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7"/>
          <a:stretch>
            <a:fillRect/>
          </a:stretch>
        </p:blipFill>
        <p:spPr>
          <a:xfrm>
            <a:off x="464457" y="2393595"/>
            <a:ext cx="9405256" cy="143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9290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>
            <a:extLst>
              <a:ext uri="{FF2B5EF4-FFF2-40B4-BE49-F238E27FC236}">
                <a16:creationId xmlns:a16="http://schemas.microsoft.com/office/drawing/2014/main" id="{EA79DCEA-052C-B9B7-313F-E32125EF0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9600" dirty="0">
                <a:solidFill>
                  <a:schemeClr val="tx2">
                    <a:lumMod val="75000"/>
                    <a:lumOff val="25000"/>
                  </a:schemeClr>
                </a:solidFill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結束</a:t>
            </a:r>
          </a:p>
        </p:txBody>
      </p:sp>
      <p:sp>
        <p:nvSpPr>
          <p:cNvPr id="9" name="副標題 8">
            <a:extLst>
              <a:ext uri="{FF2B5EF4-FFF2-40B4-BE49-F238E27FC236}">
                <a16:creationId xmlns:a16="http://schemas.microsoft.com/office/drawing/2014/main" id="{F3FE30F3-B352-60DF-8C6B-FD28F7AE63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121344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74CE38-A0BD-0C13-DFEC-215B6FC2D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sz="8000" dirty="0">
                <a:solidFill>
                  <a:srgbClr val="FF0000"/>
                </a:solidFill>
              </a:rPr>
              <a:t>【</a:t>
            </a:r>
            <a:r>
              <a:rPr lang="zh-TW" altLang="en-US" sz="8000" dirty="0">
                <a:solidFill>
                  <a:srgbClr val="FF0000"/>
                </a:solidFill>
              </a:rPr>
              <a:t>補充參考資料</a:t>
            </a:r>
            <a:r>
              <a:rPr lang="en-US" altLang="zh-TW" sz="8000" dirty="0">
                <a:solidFill>
                  <a:srgbClr val="FF0000"/>
                </a:solidFill>
              </a:rPr>
              <a:t>】</a:t>
            </a:r>
            <a:endParaRPr lang="zh-TW" altLang="en-US" sz="8000" dirty="0">
              <a:solidFill>
                <a:srgbClr val="FF0000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12E8743-17FE-FCE7-9F8E-5150FD75F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20655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DD712-EC5B-2A50-43E5-BFEA97E5B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89947E8-F837-8E19-707F-70B965D5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407938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dirty="0">
                <a:latin typeface="Noto Serifs TC Black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s TC Black"/>
                <a:ea typeface="Noto Serif TC Black" panose="02020200000000000000" pitchFamily="18" charset="-128"/>
              </a:rPr>
              <a:t>漢文拼音反切法</a:t>
            </a:r>
            <a:r>
              <a:rPr lang="en-US" altLang="zh-TW" dirty="0">
                <a:latin typeface="Noto Serifs TC Black"/>
                <a:ea typeface="Noto Serif TC Black" panose="02020200000000000000" pitchFamily="18" charset="-128"/>
              </a:rPr>
              <a:t>》</a:t>
            </a:r>
            <a:r>
              <a:rPr lang="zh-TW" altLang="en-US" dirty="0">
                <a:latin typeface="Noto Serifs TC Black"/>
                <a:ea typeface="Noto Serif TC Black" panose="02020200000000000000" pitchFamily="18" charset="-128"/>
              </a:rPr>
              <a:t>規則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FDECC2A-1112-07C9-3BD9-9EB9BB974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12389"/>
            <a:ext cx="9980952" cy="1251428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56EDD779-A370-BED9-D7E6-4A543CC88612}"/>
              </a:ext>
            </a:extLst>
          </p:cNvPr>
          <p:cNvSpPr txBox="1"/>
          <p:nvPr/>
        </p:nvSpPr>
        <p:spPr>
          <a:xfrm>
            <a:off x="707231" y="2461325"/>
            <a:ext cx="8872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【</a:t>
            </a:r>
            <a:r>
              <a:rPr lang="zh-TW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東</a:t>
            </a:r>
            <a:r>
              <a:rPr lang="en-US" altLang="zh-TW" sz="4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】</a:t>
            </a:r>
            <a:r>
              <a:rPr lang="zh-TW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zh-TW" altLang="en-US" sz="4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德</a:t>
            </a:r>
            <a:r>
              <a:rPr lang="zh-TW" altLang="en-US" sz="480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紅</a:t>
            </a:r>
            <a:r>
              <a:rPr lang="zh-TW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切</a:t>
            </a:r>
          </a:p>
        </p:txBody>
      </p:sp>
    </p:spTree>
    <p:extLst>
      <p:ext uri="{BB962C8B-B14F-4D97-AF65-F5344CB8AC3E}">
        <p14:creationId xmlns:p14="http://schemas.microsoft.com/office/powerpoint/2010/main" val="37176118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51C4-7B80-C850-C802-C03A8FD6A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E1365012-713A-B22B-1959-00433AFA3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F87F48B-FF9A-5A73-18D2-B20A91221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29" y="2411413"/>
            <a:ext cx="8661398" cy="157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4151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7FE59-15B8-6AFE-0FD3-403ED173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242FE942-2743-0104-796C-D43F84F1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/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字母八音反切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1F95781-E971-DD9E-10E0-2E9E4B97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24" y="2411413"/>
            <a:ext cx="8615564" cy="1568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400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94130-AA02-E8F4-3F0D-817FA767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3E82A3F9-3032-26D6-0E3E-0283AB0E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366852" cy="764286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彙音寶鑑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韻母八音反切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41E9EF3-7944-828F-858E-256DDD5FBD5F}"/>
              </a:ext>
            </a:extLst>
          </p:cNvPr>
          <p:cNvGraphicFramePr>
            <a:graphicFrameLocks noGrp="1"/>
          </p:cNvGraphicFramePr>
          <p:nvPr/>
        </p:nvGraphicFramePr>
        <p:xfrm>
          <a:off x="484027" y="4165159"/>
          <a:ext cx="9095742" cy="11843863"/>
        </p:xfrm>
        <a:graphic>
          <a:graphicData uri="http://schemas.openxmlformats.org/drawingml/2006/table">
            <a:tbl>
              <a:tblPr/>
              <a:tblGrid>
                <a:gridCol w="1010638">
                  <a:extLst>
                    <a:ext uri="{9D8B030D-6E8A-4147-A177-3AD203B41FA5}">
                      <a16:colId xmlns:a16="http://schemas.microsoft.com/office/drawing/2014/main" val="1460493059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2636839199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4070702656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1277073485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1221575102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1672555803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3011780908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3472684257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1613812494"/>
                    </a:ext>
                  </a:extLst>
                </a:gridCol>
              </a:tblGrid>
              <a:tr h="42258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韻母序次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第一調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第二調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第三調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第四調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第五調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第六調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第七調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第八調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05428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 dirty="0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26133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866335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367259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櫃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631326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277454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諫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998884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貢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狂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狂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558769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乖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怪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671970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538924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貫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215891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2370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勪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476344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590809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705507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膏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514150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621390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巾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8921983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襁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747045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敢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莟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敢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䍇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127941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嘓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7759738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江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港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03164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兼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劍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減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馺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633433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交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439029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迦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莢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2385705"/>
                  </a:ext>
                </a:extLst>
              </a:tr>
              <a:tr h="4568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0303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8915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EB6F8-F0E6-2F34-6A21-709181CD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E2B49247-5481-9F08-F1CA-BB2E1F50C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8890954" cy="764286"/>
          </a:xfrm>
        </p:spPr>
        <p:txBody>
          <a:bodyPr/>
          <a:lstStyle/>
          <a:p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《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彙音寶鑑</a:t>
            </a:r>
            <a:r>
              <a:rPr lang="en-US" altLang="zh-TW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》</a:t>
            </a:r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韻母八音反切</a:t>
            </a:r>
            <a:endParaRPr lang="zh-TW" altLang="en-US" dirty="0">
              <a:solidFill>
                <a:schemeClr val="accent5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0FBCD21-702D-F8E8-E362-10528B100140}"/>
              </a:ext>
            </a:extLst>
          </p:cNvPr>
          <p:cNvGraphicFramePr>
            <a:graphicFrameLocks noGrp="1"/>
          </p:cNvGraphicFramePr>
          <p:nvPr/>
        </p:nvGraphicFramePr>
        <p:xfrm>
          <a:off x="484027" y="4098922"/>
          <a:ext cx="9095742" cy="9593045"/>
        </p:xfrm>
        <a:graphic>
          <a:graphicData uri="http://schemas.openxmlformats.org/drawingml/2006/table">
            <a:tbl>
              <a:tblPr/>
              <a:tblGrid>
                <a:gridCol w="1010638">
                  <a:extLst>
                    <a:ext uri="{9D8B030D-6E8A-4147-A177-3AD203B41FA5}">
                      <a16:colId xmlns:a16="http://schemas.microsoft.com/office/drawing/2014/main" val="3727985624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3653472201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1246749948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1822845675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2456275290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4294472531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3143017246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2231283404"/>
                    </a:ext>
                  </a:extLst>
                </a:gridCol>
                <a:gridCol w="1010638">
                  <a:extLst>
                    <a:ext uri="{9D8B030D-6E8A-4147-A177-3AD203B41FA5}">
                      <a16:colId xmlns:a16="http://schemas.microsoft.com/office/drawing/2014/main" val="3427535706"/>
                    </a:ext>
                  </a:extLst>
                </a:gridCol>
              </a:tblGrid>
              <a:tr h="42406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韻母序次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第一調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第二調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第三調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第四調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第五調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第六調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第七調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Noto Sans TC Medium" panose="020B0200000000000000" pitchFamily="34" charset="-128"/>
                          <a:ea typeface="Noto Sans TC Medium" panose="020B0200000000000000" pitchFamily="34" charset="-128"/>
                        </a:rPr>
                        <a:t>第八調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7178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監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敢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敢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775943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句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487092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教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782178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己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堨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3574067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ㄐ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嚿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求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舊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291743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噮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耞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841975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捲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180504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叫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橋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蕎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163672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謽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1960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汗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715871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姑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915399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吷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779684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姆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016397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趹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690758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閒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096469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梟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噭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702793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箴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260070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爻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喉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5833080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驚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囝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件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871447"/>
                  </a:ext>
                </a:extLst>
              </a:tr>
              <a:tr h="4584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8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FF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關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葵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erif TC Black" panose="02020200000000000000" pitchFamily="18" charset="-128"/>
                          <a:ea typeface="Noto Serif TC Black" panose="02020200000000000000" pitchFamily="18" charset="-128"/>
                        </a:rPr>
                        <a:t>空音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11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7271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6D9818-FB1F-1306-0429-C8AE2D98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100120A2-C0D9-55D7-3AC6-3407B564A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34" y="1327707"/>
            <a:ext cx="5223224" cy="76428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十五音漢字標音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1EE2CA6-3CED-4490-9D6A-DA5F72F4562F}"/>
              </a:ext>
            </a:extLst>
          </p:cNvPr>
          <p:cNvSpPr txBox="1"/>
          <p:nvPr/>
        </p:nvSpPr>
        <p:spPr>
          <a:xfrm>
            <a:off x="4092320" y="3477976"/>
            <a:ext cx="204416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12800" dirty="0">
                <a:latin typeface="Noto Serif TC Black" panose="02020200000000000000" pitchFamily="18" charset="-128"/>
                <a:ea typeface="Noto Serif TC Black" panose="02020200000000000000" pitchFamily="18" charset="-128"/>
              </a:rPr>
              <a:t>倫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E653854-59E3-CD9E-E271-6F0826B20360}"/>
              </a:ext>
            </a:extLst>
          </p:cNvPr>
          <p:cNvSpPr txBox="1"/>
          <p:nvPr/>
        </p:nvSpPr>
        <p:spPr>
          <a:xfrm>
            <a:off x="3926681" y="2677876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50364F5-C884-62AF-955D-E2937954ED7A}"/>
              </a:ext>
            </a:extLst>
          </p:cNvPr>
          <p:cNvSpPr txBox="1"/>
          <p:nvPr/>
        </p:nvSpPr>
        <p:spPr>
          <a:xfrm>
            <a:off x="689370" y="8864905"/>
            <a:ext cx="92674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十五音標音 ＝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en-US" altLang="zh-TW" sz="24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zh-TW" altLang="en-US" sz="24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</a:t>
            </a:r>
            <a:r>
              <a:rPr lang="en-US" altLang="zh-TW" sz="24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</a:t>
            </a:r>
            <a:r>
              <a:rPr lang="en-US" altLang="zh-TW" sz="28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zh-TW" altLang="en-US" sz="28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 sz="28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r>
              <a:rPr lang="en-US" altLang="zh-TW" sz="28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zh-TW" altLang="en-US" sz="28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</a:t>
            </a:r>
            <a:r>
              <a:rPr lang="en-US" altLang="zh-TW" sz="28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F52FAA7-C3F2-7374-D18E-572926CB78E2}"/>
              </a:ext>
            </a:extLst>
          </p:cNvPr>
          <p:cNvSpPr txBox="1"/>
          <p:nvPr/>
        </p:nvSpPr>
        <p:spPr>
          <a:xfrm>
            <a:off x="895349" y="7280964"/>
            <a:ext cx="868441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方音符號： 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</a:t>
            </a:r>
            <a:endParaRPr lang="en-US" altLang="zh-TW" sz="3600" dirty="0">
              <a:solidFill>
                <a:srgbClr val="00B050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台羅拼音：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34F2A8A-EDAE-34A4-0F40-8A3C63215BA1}"/>
              </a:ext>
            </a:extLst>
          </p:cNvPr>
          <p:cNvSpPr txBox="1"/>
          <p:nvPr/>
        </p:nvSpPr>
        <p:spPr>
          <a:xfrm>
            <a:off x="5981319" y="3506753"/>
            <a:ext cx="738664" cy="1884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ㄌ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ㄨㄣ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3C450CE-88B4-2207-A50F-AC6F6759B3B9}"/>
              </a:ext>
            </a:extLst>
          </p:cNvPr>
          <p:cNvSpPr txBox="1"/>
          <p:nvPr/>
        </p:nvSpPr>
        <p:spPr>
          <a:xfrm>
            <a:off x="3926681" y="5497438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l</a:t>
            </a:r>
            <a:r>
              <a:rPr lang="en-US" altLang="zh-TW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un</a:t>
            </a:r>
            <a:r>
              <a:rPr lang="en-US" altLang="zh-TW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5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3B19EE8-8520-8332-4F8A-235DF3F21E83}"/>
              </a:ext>
            </a:extLst>
          </p:cNvPr>
          <p:cNvSpPr txBox="1"/>
          <p:nvPr/>
        </p:nvSpPr>
        <p:spPr>
          <a:xfrm>
            <a:off x="6494764" y="4232893"/>
            <a:ext cx="450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ˊ </a:t>
            </a:r>
            <a:endParaRPr lang="zh-TW" altLang="en-US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813897-E164-A567-7C60-36901C478D71}"/>
              </a:ext>
            </a:extLst>
          </p:cNvPr>
          <p:cNvSpPr txBox="1"/>
          <p:nvPr/>
        </p:nvSpPr>
        <p:spPr>
          <a:xfrm>
            <a:off x="689371" y="6575520"/>
            <a:ext cx="868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漢字標音 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韻母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 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音調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26C1F2E-3BE3-A451-E17A-654D19C627D8}"/>
              </a:ext>
            </a:extLst>
          </p:cNvPr>
          <p:cNvSpPr txBox="1"/>
          <p:nvPr/>
        </p:nvSpPr>
        <p:spPr>
          <a:xfrm>
            <a:off x="895349" y="9561524"/>
            <a:ext cx="868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十五音：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F9DF686-A3C1-3590-E826-4AF390E34351}"/>
              </a:ext>
            </a:extLst>
          </p:cNvPr>
          <p:cNvSpPr txBox="1"/>
          <p:nvPr/>
        </p:nvSpPr>
        <p:spPr>
          <a:xfrm>
            <a:off x="689370" y="10514523"/>
            <a:ext cx="9369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十八音標音 ＝ 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切音</a:t>
            </a:r>
            <a:r>
              <a:rPr lang="en-US" altLang="zh-TW" sz="28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zh-TW" altLang="en-US" sz="28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聲</a:t>
            </a:r>
            <a:r>
              <a:rPr lang="en-US" altLang="zh-TW" sz="28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字母</a:t>
            </a:r>
            <a:r>
              <a:rPr lang="en-US" altLang="zh-TW" sz="28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zh-TW" altLang="en-US" sz="28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韻</a:t>
            </a:r>
            <a:r>
              <a:rPr lang="en-US" altLang="zh-TW" sz="28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 ＋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八音</a:t>
            </a:r>
            <a:r>
              <a:rPr lang="en-US" altLang="zh-TW" sz="28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(</a:t>
            </a:r>
            <a:r>
              <a:rPr lang="zh-TW" altLang="en-US" sz="28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調</a:t>
            </a:r>
            <a:r>
              <a:rPr lang="en-US" altLang="zh-TW" sz="28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)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0F7C9AB-B0C2-48EA-1D84-586DE03C0FF5}"/>
              </a:ext>
            </a:extLst>
          </p:cNvPr>
          <p:cNvSpPr txBox="1"/>
          <p:nvPr/>
        </p:nvSpPr>
        <p:spPr>
          <a:xfrm>
            <a:off x="895349" y="11211142"/>
            <a:ext cx="8684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TW" altLang="en-US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十八音：</a:t>
            </a:r>
            <a:r>
              <a:rPr lang="en-US" altLang="zh-TW" sz="3600" dirty="0"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	</a:t>
            </a:r>
            <a:r>
              <a:rPr lang="zh-TW" altLang="en-US" sz="3600" dirty="0">
                <a:solidFill>
                  <a:schemeClr val="accent5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柳</a:t>
            </a:r>
            <a:r>
              <a:rPr lang="zh-TW" altLang="en-US" sz="3600" dirty="0">
                <a:solidFill>
                  <a:schemeClr val="accent2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君</a:t>
            </a:r>
            <a:r>
              <a:rPr lang="zh-TW" altLang="en-US" sz="3600" dirty="0">
                <a:solidFill>
                  <a:srgbClr val="00B050"/>
                </a:solidFill>
                <a:latin typeface="Noto Sans TC Medium" panose="020B0200000000000000" pitchFamily="34" charset="-128"/>
                <a:ea typeface="Noto Sans TC Medium" panose="020B0200000000000000" pitchFamily="34" charset="-128"/>
              </a:rPr>
              <a:t>五</a:t>
            </a:r>
            <a:endParaRPr lang="en-US" altLang="zh-TW" sz="3600" dirty="0">
              <a:solidFill>
                <a:schemeClr val="accent5"/>
              </a:solidFill>
              <a:latin typeface="Noto Sans TC Medium" panose="020B0200000000000000" pitchFamily="34" charset="-128"/>
              <a:ea typeface="Noto Sans TC Medium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600276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021_TF89338750_Win32" id="{5E9B3395-FFAC-414A-B6B7-CD36791E5293}" vid="{68A61A5A-8CF9-4042-8E4C-8CB5B3ADE9C7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919F73-B6C2-4A43-95E2-833EC48925FE}">
  <ds:schemaRefs>
    <ds:schemaRef ds:uri="71af3243-3dd4-4a8d-8c0d-dd76da1f02a5"/>
    <ds:schemaRef ds:uri="16c05727-aa75-4e4a-9b5f-8a80a1165891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12951</TotalTime>
  <Words>2801</Words>
  <Application>Microsoft Office PowerPoint</Application>
  <PresentationFormat>自訂</PresentationFormat>
  <Paragraphs>829</Paragraphs>
  <Slides>58</Slides>
  <Notes>55</Notes>
  <HiddenSlides>1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58</vt:i4>
      </vt:variant>
    </vt:vector>
  </HeadingPairs>
  <TitlesOfParts>
    <vt:vector size="68" baseType="lpstr">
      <vt:lpstr>Chiron Sung HK ExtraLight</vt:lpstr>
      <vt:lpstr>Microsoft JhengHei UI</vt:lpstr>
      <vt:lpstr>Noto Sans TC Black</vt:lpstr>
      <vt:lpstr>Noto Sans TC Medium</vt:lpstr>
      <vt:lpstr>Noto Serif TC Black</vt:lpstr>
      <vt:lpstr>Noto Serifs TC Black</vt:lpstr>
      <vt:lpstr>Arial</vt:lpstr>
      <vt:lpstr>Charis SIL</vt:lpstr>
      <vt:lpstr>Times New Roman</vt:lpstr>
      <vt:lpstr>GradientUnivers</vt:lpstr>
      <vt:lpstr>十五音漢字標音法 v0.2</vt:lpstr>
      <vt:lpstr>PowerPoint 簡報</vt:lpstr>
      <vt:lpstr>漢字標音</vt:lpstr>
      <vt:lpstr>漢字標音</vt:lpstr>
      <vt:lpstr>十五音漢字標音</vt:lpstr>
      <vt:lpstr>《彙集雅俗通十五音》</vt:lpstr>
      <vt:lpstr>《彙集雅俗通十五音》</vt:lpstr>
      <vt:lpstr>《彙集雅俗通十五音》</vt:lpstr>
      <vt:lpstr>《彙集雅俗通十五音》</vt:lpstr>
      <vt:lpstr>《彙集雅俗通十五音》</vt:lpstr>
      <vt:lpstr>字母 50 字（韻母）</vt:lpstr>
      <vt:lpstr>字母 50 字（韻母）</vt:lpstr>
      <vt:lpstr>字母 50 字（韻母）</vt:lpstr>
      <vt:lpstr>字母 50 字（韻母）</vt:lpstr>
      <vt:lpstr>字母 50 字（韻母）</vt:lpstr>
      <vt:lpstr>字母 50 字（韻母）</vt:lpstr>
      <vt:lpstr>字母 50 字（韻母）</vt:lpstr>
      <vt:lpstr>字母 8 音（韻母 8 聲調）</vt:lpstr>
      <vt:lpstr>四聲</vt:lpstr>
      <vt:lpstr>四聲八調【調名】定義</vt:lpstr>
      <vt:lpstr>四聲八調【調號】編號</vt:lpstr>
      <vt:lpstr>四聲八調【調值】</vt:lpstr>
      <vt:lpstr>泉州/漳州/廈門/台灣腔【調值】比較</vt:lpstr>
      <vt:lpstr>八調五度標記助記法：W</vt:lpstr>
      <vt:lpstr>字母八音反切</vt:lpstr>
      <vt:lpstr>字母八音反切列舉：1 - 10</vt:lpstr>
      <vt:lpstr>PowerPoint 簡報</vt:lpstr>
      <vt:lpstr>PowerPoint 簡報</vt:lpstr>
      <vt:lpstr>PowerPoint 簡報</vt:lpstr>
      <vt:lpstr>PowerPoint 簡報</vt:lpstr>
      <vt:lpstr>切音 15 字（聲母）</vt:lpstr>
      <vt:lpstr>切音 15 字（聲母）</vt:lpstr>
      <vt:lpstr>切音 15 字（聲母）</vt:lpstr>
      <vt:lpstr>切音 15 字（聲母）（發音部位）</vt:lpstr>
      <vt:lpstr>切音 15 字（聲母）（發音部位）</vt:lpstr>
      <vt:lpstr>呼十五音法（反切併音）</vt:lpstr>
      <vt:lpstr>呼十五音法（反切併音）</vt:lpstr>
      <vt:lpstr>呼十五音法（反切併音）</vt:lpstr>
      <vt:lpstr>十五音漢字標音</vt:lpstr>
      <vt:lpstr>十五音漢字標音</vt:lpstr>
      <vt:lpstr>十五音漢字標音</vt:lpstr>
      <vt:lpstr>十五音漢字標音</vt:lpstr>
      <vt:lpstr>十五音漢字標音</vt:lpstr>
      <vt:lpstr>《彙集雅俗通十五音》</vt:lpstr>
      <vt:lpstr>《彙集雅俗通十五音》</vt:lpstr>
      <vt:lpstr>《彙集雅俗通十五音》</vt:lpstr>
      <vt:lpstr>《彙集雅俗通十五音》</vt:lpstr>
      <vt:lpstr>呼十五音法演練【方音符號】</vt:lpstr>
      <vt:lpstr>呼十五音法演練【台羅拼音】</vt:lpstr>
      <vt:lpstr>呼十五音法演練【台語注音二式】</vt:lpstr>
      <vt:lpstr>結束</vt:lpstr>
      <vt:lpstr>【補充參考資料】</vt:lpstr>
      <vt:lpstr>《漢文拼音反切法》規則</vt:lpstr>
      <vt:lpstr>字母八音反切</vt:lpstr>
      <vt:lpstr>字母八音反切</vt:lpstr>
      <vt:lpstr>《彙音寶鑑》韻母八音反切</vt:lpstr>
      <vt:lpstr>《彙音寶鑑》韻母八音反切</vt:lpstr>
      <vt:lpstr>十五音漢字標音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正中 居</dc:creator>
  <cp:lastModifiedBy>正中 居</cp:lastModifiedBy>
  <cp:revision>113</cp:revision>
  <dcterms:created xsi:type="dcterms:W3CDTF">2025-04-24T04:27:30Z</dcterms:created>
  <dcterms:modified xsi:type="dcterms:W3CDTF">2026-09-05T14:22:08Z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